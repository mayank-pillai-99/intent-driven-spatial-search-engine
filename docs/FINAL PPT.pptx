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89" r:id="rId4"/>
    <p:sldId id="292" r:id="rId5"/>
    <p:sldId id="307" r:id="rId6"/>
    <p:sldId id="320" r:id="rId7"/>
    <p:sldId id="317" r:id="rId8"/>
    <p:sldId id="322" r:id="rId9"/>
    <p:sldId id="325" r:id="rId10"/>
    <p:sldId id="324" r:id="rId11"/>
    <p:sldId id="316" r:id="rId12"/>
    <p:sldId id="326" r:id="rId13"/>
    <p:sldId id="318" r:id="rId14"/>
    <p:sldId id="327" r:id="rId15"/>
    <p:sldId id="328" r:id="rId16"/>
    <p:sldId id="319" r:id="rId17"/>
    <p:sldId id="302" r:id="rId18"/>
    <p:sldId id="30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06">
          <p15:clr>
            <a:srgbClr val="A4A3A4"/>
          </p15:clr>
        </p15:guide>
        <p15:guide id="2" orient="horz"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iytIH6N3DoL14jRaVwHS3n4ES8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CB5E0-AD73-45AB-B1E8-1C321DFEC4C9}">
  <a:tblStyle styleId="{9B9CB5E0-AD73-45AB-B1E8-1C321DFEC4C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51"/>
    <p:restoredTop sz="94658"/>
  </p:normalViewPr>
  <p:slideViewPr>
    <p:cSldViewPr snapToGrid="0">
      <p:cViewPr varScale="1">
        <p:scale>
          <a:sx n="120" d="100"/>
          <a:sy n="120" d="100"/>
        </p:scale>
        <p:origin x="1008" y="184"/>
      </p:cViewPr>
      <p:guideLst>
        <p:guide pos="506"/>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9B198DCA-D3A4-9CC6-8D0B-4364BAAF6D31}"/>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1652410C-97FE-184C-49D7-051ED1D769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9C93C723-E26E-BEEE-2DD8-3DA55D2994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81690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E7F4707A-08E2-2874-3916-CC6E3661ABB9}"/>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1B2FFD9E-0ABF-F7ED-ED6E-ED24CA36DB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B2A34DB2-822A-6789-8806-25BED1ECAE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96012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B283A40B-8CDC-3BEC-81DF-FE1BE43690B5}"/>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47338297-BD93-5337-5EDD-B99E47908A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6938D7CE-5528-C58C-6D3E-AEA6330DE0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11933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945919E3-B4B2-A0F4-DC3E-CAF1E11B0B64}"/>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B7E8C581-37F9-B217-DC35-87BAB19B45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7" name="Google Shape;77;p14:notes">
            <a:extLst>
              <a:ext uri="{FF2B5EF4-FFF2-40B4-BE49-F238E27FC236}">
                <a16:creationId xmlns:a16="http://schemas.microsoft.com/office/drawing/2014/main" id="{AADB0EB5-DB63-0483-C557-23B8162FBB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80781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7BF7FFF5-79F4-3AAC-5C3D-1EDA74BF1C27}"/>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CEB1C641-9B04-8ECE-6F48-03196B425B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4414D6B2-6758-5887-1FC9-A00CC9D1D9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467239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FB59AE6C-A0AF-7DB3-98A1-90DD6ACABC66}"/>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69C1EDA2-76A5-0AEE-AE05-B734408DE7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323FB69D-5B57-F018-E37E-08C2A9EBC5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67712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1954B3BE-6A2F-CB16-0B20-48677076EA46}"/>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22DD6D6C-17D0-BB8B-5631-090B274CC6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EF03BC25-06FD-4A68-DA77-4AA3FDA32C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3570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49C7274F-14E6-6D60-A294-C24B49837480}"/>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27ED20BD-DEA3-A7BF-603C-591D5CC885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B91E3E51-D5FA-DB35-E36C-D5302677E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84878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D926E864-8E11-055F-0B99-D9965DAFD510}"/>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31B629B6-54BD-64A7-7D0C-81C16BACE2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41C2BFF0-5C2D-378C-E2E3-2E9FDA30C1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88609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788D9D44-486A-BC5A-AA2C-5A8387C7255C}"/>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F03E18C4-251C-65AA-8737-D2789BFD0F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8528239E-D4ED-D00E-C9BC-EFE104939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48922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7459C295-A637-5BB1-5C46-36F05AD6F2E1}"/>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9208A34D-78C0-F186-857A-2956075B4D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AECAB0A7-B540-3B64-C376-B0F98FB767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6899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7FC8DFFA-6BCE-6AFE-C2F2-7DEBAB098579}"/>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DF70E240-CE36-142F-CA0F-7E10E4F9C4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C9A48B1D-CFA0-3129-8F1F-89F825431D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712945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EB3D9E08-7C19-AAAF-7F36-3A8CD33F0570}"/>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EF8F8DB3-5129-4410-E708-5BC6A7C094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869C218F-C603-081A-56FF-A981CC1245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07742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20032916-F137-C05A-1988-EACCB73D98BA}"/>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C771C564-4C63-12DB-1AC2-0641616A03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0B854C57-1D0D-1722-74D6-821ADAEAA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577352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293BFB5A-6FD3-0F1C-D579-7B59E4DCCB38}"/>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DC4CB0A9-8931-4257-63F7-53285A7CE7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B9ECC30A-2BB1-B2BA-8749-7287191BAD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9430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CC3B53B8-E2A1-BCCF-3985-8E51B892FAEE}"/>
            </a:ext>
          </a:extLst>
        </p:cNvPr>
        <p:cNvGrpSpPr/>
        <p:nvPr/>
      </p:nvGrpSpPr>
      <p:grpSpPr>
        <a:xfrm>
          <a:off x="0" y="0"/>
          <a:ext cx="0" cy="0"/>
          <a:chOff x="0" y="0"/>
          <a:chExt cx="0" cy="0"/>
        </a:xfrm>
      </p:grpSpPr>
      <p:sp>
        <p:nvSpPr>
          <p:cNvPr id="76" name="Google Shape;76;p14:notes">
            <a:extLst>
              <a:ext uri="{FF2B5EF4-FFF2-40B4-BE49-F238E27FC236}">
                <a16:creationId xmlns:a16="http://schemas.microsoft.com/office/drawing/2014/main" id="{077B7756-DFA9-79F4-5877-C898A68389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14:notes">
            <a:extLst>
              <a:ext uri="{FF2B5EF4-FFF2-40B4-BE49-F238E27FC236}">
                <a16:creationId xmlns:a16="http://schemas.microsoft.com/office/drawing/2014/main" id="{15BFE412-0FFA-AF4E-9397-3078F41A7F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024190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_option 1">
  <p:cSld name="2_Title Slide_option 1">
    <p:spTree>
      <p:nvGrpSpPr>
        <p:cNvPr id="1" name="Shape 17"/>
        <p:cNvGrpSpPr/>
        <p:nvPr/>
      </p:nvGrpSpPr>
      <p:grpSpPr>
        <a:xfrm>
          <a:off x="0" y="0"/>
          <a:ext cx="0" cy="0"/>
          <a:chOff x="0" y="0"/>
          <a:chExt cx="0" cy="0"/>
        </a:xfrm>
      </p:grpSpPr>
      <p:pic>
        <p:nvPicPr>
          <p:cNvPr id="18" name="Google Shape;18;p46"/>
          <p:cNvPicPr preferRelativeResize="0"/>
          <p:nvPr/>
        </p:nvPicPr>
        <p:blipFill rotWithShape="1">
          <a:blip r:embed="rId2">
            <a:alphaModFix/>
          </a:blip>
          <a:srcRect l="3455" t="4216" r="718" b="17834"/>
          <a:stretch/>
        </p:blipFill>
        <p:spPr>
          <a:xfrm>
            <a:off x="3078" y="720436"/>
            <a:ext cx="8509091" cy="5191101"/>
          </a:xfrm>
          <a:prstGeom prst="rect">
            <a:avLst/>
          </a:prstGeom>
          <a:noFill/>
          <a:ln>
            <a:noFill/>
          </a:ln>
        </p:spPr>
      </p:pic>
      <p:grpSp>
        <p:nvGrpSpPr>
          <p:cNvPr id="19" name="Google Shape;19;p46"/>
          <p:cNvGrpSpPr/>
          <p:nvPr/>
        </p:nvGrpSpPr>
        <p:grpSpPr>
          <a:xfrm>
            <a:off x="2" y="5876103"/>
            <a:ext cx="12192000" cy="54001"/>
            <a:chOff x="2" y="5876103"/>
            <a:chExt cx="12192000" cy="54001"/>
          </a:xfrm>
        </p:grpSpPr>
        <p:sp>
          <p:nvSpPr>
            <p:cNvPr id="20" name="Google Shape;20;p46"/>
            <p:cNvSpPr/>
            <p:nvPr/>
          </p:nvSpPr>
          <p:spPr>
            <a:xfrm rot="-5400000">
              <a:off x="1881002" y="3995103"/>
              <a:ext cx="54000" cy="38160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 name="Google Shape;21;p46"/>
            <p:cNvSpPr/>
            <p:nvPr/>
          </p:nvSpPr>
          <p:spPr>
            <a:xfrm rot="-5400000">
              <a:off x="10133002" y="3871103"/>
              <a:ext cx="54000" cy="4064000"/>
            </a:xfrm>
            <a:prstGeom prst="rect">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22;p46"/>
            <p:cNvSpPr/>
            <p:nvPr/>
          </p:nvSpPr>
          <p:spPr>
            <a:xfrm rot="-5400000">
              <a:off x="6069000" y="3599104"/>
              <a:ext cx="54000" cy="46080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3" name="Google Shape;23;p46"/>
          <p:cNvPicPr preferRelativeResize="0"/>
          <p:nvPr/>
        </p:nvPicPr>
        <p:blipFill rotWithShape="1">
          <a:blip r:embed="rId3">
            <a:alphaModFix/>
          </a:blip>
          <a:srcRect/>
          <a:stretch/>
        </p:blipFill>
        <p:spPr>
          <a:xfrm>
            <a:off x="5369373" y="5054309"/>
            <a:ext cx="1440000" cy="1440000"/>
          </a:xfrm>
          <a:prstGeom prst="rect">
            <a:avLst/>
          </a:prstGeom>
          <a:noFill/>
          <a:ln>
            <a:noFill/>
          </a:ln>
        </p:spPr>
      </p:pic>
      <p:sp>
        <p:nvSpPr>
          <p:cNvPr id="24" name="Google Shape;24;p46"/>
          <p:cNvSpPr txBox="1">
            <a:spLocks noGrp="1"/>
          </p:cNvSpPr>
          <p:nvPr>
            <p:ph type="ctrTitle"/>
          </p:nvPr>
        </p:nvSpPr>
        <p:spPr>
          <a:xfrm>
            <a:off x="3393312" y="646771"/>
            <a:ext cx="8642351" cy="1485245"/>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rgbClr val="211D70"/>
              </a:buClr>
              <a:buSzPts val="4000"/>
              <a:buFont typeface="Arial"/>
              <a:buNone/>
              <a:defRPr sz="4000" b="1" i="0" u="none" strike="noStrike" cap="none">
                <a:solidFill>
                  <a:srgbClr val="211D7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 name="Google Shape;25;p46"/>
          <p:cNvSpPr txBox="1">
            <a:spLocks noGrp="1"/>
          </p:cNvSpPr>
          <p:nvPr>
            <p:ph type="subTitle" idx="1"/>
          </p:nvPr>
        </p:nvSpPr>
        <p:spPr>
          <a:xfrm>
            <a:off x="3393313" y="2502273"/>
            <a:ext cx="4213380" cy="1309822"/>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6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6" name="Google Shape;26;p46"/>
          <p:cNvSpPr txBox="1">
            <a:spLocks noGrp="1"/>
          </p:cNvSpPr>
          <p:nvPr>
            <p:ph type="body" idx="2"/>
          </p:nvPr>
        </p:nvSpPr>
        <p:spPr>
          <a:xfrm>
            <a:off x="7840867" y="2510636"/>
            <a:ext cx="4194795" cy="1301459"/>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46"/>
          <p:cNvSpPr/>
          <p:nvPr/>
        </p:nvSpPr>
        <p:spPr>
          <a:xfrm>
            <a:off x="7680148" y="2510636"/>
            <a:ext cx="68679" cy="130145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
        <p:cNvGrpSpPr/>
        <p:nvPr/>
      </p:nvGrpSpPr>
      <p:grpSpPr>
        <a:xfrm>
          <a:off x="0" y="0"/>
          <a:ext cx="0" cy="0"/>
          <a:chOff x="0" y="0"/>
          <a:chExt cx="0" cy="0"/>
        </a:xfrm>
      </p:grpSpPr>
      <p:pic>
        <p:nvPicPr>
          <p:cNvPr id="29" name="Google Shape;29;p47"/>
          <p:cNvPicPr preferRelativeResize="0"/>
          <p:nvPr/>
        </p:nvPicPr>
        <p:blipFill rotWithShape="1">
          <a:blip r:embed="rId2">
            <a:alphaModFix/>
          </a:blip>
          <a:srcRect/>
          <a:stretch/>
        </p:blipFill>
        <p:spPr>
          <a:xfrm>
            <a:off x="187994" y="6364482"/>
            <a:ext cx="1468823" cy="541779"/>
          </a:xfrm>
          <a:prstGeom prst="rect">
            <a:avLst/>
          </a:prstGeom>
          <a:noFill/>
          <a:ln>
            <a:noFill/>
          </a:ln>
        </p:spPr>
      </p:pic>
      <p:pic>
        <p:nvPicPr>
          <p:cNvPr id="30" name="Google Shape;30;p47"/>
          <p:cNvPicPr preferRelativeResize="0"/>
          <p:nvPr/>
        </p:nvPicPr>
        <p:blipFill rotWithShape="1">
          <a:blip r:embed="rId3">
            <a:alphaModFix/>
          </a:blip>
          <a:srcRect l="13070" t="2102" r="13441" b="24408"/>
          <a:stretch/>
        </p:blipFill>
        <p:spPr>
          <a:xfrm>
            <a:off x="11131297" y="231878"/>
            <a:ext cx="828826" cy="828826"/>
          </a:xfrm>
          <a:prstGeom prst="rect">
            <a:avLst/>
          </a:prstGeom>
          <a:noFill/>
          <a:ln>
            <a:noFill/>
          </a:ln>
        </p:spPr>
      </p:pic>
      <p:sp>
        <p:nvSpPr>
          <p:cNvPr id="31" name="Google Shape;31;p47"/>
          <p:cNvSpPr txBox="1">
            <a:spLocks noGrp="1"/>
          </p:cNvSpPr>
          <p:nvPr>
            <p:ph type="body" idx="1"/>
          </p:nvPr>
        </p:nvSpPr>
        <p:spPr>
          <a:xfrm>
            <a:off x="695325" y="1225549"/>
            <a:ext cx="5284717" cy="493871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1pPr>
            <a:lvl2pPr marL="914400" marR="0" lvl="1" indent="-368300" algn="l" rtl="0">
              <a:lnSpc>
                <a:spcPct val="100000"/>
              </a:lnSpc>
              <a:spcBef>
                <a:spcPts val="1000"/>
              </a:spcBef>
              <a:spcAft>
                <a:spcPts val="0"/>
              </a:spcAft>
              <a:buClr>
                <a:srgbClr val="000000"/>
              </a:buClr>
              <a:buSzPts val="2200"/>
              <a:buFont typeface="Arial"/>
              <a:buChar char="•"/>
              <a:defRPr sz="2200" b="0" i="0" u="none" strike="noStrike" cap="none">
                <a:solidFill>
                  <a:srgbClr val="000000"/>
                </a:solidFill>
                <a:latin typeface="Arial"/>
                <a:ea typeface="Arial"/>
                <a:cs typeface="Arial"/>
                <a:sym typeface="Arial"/>
              </a:defRPr>
            </a:lvl2pPr>
            <a:lvl3pPr marL="1371600" marR="0" lvl="2" indent="-355600" algn="l" rtl="0">
              <a:lnSpc>
                <a:spcPct val="100000"/>
              </a:lnSpc>
              <a:spcBef>
                <a:spcPts val="10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4pPr>
            <a:lvl5pPr marL="2286000" marR="0" lvl="4"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2" name="Google Shape;32;p47"/>
          <p:cNvSpPr txBox="1">
            <a:spLocks noGrp="1"/>
          </p:cNvSpPr>
          <p:nvPr>
            <p:ph type="body" idx="2"/>
          </p:nvPr>
        </p:nvSpPr>
        <p:spPr>
          <a:xfrm>
            <a:off x="6211240" y="1225549"/>
            <a:ext cx="5284717" cy="493871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1pPr>
            <a:lvl2pPr marL="914400" marR="0" lvl="1" indent="-368300" algn="l" rtl="0">
              <a:lnSpc>
                <a:spcPct val="100000"/>
              </a:lnSpc>
              <a:spcBef>
                <a:spcPts val="1000"/>
              </a:spcBef>
              <a:spcAft>
                <a:spcPts val="0"/>
              </a:spcAft>
              <a:buClr>
                <a:srgbClr val="000000"/>
              </a:buClr>
              <a:buSzPts val="2200"/>
              <a:buFont typeface="Arial"/>
              <a:buChar char="•"/>
              <a:defRPr sz="2200" b="0" i="0" u="none" strike="noStrike" cap="none">
                <a:solidFill>
                  <a:srgbClr val="000000"/>
                </a:solidFill>
                <a:latin typeface="Arial"/>
                <a:ea typeface="Arial"/>
                <a:cs typeface="Arial"/>
                <a:sym typeface="Arial"/>
              </a:defRPr>
            </a:lvl2pPr>
            <a:lvl3pPr marL="1371600" marR="0" lvl="2" indent="-355600" algn="l" rtl="0">
              <a:lnSpc>
                <a:spcPct val="100000"/>
              </a:lnSpc>
              <a:spcBef>
                <a:spcPts val="10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4pPr>
            <a:lvl5pPr marL="2286000" marR="0" lvl="4"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3" name="Google Shape;33;p47"/>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47"/>
          <p:cNvSpPr txBox="1">
            <a:spLocks noGrp="1"/>
          </p:cNvSpPr>
          <p:nvPr>
            <p:ph type="body" idx="3"/>
          </p:nvPr>
        </p:nvSpPr>
        <p:spPr>
          <a:xfrm>
            <a:off x="2189626" y="6484429"/>
            <a:ext cx="9769475" cy="2020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SzPts val="1400"/>
              <a:buNone/>
              <a:defRPr sz="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pic>
        <p:nvPicPr>
          <p:cNvPr id="35" name="Google Shape;35;p47"/>
          <p:cNvPicPr preferRelativeResize="0"/>
          <p:nvPr/>
        </p:nvPicPr>
        <p:blipFill rotWithShape="1">
          <a:blip r:embed="rId4">
            <a:alphaModFix/>
          </a:blip>
          <a:srcRect/>
          <a:stretch/>
        </p:blipFill>
        <p:spPr>
          <a:xfrm>
            <a:off x="0" y="-3947"/>
            <a:ext cx="10075921" cy="1559859"/>
          </a:xfrm>
          <a:custGeom>
            <a:avLst/>
            <a:gdLst/>
            <a:ahLst/>
            <a:cxnLst/>
            <a:rect l="l" t="t" r="r" b="b"/>
            <a:pathLst>
              <a:path w="10075921" h="1559859" extrusionOk="0">
                <a:moveTo>
                  <a:pt x="0" y="0"/>
                </a:moveTo>
                <a:lnTo>
                  <a:pt x="10075921" y="0"/>
                </a:lnTo>
                <a:lnTo>
                  <a:pt x="10075921" y="70464"/>
                </a:lnTo>
                <a:lnTo>
                  <a:pt x="75306" y="70464"/>
                </a:lnTo>
                <a:lnTo>
                  <a:pt x="75306" y="1559859"/>
                </a:lnTo>
                <a:lnTo>
                  <a:pt x="0" y="1559859"/>
                </a:lnTo>
                <a:close/>
              </a:path>
            </a:pathLst>
          </a:custGeom>
          <a:noFill/>
          <a:ln>
            <a:noFill/>
          </a:ln>
        </p:spPr>
      </p:pic>
      <p:pic>
        <p:nvPicPr>
          <p:cNvPr id="36" name="Google Shape;36;p47"/>
          <p:cNvPicPr preferRelativeResize="0"/>
          <p:nvPr/>
        </p:nvPicPr>
        <p:blipFill rotWithShape="1">
          <a:blip r:embed="rId4">
            <a:alphaModFix/>
          </a:blip>
          <a:srcRect/>
          <a:stretch/>
        </p:blipFill>
        <p:spPr>
          <a:xfrm>
            <a:off x="2116079" y="5303517"/>
            <a:ext cx="10075921" cy="1559859"/>
          </a:xfrm>
          <a:custGeom>
            <a:avLst/>
            <a:gdLst/>
            <a:ahLst/>
            <a:cxnLst/>
            <a:rect l="l" t="t" r="r" b="b"/>
            <a:pathLst>
              <a:path w="10075921" h="1559859" extrusionOk="0">
                <a:moveTo>
                  <a:pt x="10011373" y="0"/>
                </a:moveTo>
                <a:lnTo>
                  <a:pt x="10075921" y="0"/>
                </a:lnTo>
                <a:lnTo>
                  <a:pt x="10075921" y="1559859"/>
                </a:lnTo>
                <a:lnTo>
                  <a:pt x="0" y="1559859"/>
                </a:lnTo>
                <a:lnTo>
                  <a:pt x="0" y="1495314"/>
                </a:lnTo>
                <a:lnTo>
                  <a:pt x="10011373" y="1495314"/>
                </a:lnTo>
                <a:close/>
              </a:path>
            </a:pathLst>
          </a:cu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wo Content">
  <p:cSld name="1_Two Content">
    <p:bg>
      <p:bgPr>
        <a:solidFill>
          <a:srgbClr val="E2E2E2"/>
        </a:solidFill>
        <a:effectLst/>
      </p:bgPr>
    </p:bg>
    <p:spTree>
      <p:nvGrpSpPr>
        <p:cNvPr id="1" name="Shape 44"/>
        <p:cNvGrpSpPr/>
        <p:nvPr/>
      </p:nvGrpSpPr>
      <p:grpSpPr>
        <a:xfrm>
          <a:off x="0" y="0"/>
          <a:ext cx="0" cy="0"/>
          <a:chOff x="0" y="0"/>
          <a:chExt cx="0" cy="0"/>
        </a:xfrm>
      </p:grpSpPr>
      <p:pic>
        <p:nvPicPr>
          <p:cNvPr id="45" name="Google Shape;45;p49"/>
          <p:cNvPicPr preferRelativeResize="0"/>
          <p:nvPr/>
        </p:nvPicPr>
        <p:blipFill rotWithShape="1">
          <a:blip r:embed="rId2">
            <a:alphaModFix/>
          </a:blip>
          <a:srcRect l="13070" t="2102" r="13441" b="24408"/>
          <a:stretch/>
        </p:blipFill>
        <p:spPr>
          <a:xfrm>
            <a:off x="11131297" y="231878"/>
            <a:ext cx="828826" cy="828826"/>
          </a:xfrm>
          <a:prstGeom prst="rect">
            <a:avLst/>
          </a:prstGeom>
          <a:noFill/>
          <a:ln>
            <a:noFill/>
          </a:ln>
        </p:spPr>
      </p:pic>
      <p:sp>
        <p:nvSpPr>
          <p:cNvPr id="46" name="Google Shape;46;p49"/>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7" name="Google Shape;47;p49"/>
          <p:cNvPicPr preferRelativeResize="0"/>
          <p:nvPr/>
        </p:nvPicPr>
        <p:blipFill rotWithShape="1">
          <a:blip r:embed="rId3">
            <a:alphaModFix/>
          </a:blip>
          <a:srcRect/>
          <a:stretch/>
        </p:blipFill>
        <p:spPr>
          <a:xfrm>
            <a:off x="187994" y="6364482"/>
            <a:ext cx="1468823" cy="541779"/>
          </a:xfrm>
          <a:prstGeom prst="rect">
            <a:avLst/>
          </a:prstGeom>
          <a:noFill/>
          <a:ln>
            <a:noFill/>
          </a:ln>
        </p:spPr>
      </p:pic>
      <p:sp>
        <p:nvSpPr>
          <p:cNvPr id="48" name="Google Shape;48;p49"/>
          <p:cNvSpPr txBox="1">
            <a:spLocks noGrp="1"/>
          </p:cNvSpPr>
          <p:nvPr>
            <p:ph type="body" idx="1"/>
          </p:nvPr>
        </p:nvSpPr>
        <p:spPr>
          <a:xfrm>
            <a:off x="695325" y="1225549"/>
            <a:ext cx="10801350" cy="493871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1pPr>
            <a:lvl2pPr marL="914400" marR="0" lvl="1" indent="-368300" algn="l" rtl="0">
              <a:lnSpc>
                <a:spcPct val="100000"/>
              </a:lnSpc>
              <a:spcBef>
                <a:spcPts val="1000"/>
              </a:spcBef>
              <a:spcAft>
                <a:spcPts val="0"/>
              </a:spcAft>
              <a:buClr>
                <a:srgbClr val="000000"/>
              </a:buClr>
              <a:buSzPts val="2200"/>
              <a:buFont typeface="Arial"/>
              <a:buChar char="•"/>
              <a:defRPr sz="2200" b="0" i="0" u="none" strike="noStrike" cap="none">
                <a:solidFill>
                  <a:srgbClr val="000000"/>
                </a:solidFill>
                <a:latin typeface="Arial"/>
                <a:ea typeface="Arial"/>
                <a:cs typeface="Arial"/>
                <a:sym typeface="Arial"/>
              </a:defRPr>
            </a:lvl2pPr>
            <a:lvl3pPr marL="1371600" marR="0" lvl="2" indent="-355600" algn="l" rtl="0">
              <a:lnSpc>
                <a:spcPct val="100000"/>
              </a:lnSpc>
              <a:spcBef>
                <a:spcPts val="10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4pPr>
            <a:lvl5pPr marL="2286000" marR="0" lvl="4"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9" name="Google Shape;49;p49"/>
          <p:cNvSpPr txBox="1">
            <a:spLocks noGrp="1"/>
          </p:cNvSpPr>
          <p:nvPr>
            <p:ph type="body" idx="2"/>
          </p:nvPr>
        </p:nvSpPr>
        <p:spPr>
          <a:xfrm>
            <a:off x="2189626" y="6484429"/>
            <a:ext cx="9769475" cy="2020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SzPts val="1400"/>
              <a:buNone/>
              <a:defRPr sz="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pic>
        <p:nvPicPr>
          <p:cNvPr id="50" name="Google Shape;50;p49"/>
          <p:cNvPicPr preferRelativeResize="0"/>
          <p:nvPr/>
        </p:nvPicPr>
        <p:blipFill rotWithShape="1">
          <a:blip r:embed="rId4">
            <a:alphaModFix/>
          </a:blip>
          <a:srcRect/>
          <a:stretch/>
        </p:blipFill>
        <p:spPr>
          <a:xfrm>
            <a:off x="0" y="-3947"/>
            <a:ext cx="10075921" cy="1559859"/>
          </a:xfrm>
          <a:custGeom>
            <a:avLst/>
            <a:gdLst/>
            <a:ahLst/>
            <a:cxnLst/>
            <a:rect l="l" t="t" r="r" b="b"/>
            <a:pathLst>
              <a:path w="10075921" h="1559859" extrusionOk="0">
                <a:moveTo>
                  <a:pt x="0" y="0"/>
                </a:moveTo>
                <a:lnTo>
                  <a:pt x="10075921" y="0"/>
                </a:lnTo>
                <a:lnTo>
                  <a:pt x="10075921" y="70464"/>
                </a:lnTo>
                <a:lnTo>
                  <a:pt x="75306" y="70464"/>
                </a:lnTo>
                <a:lnTo>
                  <a:pt x="75306" y="1559859"/>
                </a:lnTo>
                <a:lnTo>
                  <a:pt x="0" y="1559859"/>
                </a:lnTo>
                <a:close/>
              </a:path>
            </a:pathLst>
          </a:custGeom>
          <a:noFill/>
          <a:ln>
            <a:noFill/>
          </a:ln>
        </p:spPr>
      </p:pic>
      <p:pic>
        <p:nvPicPr>
          <p:cNvPr id="51" name="Google Shape;51;p49"/>
          <p:cNvPicPr preferRelativeResize="0"/>
          <p:nvPr/>
        </p:nvPicPr>
        <p:blipFill rotWithShape="1">
          <a:blip r:embed="rId4">
            <a:alphaModFix/>
          </a:blip>
          <a:srcRect/>
          <a:stretch/>
        </p:blipFill>
        <p:spPr>
          <a:xfrm>
            <a:off x="2116079" y="5303517"/>
            <a:ext cx="10075921" cy="1559859"/>
          </a:xfrm>
          <a:custGeom>
            <a:avLst/>
            <a:gdLst/>
            <a:ahLst/>
            <a:cxnLst/>
            <a:rect l="l" t="t" r="r" b="b"/>
            <a:pathLst>
              <a:path w="10075921" h="1559859" extrusionOk="0">
                <a:moveTo>
                  <a:pt x="10011373" y="0"/>
                </a:moveTo>
                <a:lnTo>
                  <a:pt x="10075921" y="0"/>
                </a:lnTo>
                <a:lnTo>
                  <a:pt x="10075921" y="1559859"/>
                </a:lnTo>
                <a:lnTo>
                  <a:pt x="0" y="1559859"/>
                </a:lnTo>
                <a:lnTo>
                  <a:pt x="0" y="1495314"/>
                </a:lnTo>
                <a:lnTo>
                  <a:pt x="10011373" y="1495314"/>
                </a:lnTo>
                <a:close/>
              </a:path>
            </a:pathLst>
          </a:cu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wo Content">
  <p:cSld name="2_Two Content">
    <p:bg>
      <p:bgPr>
        <a:solidFill>
          <a:srgbClr val="E2E2E2"/>
        </a:solidFill>
        <a:effectLst/>
      </p:bgPr>
    </p:bg>
    <p:spTree>
      <p:nvGrpSpPr>
        <p:cNvPr id="1" name="Shape 52"/>
        <p:cNvGrpSpPr/>
        <p:nvPr/>
      </p:nvGrpSpPr>
      <p:grpSpPr>
        <a:xfrm>
          <a:off x="0" y="0"/>
          <a:ext cx="0" cy="0"/>
          <a:chOff x="0" y="0"/>
          <a:chExt cx="0" cy="0"/>
        </a:xfrm>
      </p:grpSpPr>
      <p:sp>
        <p:nvSpPr>
          <p:cNvPr id="53" name="Google Shape;53;p50"/>
          <p:cNvSpPr txBox="1">
            <a:spLocks noGrp="1"/>
          </p:cNvSpPr>
          <p:nvPr>
            <p:ph type="body" idx="1"/>
          </p:nvPr>
        </p:nvSpPr>
        <p:spPr>
          <a:xfrm>
            <a:off x="2189626" y="6484429"/>
            <a:ext cx="9769475" cy="2020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SzPts val="1400"/>
              <a:buNone/>
              <a:defRPr sz="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pic>
        <p:nvPicPr>
          <p:cNvPr id="54" name="Google Shape;54;p50"/>
          <p:cNvPicPr preferRelativeResize="0"/>
          <p:nvPr/>
        </p:nvPicPr>
        <p:blipFill rotWithShape="1">
          <a:blip r:embed="rId2">
            <a:alphaModFix/>
          </a:blip>
          <a:srcRect/>
          <a:stretch/>
        </p:blipFill>
        <p:spPr>
          <a:xfrm>
            <a:off x="0" y="-3947"/>
            <a:ext cx="10075921" cy="1559859"/>
          </a:xfrm>
          <a:custGeom>
            <a:avLst/>
            <a:gdLst/>
            <a:ahLst/>
            <a:cxnLst/>
            <a:rect l="l" t="t" r="r" b="b"/>
            <a:pathLst>
              <a:path w="10075921" h="1559859" extrusionOk="0">
                <a:moveTo>
                  <a:pt x="0" y="0"/>
                </a:moveTo>
                <a:lnTo>
                  <a:pt x="10075921" y="0"/>
                </a:lnTo>
                <a:lnTo>
                  <a:pt x="10075921" y="70464"/>
                </a:lnTo>
                <a:lnTo>
                  <a:pt x="75306" y="70464"/>
                </a:lnTo>
                <a:lnTo>
                  <a:pt x="75306" y="1559859"/>
                </a:lnTo>
                <a:lnTo>
                  <a:pt x="0" y="1559859"/>
                </a:lnTo>
                <a:close/>
              </a:path>
            </a:pathLst>
          </a:custGeom>
          <a:noFill/>
          <a:ln>
            <a:noFill/>
          </a:ln>
        </p:spPr>
      </p:pic>
      <p:pic>
        <p:nvPicPr>
          <p:cNvPr id="55" name="Google Shape;55;p50"/>
          <p:cNvPicPr preferRelativeResize="0"/>
          <p:nvPr/>
        </p:nvPicPr>
        <p:blipFill rotWithShape="1">
          <a:blip r:embed="rId3">
            <a:alphaModFix/>
          </a:blip>
          <a:srcRect l="13070" t="2102" r="13441" b="24408"/>
          <a:stretch/>
        </p:blipFill>
        <p:spPr>
          <a:xfrm>
            <a:off x="11131297" y="231878"/>
            <a:ext cx="828826" cy="828826"/>
          </a:xfrm>
          <a:prstGeom prst="rect">
            <a:avLst/>
          </a:prstGeom>
          <a:noFill/>
          <a:ln>
            <a:noFill/>
          </a:ln>
        </p:spPr>
      </p:pic>
      <p:pic>
        <p:nvPicPr>
          <p:cNvPr id="56" name="Google Shape;56;p50"/>
          <p:cNvPicPr preferRelativeResize="0"/>
          <p:nvPr/>
        </p:nvPicPr>
        <p:blipFill rotWithShape="1">
          <a:blip r:embed="rId2">
            <a:alphaModFix/>
          </a:blip>
          <a:srcRect/>
          <a:stretch/>
        </p:blipFill>
        <p:spPr>
          <a:xfrm>
            <a:off x="2116079" y="5303517"/>
            <a:ext cx="10075921" cy="1559859"/>
          </a:xfrm>
          <a:custGeom>
            <a:avLst/>
            <a:gdLst/>
            <a:ahLst/>
            <a:cxnLst/>
            <a:rect l="l" t="t" r="r" b="b"/>
            <a:pathLst>
              <a:path w="10075921" h="1559859" extrusionOk="0">
                <a:moveTo>
                  <a:pt x="10011373" y="0"/>
                </a:moveTo>
                <a:lnTo>
                  <a:pt x="10075921" y="0"/>
                </a:lnTo>
                <a:lnTo>
                  <a:pt x="10075921" y="1559859"/>
                </a:lnTo>
                <a:lnTo>
                  <a:pt x="0" y="1559859"/>
                </a:lnTo>
                <a:lnTo>
                  <a:pt x="0" y="1495314"/>
                </a:lnTo>
                <a:lnTo>
                  <a:pt x="10011373" y="1495314"/>
                </a:lnTo>
                <a:close/>
              </a:path>
            </a:pathLst>
          </a:custGeom>
          <a:noFill/>
          <a:ln>
            <a:noFill/>
          </a:ln>
        </p:spPr>
      </p:pic>
      <p:sp>
        <p:nvSpPr>
          <p:cNvPr id="57" name="Google Shape;57;p50"/>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58" name="Google Shape;58;p50"/>
          <p:cNvPicPr preferRelativeResize="0"/>
          <p:nvPr/>
        </p:nvPicPr>
        <p:blipFill rotWithShape="1">
          <a:blip r:embed="rId4">
            <a:alphaModFix/>
          </a:blip>
          <a:srcRect/>
          <a:stretch/>
        </p:blipFill>
        <p:spPr>
          <a:xfrm>
            <a:off x="187994" y="6364482"/>
            <a:ext cx="1468823" cy="541779"/>
          </a:xfrm>
          <a:prstGeom prst="rect">
            <a:avLst/>
          </a:prstGeom>
          <a:noFill/>
          <a:ln>
            <a:noFill/>
          </a:ln>
        </p:spPr>
      </p:pic>
      <p:sp>
        <p:nvSpPr>
          <p:cNvPr id="59" name="Google Shape;59;p50"/>
          <p:cNvSpPr txBox="1">
            <a:spLocks noGrp="1"/>
          </p:cNvSpPr>
          <p:nvPr>
            <p:ph type="body" idx="2"/>
          </p:nvPr>
        </p:nvSpPr>
        <p:spPr>
          <a:xfrm>
            <a:off x="695325" y="1225549"/>
            <a:ext cx="10801350" cy="493871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1pPr>
            <a:lvl2pPr marL="914400" marR="0" lvl="1" indent="-368300" algn="l" rtl="0">
              <a:lnSpc>
                <a:spcPct val="100000"/>
              </a:lnSpc>
              <a:spcBef>
                <a:spcPts val="1000"/>
              </a:spcBef>
              <a:spcAft>
                <a:spcPts val="0"/>
              </a:spcAft>
              <a:buClr>
                <a:srgbClr val="000000"/>
              </a:buClr>
              <a:buSzPts val="2200"/>
              <a:buFont typeface="Arial"/>
              <a:buChar char="•"/>
              <a:defRPr sz="2200" b="0" i="0" u="none" strike="noStrike" cap="none">
                <a:solidFill>
                  <a:srgbClr val="000000"/>
                </a:solidFill>
                <a:latin typeface="Arial"/>
                <a:ea typeface="Arial"/>
                <a:cs typeface="Arial"/>
                <a:sym typeface="Arial"/>
              </a:defRPr>
            </a:lvl2pPr>
            <a:lvl3pPr marL="1371600" marR="0" lvl="2" indent="-355600" algn="l" rtl="0">
              <a:lnSpc>
                <a:spcPct val="100000"/>
              </a:lnSpc>
              <a:spcBef>
                <a:spcPts val="10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4pPr>
            <a:lvl5pPr marL="2286000" marR="0" lvl="4"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wo Content">
  <p:cSld name="2_Two Content 2">
    <p:spTree>
      <p:nvGrpSpPr>
        <p:cNvPr id="1" name="Shape 60"/>
        <p:cNvGrpSpPr/>
        <p:nvPr/>
      </p:nvGrpSpPr>
      <p:grpSpPr>
        <a:xfrm>
          <a:off x="0" y="0"/>
          <a:ext cx="0" cy="0"/>
          <a:chOff x="0" y="0"/>
          <a:chExt cx="0" cy="0"/>
        </a:xfrm>
      </p:grpSpPr>
      <p:pic>
        <p:nvPicPr>
          <p:cNvPr id="61" name="Google Shape;61;p51"/>
          <p:cNvPicPr preferRelativeResize="0"/>
          <p:nvPr/>
        </p:nvPicPr>
        <p:blipFill rotWithShape="1">
          <a:blip r:embed="rId2">
            <a:alphaModFix/>
          </a:blip>
          <a:srcRect l="13070" t="2102" r="13441" b="24408"/>
          <a:stretch/>
        </p:blipFill>
        <p:spPr>
          <a:xfrm>
            <a:off x="11131297" y="231878"/>
            <a:ext cx="828826" cy="828826"/>
          </a:xfrm>
          <a:prstGeom prst="rect">
            <a:avLst/>
          </a:prstGeom>
          <a:noFill/>
          <a:ln>
            <a:noFill/>
          </a:ln>
        </p:spPr>
      </p:pic>
      <p:sp>
        <p:nvSpPr>
          <p:cNvPr id="62" name="Google Shape;62;p51"/>
          <p:cNvSpPr txBox="1">
            <a:spLocks noGrp="1"/>
          </p:cNvSpPr>
          <p:nvPr>
            <p:ph type="title"/>
          </p:nvPr>
        </p:nvSpPr>
        <p:spPr>
          <a:xfrm>
            <a:off x="695325" y="231878"/>
            <a:ext cx="10801350" cy="128859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1D70"/>
              </a:buClr>
              <a:buSzPts val="3600"/>
              <a:buFont typeface="Arial"/>
              <a:buNone/>
              <a:defRPr sz="3600" b="1" i="0" u="none" strike="noStrike" cap="none">
                <a:solidFill>
                  <a:srgbClr val="211D7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63" name="Google Shape;63;p51"/>
          <p:cNvPicPr preferRelativeResize="0"/>
          <p:nvPr/>
        </p:nvPicPr>
        <p:blipFill rotWithShape="1">
          <a:blip r:embed="rId3">
            <a:alphaModFix/>
          </a:blip>
          <a:srcRect/>
          <a:stretch/>
        </p:blipFill>
        <p:spPr>
          <a:xfrm>
            <a:off x="187994" y="6364482"/>
            <a:ext cx="1468823" cy="541779"/>
          </a:xfrm>
          <a:prstGeom prst="rect">
            <a:avLst/>
          </a:prstGeom>
          <a:noFill/>
          <a:ln>
            <a:noFill/>
          </a:ln>
        </p:spPr>
      </p:pic>
      <p:sp>
        <p:nvSpPr>
          <p:cNvPr id="64" name="Google Shape;64;p51"/>
          <p:cNvSpPr txBox="1">
            <a:spLocks noGrp="1"/>
          </p:cNvSpPr>
          <p:nvPr>
            <p:ph type="body" idx="1"/>
          </p:nvPr>
        </p:nvSpPr>
        <p:spPr>
          <a:xfrm>
            <a:off x="695325" y="1685830"/>
            <a:ext cx="10801350" cy="4478431"/>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1pPr>
            <a:lvl2pPr marL="914400" marR="0" lvl="1" indent="-368300" algn="l" rtl="0">
              <a:lnSpc>
                <a:spcPct val="100000"/>
              </a:lnSpc>
              <a:spcBef>
                <a:spcPts val="1000"/>
              </a:spcBef>
              <a:spcAft>
                <a:spcPts val="0"/>
              </a:spcAft>
              <a:buClr>
                <a:srgbClr val="000000"/>
              </a:buClr>
              <a:buSzPts val="2200"/>
              <a:buFont typeface="Arial"/>
              <a:buChar char="•"/>
              <a:defRPr sz="2200" b="0" i="0" u="none" strike="noStrike" cap="none">
                <a:solidFill>
                  <a:srgbClr val="000000"/>
                </a:solidFill>
                <a:latin typeface="Arial"/>
                <a:ea typeface="Arial"/>
                <a:cs typeface="Arial"/>
                <a:sym typeface="Arial"/>
              </a:defRPr>
            </a:lvl2pPr>
            <a:lvl3pPr marL="1371600" marR="0" lvl="2" indent="-355600" algn="l" rtl="0">
              <a:lnSpc>
                <a:spcPct val="100000"/>
              </a:lnSpc>
              <a:spcBef>
                <a:spcPts val="100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4pPr>
            <a:lvl5pPr marL="2286000" marR="0" lvl="4" indent="-381000" algn="l" rtl="0">
              <a:lnSpc>
                <a:spcPct val="100000"/>
              </a:lnSpc>
              <a:spcBef>
                <a:spcPts val="1000"/>
              </a:spcBef>
              <a:spcAft>
                <a:spcPts val="0"/>
              </a:spcAft>
              <a:buClr>
                <a:srgbClr val="000000"/>
              </a:buClr>
              <a:buSzPts val="2400"/>
              <a:buFont typeface="Arial"/>
              <a:buChar char="•"/>
              <a:defRPr sz="2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5" name="Google Shape;65;p51"/>
          <p:cNvSpPr txBox="1">
            <a:spLocks noGrp="1"/>
          </p:cNvSpPr>
          <p:nvPr>
            <p:ph type="body" idx="2"/>
          </p:nvPr>
        </p:nvSpPr>
        <p:spPr>
          <a:xfrm>
            <a:off x="2189626" y="6484429"/>
            <a:ext cx="9769475" cy="2020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SzPts val="1400"/>
              <a:buNone/>
              <a:defRPr sz="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pic>
        <p:nvPicPr>
          <p:cNvPr id="66" name="Google Shape;66;p51"/>
          <p:cNvPicPr preferRelativeResize="0"/>
          <p:nvPr/>
        </p:nvPicPr>
        <p:blipFill rotWithShape="1">
          <a:blip r:embed="rId4">
            <a:alphaModFix/>
          </a:blip>
          <a:srcRect/>
          <a:stretch/>
        </p:blipFill>
        <p:spPr>
          <a:xfrm>
            <a:off x="0" y="-3947"/>
            <a:ext cx="10075921" cy="1559859"/>
          </a:xfrm>
          <a:custGeom>
            <a:avLst/>
            <a:gdLst/>
            <a:ahLst/>
            <a:cxnLst/>
            <a:rect l="l" t="t" r="r" b="b"/>
            <a:pathLst>
              <a:path w="10075921" h="1559859" extrusionOk="0">
                <a:moveTo>
                  <a:pt x="0" y="0"/>
                </a:moveTo>
                <a:lnTo>
                  <a:pt x="10075921" y="0"/>
                </a:lnTo>
                <a:lnTo>
                  <a:pt x="10075921" y="70464"/>
                </a:lnTo>
                <a:lnTo>
                  <a:pt x="75306" y="70464"/>
                </a:lnTo>
                <a:lnTo>
                  <a:pt x="75306" y="1559859"/>
                </a:lnTo>
                <a:lnTo>
                  <a:pt x="0" y="1559859"/>
                </a:lnTo>
                <a:close/>
              </a:path>
            </a:pathLst>
          </a:custGeom>
          <a:noFill/>
          <a:ln>
            <a:noFill/>
          </a:ln>
        </p:spPr>
      </p:pic>
      <p:pic>
        <p:nvPicPr>
          <p:cNvPr id="67" name="Google Shape;67;p51"/>
          <p:cNvPicPr preferRelativeResize="0"/>
          <p:nvPr/>
        </p:nvPicPr>
        <p:blipFill rotWithShape="1">
          <a:blip r:embed="rId4">
            <a:alphaModFix/>
          </a:blip>
          <a:srcRect/>
          <a:stretch/>
        </p:blipFill>
        <p:spPr>
          <a:xfrm>
            <a:off x="2116079" y="5303517"/>
            <a:ext cx="10075921" cy="1559859"/>
          </a:xfrm>
          <a:custGeom>
            <a:avLst/>
            <a:gdLst/>
            <a:ahLst/>
            <a:cxnLst/>
            <a:rect l="l" t="t" r="r" b="b"/>
            <a:pathLst>
              <a:path w="10075921" h="1559859" extrusionOk="0">
                <a:moveTo>
                  <a:pt x="10011373" y="0"/>
                </a:moveTo>
                <a:lnTo>
                  <a:pt x="10075921" y="0"/>
                </a:lnTo>
                <a:lnTo>
                  <a:pt x="10075921" y="1559859"/>
                </a:lnTo>
                <a:lnTo>
                  <a:pt x="0" y="1559859"/>
                </a:lnTo>
                <a:lnTo>
                  <a:pt x="0" y="1495314"/>
                </a:lnTo>
                <a:lnTo>
                  <a:pt x="10011373" y="1495314"/>
                </a:lnTo>
                <a:close/>
              </a:path>
            </a:pathLst>
          </a:cu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2E2E2"/>
        </a:solidFill>
        <a:effectLst/>
      </p:bgPr>
    </p:bg>
    <p:spTree>
      <p:nvGrpSpPr>
        <p:cNvPr id="1" name="Shape 5"/>
        <p:cNvGrpSpPr/>
        <p:nvPr/>
      </p:nvGrpSpPr>
      <p:grpSpPr>
        <a:xfrm>
          <a:off x="0" y="0"/>
          <a:ext cx="0" cy="0"/>
          <a:chOff x="0" y="0"/>
          <a:chExt cx="0" cy="0"/>
        </a:xfrm>
      </p:grpSpPr>
      <p:sp>
        <p:nvSpPr>
          <p:cNvPr id="6" name="Google Shape;6;p45"/>
          <p:cNvSpPr/>
          <p:nvPr/>
        </p:nvSpPr>
        <p:spPr>
          <a:xfrm>
            <a:off x="-1301502" y="2278496"/>
            <a:ext cx="1080000" cy="360000"/>
          </a:xfrm>
          <a:prstGeom prst="rect">
            <a:avLst/>
          </a:prstGeom>
          <a:solidFill>
            <a:srgbClr val="7A442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#7A442E</a:t>
            </a:r>
            <a:endParaRPr/>
          </a:p>
        </p:txBody>
      </p:sp>
      <p:sp>
        <p:nvSpPr>
          <p:cNvPr id="7" name="Google Shape;7;p45"/>
          <p:cNvSpPr/>
          <p:nvPr/>
        </p:nvSpPr>
        <p:spPr>
          <a:xfrm>
            <a:off x="-1301502" y="3476803"/>
            <a:ext cx="1080000" cy="360000"/>
          </a:xfrm>
          <a:prstGeom prst="rect">
            <a:avLst/>
          </a:prstGeom>
          <a:solidFill>
            <a:srgbClr val="800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#800040</a:t>
            </a:r>
            <a:endParaRPr/>
          </a:p>
        </p:txBody>
      </p:sp>
      <p:sp>
        <p:nvSpPr>
          <p:cNvPr id="8" name="Google Shape;8;p45"/>
          <p:cNvSpPr/>
          <p:nvPr/>
        </p:nvSpPr>
        <p:spPr>
          <a:xfrm>
            <a:off x="-1301502" y="1139438"/>
            <a:ext cx="1080000" cy="360000"/>
          </a:xfrm>
          <a:prstGeom prst="rect">
            <a:avLst/>
          </a:prstGeom>
          <a:solidFill>
            <a:srgbClr val="211D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#211D70</a:t>
            </a:r>
            <a:endParaRPr/>
          </a:p>
        </p:txBody>
      </p:sp>
      <p:sp>
        <p:nvSpPr>
          <p:cNvPr id="9" name="Google Shape;9;p45"/>
          <p:cNvSpPr/>
          <p:nvPr/>
        </p:nvSpPr>
        <p:spPr>
          <a:xfrm>
            <a:off x="-1301502" y="692708"/>
            <a:ext cx="1080000" cy="360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#000000</a:t>
            </a:r>
            <a:endParaRPr/>
          </a:p>
        </p:txBody>
      </p:sp>
      <p:sp>
        <p:nvSpPr>
          <p:cNvPr id="10" name="Google Shape;10;p45"/>
          <p:cNvSpPr/>
          <p:nvPr/>
        </p:nvSpPr>
        <p:spPr>
          <a:xfrm>
            <a:off x="-1312072" y="1673485"/>
            <a:ext cx="1080000" cy="360000"/>
          </a:xfrm>
          <a:prstGeom prst="rect">
            <a:avLst/>
          </a:prstGeom>
          <a:solidFill>
            <a:srgbClr val="4262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#426228</a:t>
            </a:r>
            <a:endParaRPr/>
          </a:p>
        </p:txBody>
      </p:sp>
      <p:sp>
        <p:nvSpPr>
          <p:cNvPr id="11" name="Google Shape;11;p45"/>
          <p:cNvSpPr/>
          <p:nvPr/>
        </p:nvSpPr>
        <p:spPr>
          <a:xfrm>
            <a:off x="-1312072" y="2871793"/>
            <a:ext cx="1080000" cy="360000"/>
          </a:xfrm>
          <a:prstGeom prst="rect">
            <a:avLst/>
          </a:prstGeom>
          <a:solidFill>
            <a:srgbClr val="5E23A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#5E23AD</a:t>
            </a:r>
            <a:endParaRPr/>
          </a:p>
        </p:txBody>
      </p:sp>
      <p:sp>
        <p:nvSpPr>
          <p:cNvPr id="12" name="Google Shape;12;p45"/>
          <p:cNvSpPr/>
          <p:nvPr/>
        </p:nvSpPr>
        <p:spPr>
          <a:xfrm>
            <a:off x="-1312072" y="5616411"/>
            <a:ext cx="1080000" cy="360000"/>
          </a:xfrm>
          <a:prstGeom prst="rect">
            <a:avLst/>
          </a:prstGeom>
          <a:solidFill>
            <a:srgbClr val="2F399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#2F3996</a:t>
            </a:r>
            <a:endParaRPr/>
          </a:p>
        </p:txBody>
      </p:sp>
      <p:sp>
        <p:nvSpPr>
          <p:cNvPr id="13" name="Google Shape;13;p45"/>
          <p:cNvSpPr/>
          <p:nvPr/>
        </p:nvSpPr>
        <p:spPr>
          <a:xfrm>
            <a:off x="-1301502" y="4598367"/>
            <a:ext cx="1080000" cy="360000"/>
          </a:xfrm>
          <a:prstGeom prst="rect">
            <a:avLst/>
          </a:prstGeom>
          <a:solidFill>
            <a:srgbClr val="F685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dk1"/>
                </a:solidFill>
                <a:latin typeface="Arial"/>
                <a:ea typeface="Arial"/>
                <a:cs typeface="Arial"/>
                <a:sym typeface="Arial"/>
              </a:rPr>
              <a:t>#F6851F</a:t>
            </a:r>
            <a:endParaRPr/>
          </a:p>
        </p:txBody>
      </p:sp>
      <p:sp>
        <p:nvSpPr>
          <p:cNvPr id="14" name="Google Shape;14;p45"/>
          <p:cNvSpPr/>
          <p:nvPr/>
        </p:nvSpPr>
        <p:spPr>
          <a:xfrm>
            <a:off x="-1301502" y="5107389"/>
            <a:ext cx="1080000" cy="360000"/>
          </a:xfrm>
          <a:prstGeom prst="rect">
            <a:avLst/>
          </a:prstGeom>
          <a:solidFill>
            <a:srgbClr val="FCAF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dk1"/>
                </a:solidFill>
                <a:latin typeface="Arial"/>
                <a:ea typeface="Arial"/>
                <a:cs typeface="Arial"/>
                <a:sym typeface="Arial"/>
              </a:rPr>
              <a:t>#FCAF17</a:t>
            </a:r>
            <a:endParaRPr/>
          </a:p>
        </p:txBody>
      </p:sp>
      <p:sp>
        <p:nvSpPr>
          <p:cNvPr id="15" name="Google Shape;15;p45"/>
          <p:cNvSpPr/>
          <p:nvPr/>
        </p:nvSpPr>
        <p:spPr>
          <a:xfrm>
            <a:off x="-1312072" y="4037585"/>
            <a:ext cx="1080000" cy="360000"/>
          </a:xfrm>
          <a:prstGeom prst="rect">
            <a:avLst/>
          </a:prstGeom>
          <a:solidFill>
            <a:srgbClr val="BC0D0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lt1"/>
                </a:solidFill>
                <a:latin typeface="Arial"/>
                <a:ea typeface="Arial"/>
                <a:cs typeface="Arial"/>
                <a:sym typeface="Arial"/>
              </a:rPr>
              <a:t>#BC0D01</a:t>
            </a:r>
            <a:endParaRPr sz="1400" b="0" i="0" u="none" strike="noStrike" cap="none">
              <a:solidFill>
                <a:schemeClr val="lt1"/>
              </a:solidFill>
              <a:latin typeface="Arial"/>
              <a:ea typeface="Arial"/>
              <a:cs typeface="Arial"/>
              <a:sym typeface="Arial"/>
            </a:endParaRPr>
          </a:p>
        </p:txBody>
      </p:sp>
      <p:sp>
        <p:nvSpPr>
          <p:cNvPr id="16" name="Google Shape;16;p45"/>
          <p:cNvSpPr/>
          <p:nvPr/>
        </p:nvSpPr>
        <p:spPr>
          <a:xfrm>
            <a:off x="-1312072" y="6118036"/>
            <a:ext cx="1080000" cy="360000"/>
          </a:xfrm>
          <a:prstGeom prst="rect">
            <a:avLst/>
          </a:prstGeom>
          <a:solidFill>
            <a:srgbClr val="E2E2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IN" sz="1400" b="0" i="0" u="none" strike="noStrike" cap="none">
                <a:solidFill>
                  <a:schemeClr val="dk1"/>
                </a:solidFill>
                <a:latin typeface="Arial"/>
                <a:ea typeface="Arial"/>
                <a:cs typeface="Arial"/>
                <a:sym typeface="Arial"/>
              </a:rPr>
              <a:t>#E2E2E2</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
        <p:cNvGrpSpPr/>
        <p:nvPr/>
      </p:nvGrpSpPr>
      <p:grpSpPr>
        <a:xfrm>
          <a:off x="0" y="0"/>
          <a:ext cx="0" cy="0"/>
          <a:chOff x="0" y="0"/>
          <a:chExt cx="0" cy="0"/>
        </a:xfrm>
      </p:grpSpPr>
      <p:sp>
        <p:nvSpPr>
          <p:cNvPr id="72" name="Google Shape;72;p1"/>
          <p:cNvSpPr txBox="1">
            <a:spLocks noGrp="1"/>
          </p:cNvSpPr>
          <p:nvPr>
            <p:ph type="ctrTitle"/>
          </p:nvPr>
        </p:nvSpPr>
        <p:spPr>
          <a:xfrm>
            <a:off x="3393312" y="385514"/>
            <a:ext cx="8642351" cy="1768963"/>
          </a:xfrm>
          <a:prstGeom prst="rect">
            <a:avLst/>
          </a:prstGeom>
          <a:noFill/>
          <a:ln>
            <a:noFill/>
          </a:ln>
        </p:spPr>
        <p:txBody>
          <a:bodyPr spcFirstLastPara="1" wrap="square" lIns="91425" tIns="45700" rIns="91425" bIns="45700" anchor="b" anchorCtr="0">
            <a:normAutofit/>
          </a:bodyPr>
          <a:lstStyle/>
          <a:p>
            <a:r>
              <a:rPr lang="en-US" dirty="0">
                <a:latin typeface="Times New Roman" panose="02020603050405020304" pitchFamily="18" charset="0"/>
                <a:cs typeface="Times New Roman" panose="02020603050405020304" pitchFamily="18" charset="0"/>
              </a:rPr>
              <a:t>Intent-Driven Spatial Search Engine using a Hybrid NL-to-SQL Architecture</a:t>
            </a:r>
          </a:p>
        </p:txBody>
      </p:sp>
      <p:sp>
        <p:nvSpPr>
          <p:cNvPr id="73" name="Google Shape;73;p1"/>
          <p:cNvSpPr txBox="1">
            <a:spLocks noGrp="1"/>
          </p:cNvSpPr>
          <p:nvPr>
            <p:ph type="subTitle" idx="1"/>
          </p:nvPr>
        </p:nvSpPr>
        <p:spPr>
          <a:xfrm>
            <a:off x="2811781" y="2501900"/>
            <a:ext cx="4795520" cy="1309688"/>
          </a:xfrm>
          <a:prstGeom prst="rect">
            <a:avLst/>
          </a:prstGeom>
          <a:noFill/>
          <a:ln>
            <a:noFill/>
          </a:ln>
        </p:spPr>
        <p:txBody>
          <a:bodyPr spcFirstLastPara="1" wrap="square" lIns="91425" tIns="45700" rIns="91425" bIns="45700" anchor="ctr" anchorCtr="0">
            <a:noAutofit/>
          </a:bodyPr>
          <a:lstStyle/>
          <a:p>
            <a:r>
              <a:rPr lang="en-IN" sz="1800" b="1" dirty="0">
                <a:solidFill>
                  <a:srgbClr val="002060"/>
                </a:solidFill>
                <a:latin typeface="Times New Roman" panose="02020603050405020304" pitchFamily="18" charset="0"/>
                <a:cs typeface="Times New Roman" panose="02020603050405020304" pitchFamily="18" charset="0"/>
              </a:rPr>
              <a:t>Submitted By:</a:t>
            </a:r>
            <a:endParaRPr lang="en-IN" sz="1800" b="1" noProof="0" dirty="0">
              <a:latin typeface="Times New Roman" panose="02020603050405020304" pitchFamily="18" charset="0"/>
              <a:cs typeface="Times New Roman" panose="02020603050405020304" pitchFamily="18" charset="0"/>
            </a:endParaRPr>
          </a:p>
          <a:p>
            <a:pPr marL="0" lvl="0" indent="0" algn="r" rtl="0">
              <a:lnSpc>
                <a:spcPct val="100000"/>
              </a:lnSpc>
              <a:spcBef>
                <a:spcPts val="600"/>
              </a:spcBef>
              <a:spcAft>
                <a:spcPts val="0"/>
              </a:spcAft>
              <a:buSzPts val="2400"/>
              <a:buNone/>
            </a:pPr>
            <a:r>
              <a:rPr lang="en-US" sz="1800" dirty="0">
                <a:latin typeface="Times New Roman" panose="02020603050405020304" pitchFamily="18" charset="0"/>
                <a:cs typeface="Times New Roman" panose="02020603050405020304" pitchFamily="18" charset="0"/>
              </a:rPr>
              <a:t>Mayank Pillai</a:t>
            </a:r>
            <a:endParaRPr lang="en-IN" sz="1800" b="1" dirty="0">
              <a:latin typeface="Times New Roman" panose="02020603050405020304" pitchFamily="18" charset="0"/>
              <a:cs typeface="Times New Roman" panose="02020603050405020304" pitchFamily="18" charset="0"/>
            </a:endParaRPr>
          </a:p>
        </p:txBody>
      </p:sp>
      <p:sp>
        <p:nvSpPr>
          <p:cNvPr id="74" name="Google Shape;74;p1"/>
          <p:cNvSpPr txBox="1">
            <a:spLocks noGrp="1"/>
          </p:cNvSpPr>
          <p:nvPr>
            <p:ph type="body" idx="2"/>
          </p:nvPr>
        </p:nvSpPr>
        <p:spPr>
          <a:xfrm>
            <a:off x="7607301" y="2664218"/>
            <a:ext cx="4194795" cy="1301459"/>
          </a:xfrm>
          <a:prstGeom prst="rect">
            <a:avLst/>
          </a:prstGeom>
          <a:noFill/>
          <a:ln>
            <a:noFill/>
          </a:ln>
        </p:spPr>
        <p:txBody>
          <a:bodyPr spcFirstLastPara="1" wrap="square" lIns="91425" tIns="45700" rIns="91425" bIns="45700" anchor="ctr" anchorCtr="0">
            <a:noAutofit/>
          </a:bodyPr>
          <a:lstStyle/>
          <a:p>
            <a:pPr marL="457200" lvl="0" indent="-228600" algn="l" rtl="0">
              <a:lnSpc>
                <a:spcPct val="90000"/>
              </a:lnSpc>
              <a:spcBef>
                <a:spcPts val="1000"/>
              </a:spcBef>
              <a:spcAft>
                <a:spcPts val="0"/>
              </a:spcAft>
              <a:buSzPts val="2000"/>
              <a:buNone/>
            </a:pPr>
            <a:r>
              <a:rPr lang="en-IN" sz="1800" noProof="0" dirty="0">
                <a:solidFill>
                  <a:srgbClr val="002060"/>
                </a:solidFill>
                <a:latin typeface="Times New Roman" panose="02020603050405020304" pitchFamily="18" charset="0"/>
                <a:cs typeface="Times New Roman" panose="02020603050405020304" pitchFamily="18" charset="0"/>
              </a:rPr>
              <a:t>Submitted To:</a:t>
            </a:r>
            <a:endParaRPr lang="en-IN" sz="1800" noProof="0" dirty="0">
              <a:latin typeface="Times New Roman" panose="02020603050405020304" pitchFamily="18" charset="0"/>
              <a:cs typeface="Times New Roman" panose="02020603050405020304" pitchFamily="18" charset="0"/>
            </a:endParaRPr>
          </a:p>
          <a:p>
            <a:pPr marL="457200" lvl="0" indent="-228600" algn="l" rtl="0">
              <a:lnSpc>
                <a:spcPct val="90000"/>
              </a:lnSpc>
              <a:spcBef>
                <a:spcPts val="1000"/>
              </a:spcBef>
              <a:spcAft>
                <a:spcPts val="0"/>
              </a:spcAft>
              <a:buSzPts val="2000"/>
              <a:buNone/>
            </a:pPr>
            <a:r>
              <a:rPr lang="en-IN" sz="1800" noProof="0" dirty="0">
                <a:latin typeface="Times New Roman" panose="02020603050405020304" pitchFamily="18" charset="0"/>
                <a:cs typeface="Times New Roman" panose="02020603050405020304" pitchFamily="18" charset="0"/>
              </a:rPr>
              <a:t>Prof. Yashvardhan Sharma </a:t>
            </a:r>
          </a:p>
          <a:p>
            <a:pPr marL="457200" lvl="0" indent="-228600" algn="l" rtl="0">
              <a:lnSpc>
                <a:spcPct val="90000"/>
              </a:lnSpc>
              <a:spcBef>
                <a:spcPts val="1000"/>
              </a:spcBef>
              <a:spcAft>
                <a:spcPts val="0"/>
              </a:spcAft>
              <a:buSzPts val="2000"/>
              <a:buNone/>
            </a:pPr>
            <a:endParaRPr lang="en-IN" sz="1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11D70"/>
              </a:buClr>
              <a:buSzPts val="3600"/>
              <a:buFont typeface="Arial"/>
              <a:buNone/>
            </a:pPr>
            <a:r>
              <a:rPr lang="en-IN" sz="4000" noProof="0" dirty="0">
                <a:latin typeface="Times New Roman" panose="02020603050405020304" pitchFamily="18" charset="0"/>
                <a:cs typeface="Times New Roman" panose="02020603050405020304" pitchFamily="18" charset="0"/>
              </a:rPr>
              <a:t>Table of contents</a:t>
            </a:r>
          </a:p>
        </p:txBody>
      </p:sp>
      <p:sp>
        <p:nvSpPr>
          <p:cNvPr id="3" name="TextBox 2">
            <a:extLst>
              <a:ext uri="{FF2B5EF4-FFF2-40B4-BE49-F238E27FC236}">
                <a16:creationId xmlns:a16="http://schemas.microsoft.com/office/drawing/2014/main" id="{E330D984-7F9F-DB4D-7E28-2AA96731949D}"/>
              </a:ext>
            </a:extLst>
          </p:cNvPr>
          <p:cNvSpPr txBox="1"/>
          <p:nvPr/>
        </p:nvSpPr>
        <p:spPr>
          <a:xfrm>
            <a:off x="695324" y="1060704"/>
            <a:ext cx="10128619" cy="5589928"/>
          </a:xfrm>
          <a:prstGeom prst="rect">
            <a:avLst/>
          </a:prstGeom>
          <a:noFill/>
        </p:spPr>
        <p:txBody>
          <a:bodyPr wrap="square">
            <a:spAutoFit/>
          </a:bodyPr>
          <a:lstStyle/>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Project Overview &amp; Problem Statement</a:t>
            </a:r>
            <a:endParaRPr lang="en-IN" sz="2200" b="1" noProof="0" dirty="0">
              <a:latin typeface="Times New Roman" panose="02020603050405020304" pitchFamily="18"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en-IN" sz="2200" b="1" dirty="0">
                <a:latin typeface="Times New Roman" panose="02020603050405020304" pitchFamily="18" charset="0"/>
                <a:cs typeface="Times New Roman" panose="02020603050405020304" pitchFamily="18" charset="0"/>
              </a:rPr>
              <a:t>Environment Setup</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 Dataset Curation &amp; Methodology</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The Hybrid Evaluation Framework</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Testing the AI: Text-to-SQL Performance</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Cross-Campus Evaluation</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Testing the Translation AI</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Testing Speech Recognition (ASR)</a:t>
            </a:r>
          </a:p>
          <a:p>
            <a:pPr marL="285750" lvl="0" indent="-285750">
              <a:lnSpc>
                <a:spcPct val="115000"/>
              </a:lnSpc>
              <a:spcAft>
                <a:spcPts val="800"/>
              </a:spcAft>
              <a:buFont typeface="Arial" panose="020B0604020202020204" pitchFamily="34" charset="0"/>
              <a:buChar char="•"/>
              <a:tabLst>
                <a:tab pos="457200" algn="l"/>
              </a:tabLst>
            </a:pPr>
            <a:r>
              <a:rPr lang="en-US" sz="2200" b="1" dirty="0">
                <a:latin typeface="Times New Roman" panose="02020603050405020304" pitchFamily="18" charset="0"/>
                <a:cs typeface="Times New Roman" panose="02020603050405020304" pitchFamily="18" charset="0"/>
              </a:rPr>
              <a:t>The 100% Offline Architecture Flow</a:t>
            </a:r>
          </a:p>
          <a:p>
            <a:pPr marL="285750" lvl="0" indent="-285750">
              <a:lnSpc>
                <a:spcPct val="115000"/>
              </a:lnSpc>
              <a:spcAft>
                <a:spcPts val="800"/>
              </a:spcAft>
              <a:buFont typeface="Arial" panose="020B0604020202020204" pitchFamily="34" charset="0"/>
              <a:buChar char="•"/>
              <a:tabLst>
                <a:tab pos="457200" algn="l"/>
              </a:tabLst>
            </a:pPr>
            <a:r>
              <a:rPr lang="en-IN" sz="2200" b="1" dirty="0">
                <a:latin typeface="Times New Roman" panose="02020603050405020304" pitchFamily="18" charset="0"/>
                <a:cs typeface="Times New Roman" panose="02020603050405020304" pitchFamily="18" charset="0"/>
              </a:rPr>
              <a:t>Conclusion &amp; Future Work</a:t>
            </a:r>
            <a:endParaRPr lang="en-IN" sz="2200" b="1" noProof="0" dirty="0">
              <a:latin typeface="Times New Roman" panose="02020603050405020304" pitchFamily="18"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endParaRPr lang="en-IN" b="1" noProof="0" dirty="0">
              <a:latin typeface="Times New Roman" panose="02020603050405020304" pitchFamily="18"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endParaRPr lang="en-IN" b="1" kern="100" noProof="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16BFF6BC-0EFC-8582-1DB5-4EDC1471C79B}"/>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3EB22FFB-37A5-5258-386C-9C5C0A45DA6B}"/>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p>
            <a:r>
              <a:rPr lang="en-US" dirty="0">
                <a:latin typeface="Times New Roman" panose="02020603050405020304" pitchFamily="18" charset="0"/>
                <a:cs typeface="Times New Roman" panose="02020603050405020304" pitchFamily="18" charset="0"/>
              </a:rPr>
              <a:t>Project Overview &amp; Problem Statement</a:t>
            </a:r>
          </a:p>
        </p:txBody>
      </p:sp>
      <p:sp>
        <p:nvSpPr>
          <p:cNvPr id="2" name="TextBox 1">
            <a:extLst>
              <a:ext uri="{FF2B5EF4-FFF2-40B4-BE49-F238E27FC236}">
                <a16:creationId xmlns:a16="http://schemas.microsoft.com/office/drawing/2014/main" id="{BCDD837A-66EB-180D-31D0-B11A7A2FCCEB}"/>
              </a:ext>
            </a:extLst>
          </p:cNvPr>
          <p:cNvSpPr txBox="1"/>
          <p:nvPr/>
        </p:nvSpPr>
        <p:spPr>
          <a:xfrm>
            <a:off x="695325" y="1139868"/>
            <a:ext cx="10801350" cy="5262979"/>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Problem:</a:t>
            </a:r>
            <a:r>
              <a:rPr lang="en-US" sz="2400" dirty="0">
                <a:latin typeface="Times New Roman" panose="02020603050405020304" pitchFamily="18" charset="0"/>
                <a:cs typeface="Times New Roman" panose="02020603050405020304" pitchFamily="18" charset="0"/>
              </a:rPr>
              <a:t> Traditional digital maps (like Google Maps or </a:t>
            </a:r>
            <a:r>
              <a:rPr lang="en-US" sz="2400" dirty="0" err="1">
                <a:latin typeface="Times New Roman" panose="02020603050405020304" pitchFamily="18" charset="0"/>
                <a:cs typeface="Times New Roman" panose="02020603050405020304" pitchFamily="18" charset="0"/>
              </a:rPr>
              <a:t>Nominatim</a:t>
            </a:r>
            <a:r>
              <a:rPr lang="en-US" sz="2400" dirty="0">
                <a:latin typeface="Times New Roman" panose="02020603050405020304" pitchFamily="18" charset="0"/>
                <a:cs typeface="Times New Roman" panose="02020603050405020304" pitchFamily="18" charset="0"/>
              </a:rPr>
              <a:t>) suffer from </a:t>
            </a:r>
            <a:r>
              <a:rPr lang="en-US" sz="2400" i="1" dirty="0">
                <a:latin typeface="Times New Roman" panose="02020603050405020304" pitchFamily="18" charset="0"/>
                <a:cs typeface="Times New Roman" panose="02020603050405020304" pitchFamily="18" charset="0"/>
              </a:rPr>
              <a:t>Exact-Match Bias</a:t>
            </a:r>
            <a:r>
              <a:rPr lang="en-US" sz="2400" dirty="0">
                <a:latin typeface="Times New Roman" panose="02020603050405020304" pitchFamily="18" charset="0"/>
                <a:cs typeface="Times New Roman" panose="02020603050405020304" pitchFamily="18" charset="0"/>
              </a:rPr>
              <a:t>. People naturally search for places based on their needs, but traditional maps rely on formal business names or perfectly structured addresses.</a:t>
            </a:r>
          </a:p>
          <a:p>
            <a:pPr algn="just"/>
            <a:r>
              <a:rPr lang="en-US" sz="2400" dirty="0">
                <a:latin typeface="Times New Roman" panose="02020603050405020304" pitchFamily="18" charset="0"/>
                <a:cs typeface="Times New Roman" panose="02020603050405020304" pitchFamily="18" charset="0"/>
              </a:rPr>
              <a:t>A search for </a:t>
            </a:r>
            <a:r>
              <a:rPr lang="en-US" sz="2400" i="1" dirty="0">
                <a:latin typeface="Times New Roman" panose="02020603050405020304" pitchFamily="18" charset="0"/>
                <a:cs typeface="Times New Roman" panose="02020603050405020304" pitchFamily="18" charset="0"/>
              </a:rPr>
              <a:t>"a quiet place to study"</a:t>
            </a:r>
            <a:r>
              <a:rPr lang="en-US" sz="2400" dirty="0">
                <a:latin typeface="Times New Roman" panose="02020603050405020304" pitchFamily="18" charset="0"/>
                <a:cs typeface="Times New Roman" panose="02020603050405020304" pitchFamily="18" charset="0"/>
              </a:rPr>
              <a:t> fails because the map literally looks for a business named "Quiet".</a:t>
            </a:r>
          </a:p>
          <a:p>
            <a:pPr algn="just"/>
            <a:r>
              <a:rPr lang="en-US" sz="2400" b="1" dirty="0">
                <a:latin typeface="Times New Roman" panose="02020603050405020304" pitchFamily="18" charset="0"/>
                <a:cs typeface="Times New Roman" panose="02020603050405020304" pitchFamily="18" charset="0"/>
              </a:rPr>
              <a:t>The Solution:</a:t>
            </a:r>
            <a:r>
              <a:rPr lang="en-US" sz="2400" dirty="0">
                <a:latin typeface="Times New Roman" panose="02020603050405020304" pitchFamily="18" charset="0"/>
                <a:cs typeface="Times New Roman" panose="02020603050405020304" pitchFamily="18" charset="0"/>
              </a:rPr>
              <a:t> We built an AI-driven engine that abandons rigid keyword matching. We use Large Language Models (LLMs) to translate abstract human needs into spatial database commands (</a:t>
            </a:r>
            <a:r>
              <a:rPr lang="en-US" sz="2400" dirty="0" err="1">
                <a:latin typeface="Times New Roman" panose="02020603050405020304" pitchFamily="18" charset="0"/>
                <a:cs typeface="Times New Roman" panose="02020603050405020304" pitchFamily="18" charset="0"/>
              </a:rPr>
              <a:t>PostGIS</a:t>
            </a:r>
            <a:r>
              <a:rPr lang="en-US" sz="2400" dirty="0">
                <a:latin typeface="Times New Roman" panose="02020603050405020304" pitchFamily="18" charset="0"/>
                <a:cs typeface="Times New Roman" panose="02020603050405020304" pitchFamily="18" charset="0"/>
              </a:rPr>
              <a:t> SQL).</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AI dynamically maps abstract concepts (like "study") to specific database tags (like amenity = library).</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translates relative spatial constraints (like "near the library") into spatial functions (like </a:t>
            </a:r>
            <a:r>
              <a:rPr lang="en-US" sz="2400" dirty="0" err="1">
                <a:latin typeface="Times New Roman" panose="02020603050405020304" pitchFamily="18" charset="0"/>
                <a:cs typeface="Times New Roman" panose="02020603050405020304" pitchFamily="18" charset="0"/>
              </a:rPr>
              <a:t>ST_DWithin</a:t>
            </a:r>
            <a:r>
              <a:rPr lang="en-US" sz="2400" dirty="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Result:</a:t>
            </a:r>
            <a:r>
              <a:rPr lang="en-US" sz="2400" dirty="0">
                <a:latin typeface="Times New Roman" panose="02020603050405020304" pitchFamily="18" charset="0"/>
                <a:cs typeface="Times New Roman" panose="02020603050405020304" pitchFamily="18" charset="0"/>
              </a:rPr>
              <a:t> By writing real database code, our system combines the smart, human-like understanding of an AI with the exact, flawless precision of a digital map.</a:t>
            </a:r>
          </a:p>
        </p:txBody>
      </p:sp>
    </p:spTree>
    <p:extLst>
      <p:ext uri="{BB962C8B-B14F-4D97-AF65-F5344CB8AC3E}">
        <p14:creationId xmlns:p14="http://schemas.microsoft.com/office/powerpoint/2010/main" val="478859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B0EE9247-0640-9830-670C-9EEA5157E8C7}"/>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F783BBD6-C059-D26B-21EB-229430526627}"/>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11D70"/>
              </a:buClr>
              <a:buSzPts val="3600"/>
              <a:buFont typeface="Arial"/>
              <a:buNone/>
            </a:pPr>
            <a:r>
              <a:rPr lang="en-IN" noProof="0" dirty="0">
                <a:latin typeface="Times New Roman" panose="02020603050405020304" pitchFamily="18" charset="0"/>
                <a:cs typeface="Times New Roman" panose="02020603050405020304" pitchFamily="18" charset="0"/>
              </a:rPr>
              <a:t>Environment Setup</a:t>
            </a:r>
          </a:p>
        </p:txBody>
      </p:sp>
      <p:sp>
        <p:nvSpPr>
          <p:cNvPr id="2" name="TextBox 1">
            <a:extLst>
              <a:ext uri="{FF2B5EF4-FFF2-40B4-BE49-F238E27FC236}">
                <a16:creationId xmlns:a16="http://schemas.microsoft.com/office/drawing/2014/main" id="{B04DE471-1913-31E9-5CBD-54495008F096}"/>
              </a:ext>
            </a:extLst>
          </p:cNvPr>
          <p:cNvSpPr txBox="1"/>
          <p:nvPr/>
        </p:nvSpPr>
        <p:spPr>
          <a:xfrm>
            <a:off x="695325" y="1139868"/>
            <a:ext cx="10801350" cy="4524315"/>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Hardware Environment:</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Local Mac / </a:t>
            </a:r>
            <a:r>
              <a:rPr lang="en-US" sz="2400" b="1" dirty="0" err="1">
                <a:latin typeface="Times New Roman" panose="02020603050405020304" pitchFamily="18" charset="0"/>
                <a:cs typeface="Times New Roman" panose="02020603050405020304" pitchFamily="18" charset="0"/>
              </a:rPr>
              <a:t>Colab</a:t>
            </a:r>
            <a:r>
              <a:rPr lang="en-US" sz="2400" b="1" dirty="0">
                <a:latin typeface="Times New Roman" panose="02020603050405020304" pitchFamily="18" charset="0"/>
                <a:cs typeface="Times New Roman" panose="02020603050405020304" pitchFamily="18" charset="0"/>
              </a:rPr>
              <a:t> (T4 GPU):</a:t>
            </a:r>
            <a:r>
              <a:rPr lang="en-US" sz="2400" dirty="0">
                <a:latin typeface="Times New Roman" panose="02020603050405020304" pitchFamily="18" charset="0"/>
                <a:cs typeface="Times New Roman" panose="02020603050405020304" pitchFamily="18" charset="0"/>
              </a:rPr>
              <a:t> Strict memory limits meant we had to carefully manage resources to run multiple AI models at the same time.</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Software Environment:</a:t>
            </a:r>
            <a:endParaRPr lang="en-US" sz="2400" dirty="0">
              <a:latin typeface="Times New Roman" panose="02020603050405020304" pitchFamily="18" charset="0"/>
              <a:cs typeface="Times New Roman" panose="02020603050405020304" pitchFamily="18" charset="0"/>
            </a:endParaRPr>
          </a:p>
          <a:p>
            <a:pPr algn="just"/>
            <a:r>
              <a:rPr lang="en-US" sz="2400" b="1" dirty="0" err="1">
                <a:latin typeface="Times New Roman" panose="02020603050405020304" pitchFamily="18" charset="0"/>
                <a:cs typeface="Times New Roman" panose="02020603050405020304" pitchFamily="18" charset="0"/>
              </a:rPr>
              <a:t>llama.cpp</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Used to run highly compressed 4-bit GGUF language models locally to save memory.</a:t>
            </a:r>
          </a:p>
          <a:p>
            <a:pPr algn="just"/>
            <a:r>
              <a:rPr lang="en-US" sz="2400" b="1" dirty="0">
                <a:latin typeface="Times New Roman" panose="02020603050405020304" pitchFamily="18" charset="0"/>
                <a:cs typeface="Times New Roman" panose="02020603050405020304" pitchFamily="18" charset="0"/>
              </a:rPr>
              <a:t>Qwen2.5-Coder (7B):</a:t>
            </a:r>
            <a:r>
              <a:rPr lang="en-US" sz="2400" dirty="0">
                <a:latin typeface="Times New Roman" panose="02020603050405020304" pitchFamily="18" charset="0"/>
                <a:cs typeface="Times New Roman" panose="02020603050405020304" pitchFamily="18" charset="0"/>
              </a:rPr>
              <a:t> The core engine used for both intent-routing and generating strict </a:t>
            </a:r>
            <a:r>
              <a:rPr lang="en-US" sz="2400" dirty="0" err="1">
                <a:latin typeface="Times New Roman" panose="02020603050405020304" pitchFamily="18" charset="0"/>
                <a:cs typeface="Times New Roman" panose="02020603050405020304" pitchFamily="18" charset="0"/>
              </a:rPr>
              <a:t>PostGIS</a:t>
            </a:r>
            <a:r>
              <a:rPr lang="en-US" sz="2400" dirty="0">
                <a:latin typeface="Times New Roman" panose="02020603050405020304" pitchFamily="18" charset="0"/>
                <a:cs typeface="Times New Roman" panose="02020603050405020304" pitchFamily="18" charset="0"/>
              </a:rPr>
              <a:t> SQL.</a:t>
            </a:r>
          </a:p>
          <a:p>
            <a:pPr algn="just"/>
            <a:r>
              <a:rPr lang="en-US" sz="2400" b="1" dirty="0">
                <a:latin typeface="Times New Roman" panose="02020603050405020304" pitchFamily="18" charset="0"/>
                <a:cs typeface="Times New Roman" panose="02020603050405020304" pitchFamily="18" charset="0"/>
              </a:rPr>
              <a:t>SeamlessM4T v2:</a:t>
            </a:r>
            <a:r>
              <a:rPr lang="en-US" sz="2400" dirty="0">
                <a:latin typeface="Times New Roman" panose="02020603050405020304" pitchFamily="18" charset="0"/>
                <a:cs typeface="Times New Roman" panose="02020603050405020304" pitchFamily="18" charset="0"/>
              </a:rPr>
              <a:t> Used for offline voice recognition (ASR) and translation.</a:t>
            </a:r>
          </a:p>
          <a:p>
            <a:pPr algn="just"/>
            <a:r>
              <a:rPr lang="en-US" sz="2400" b="1" dirty="0" err="1">
                <a:latin typeface="Times New Roman" panose="02020603050405020304" pitchFamily="18" charset="0"/>
                <a:cs typeface="Times New Roman" panose="02020603050405020304" pitchFamily="18" charset="0"/>
              </a:rPr>
              <a:t>GeoPandas</a:t>
            </a:r>
            <a:r>
              <a:rPr lang="en-US" sz="2400" b="1" dirty="0">
                <a:latin typeface="Times New Roman" panose="02020603050405020304" pitchFamily="18" charset="0"/>
                <a:cs typeface="Times New Roman" panose="02020603050405020304" pitchFamily="18" charset="0"/>
              </a:rPr>
              <a:t> &amp; Folium:</a:t>
            </a:r>
            <a:r>
              <a:rPr lang="en-US" sz="2400" dirty="0">
                <a:latin typeface="Times New Roman" panose="02020603050405020304" pitchFamily="18" charset="0"/>
                <a:cs typeface="Times New Roman" panose="02020603050405020304" pitchFamily="18" charset="0"/>
              </a:rPr>
              <a:t> Used for intercepting raw database binaries and rendering live, interactive web maps.</a:t>
            </a:r>
          </a:p>
        </p:txBody>
      </p:sp>
    </p:spTree>
    <p:extLst>
      <p:ext uri="{BB962C8B-B14F-4D97-AF65-F5344CB8AC3E}">
        <p14:creationId xmlns:p14="http://schemas.microsoft.com/office/powerpoint/2010/main" val="3899266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FC87A2EF-A8A9-34E3-A5D2-66543531F8EC}"/>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21D96397-9BD3-FF50-E75C-6C79B841DDBC}"/>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 Dataset Curation &amp; Methodology</a:t>
            </a:r>
          </a:p>
        </p:txBody>
      </p:sp>
      <p:sp>
        <p:nvSpPr>
          <p:cNvPr id="2" name="TextBox 1">
            <a:extLst>
              <a:ext uri="{FF2B5EF4-FFF2-40B4-BE49-F238E27FC236}">
                <a16:creationId xmlns:a16="http://schemas.microsoft.com/office/drawing/2014/main" id="{97805BB9-1080-C66D-B00C-A526569C2541}"/>
              </a:ext>
            </a:extLst>
          </p:cNvPr>
          <p:cNvSpPr txBox="1"/>
          <p:nvPr/>
        </p:nvSpPr>
        <p:spPr>
          <a:xfrm>
            <a:off x="695325" y="1139868"/>
            <a:ext cx="10801350" cy="5262979"/>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Challenge:</a:t>
            </a:r>
            <a:r>
              <a:rPr lang="en-US" sz="2400" dirty="0">
                <a:latin typeface="Times New Roman" panose="02020603050405020304" pitchFamily="18" charset="0"/>
                <a:cs typeface="Times New Roman" panose="02020603050405020304" pitchFamily="18" charset="0"/>
              </a:rPr>
              <a:t> AI models are often evaluated on simple text, but we needed to test complex spatial reasoning and regional language comprehension. </a:t>
            </a:r>
            <a:r>
              <a:rPr lang="en-US" sz="2400" b="1" dirty="0">
                <a:latin typeface="Times New Roman" panose="02020603050405020304" pitchFamily="18" charset="0"/>
                <a:cs typeface="Times New Roman" panose="02020603050405020304" pitchFamily="18" charset="0"/>
              </a:rPr>
              <a:t>Our Custom Datasets:</a:t>
            </a:r>
            <a:endParaRPr lang="en-US"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The Spatial Database:</a:t>
            </a:r>
            <a:r>
              <a:rPr lang="en-US" sz="2400" dirty="0">
                <a:latin typeface="Times New Roman" panose="02020603050405020304" pitchFamily="18" charset="0"/>
                <a:cs typeface="Times New Roman" panose="02020603050405020304" pitchFamily="18" charset="0"/>
              </a:rPr>
              <a:t> We extracted a live, 3km radius of OpenStreetMap data around IIT Bombay and BITS Pilani and stored it in a local PostgreSQL database.</a:t>
            </a: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The Golden Benchmark (50 Queries):</a:t>
            </a:r>
            <a:r>
              <a:rPr lang="en-US" sz="2400" dirty="0">
                <a:latin typeface="Times New Roman" panose="02020603050405020304" pitchFamily="18" charset="0"/>
                <a:cs typeface="Times New Roman" panose="02020603050405020304" pitchFamily="18" charset="0"/>
              </a:rPr>
              <a:t> Carefully categorized spatial questions spanning 5 distinct difficulty levels, ranging from simple lookups to advanced geographic constraints (e.g., "Find a cafe within 500m of the library").</a:t>
            </a: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The Generalization Benchmark (80 Queries):</a:t>
            </a:r>
            <a:r>
              <a:rPr lang="en-US" sz="2400" dirty="0">
                <a:latin typeface="Times New Roman" panose="02020603050405020304" pitchFamily="18" charset="0"/>
                <a:cs typeface="Times New Roman" panose="02020603050405020304" pitchFamily="18" charset="0"/>
              </a:rPr>
              <a:t> A completely separate dataset built on the BITS Pilani map to prove our results weren't geographically biased, and that the AI's spatial reasoning works on any city layout.</a:t>
            </a:r>
          </a:p>
          <a:p>
            <a:pPr marL="457200" indent="-457200" algn="just">
              <a:buFont typeface="+mj-lt"/>
              <a:buAutoNum type="arabicPeriod"/>
            </a:pPr>
            <a:r>
              <a:rPr lang="en-US" sz="2400" b="1" dirty="0">
                <a:latin typeface="Times New Roman" panose="02020603050405020304" pitchFamily="18" charset="0"/>
                <a:cs typeface="Times New Roman" panose="02020603050405020304" pitchFamily="18" charset="0"/>
              </a:rPr>
              <a:t>The Multilingual Set (56 Text &amp; Audio Queries):</a:t>
            </a:r>
            <a:r>
              <a:rPr lang="en-US" sz="2400" dirty="0">
                <a:latin typeface="Times New Roman" panose="02020603050405020304" pitchFamily="18" charset="0"/>
                <a:cs typeface="Times New Roman" panose="02020603050405020304" pitchFamily="18" charset="0"/>
              </a:rPr>
              <a:t> Complex text and spoken queries crossing Hindi, Tamil, Telugu, Marathi, and Punjabi (including internet slang and Hinglish).</a:t>
            </a:r>
          </a:p>
        </p:txBody>
      </p:sp>
    </p:spTree>
    <p:extLst>
      <p:ext uri="{BB962C8B-B14F-4D97-AF65-F5344CB8AC3E}">
        <p14:creationId xmlns:p14="http://schemas.microsoft.com/office/powerpoint/2010/main" val="205638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820EA7F5-40AC-4007-3493-7327CF0BD147}"/>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9FDDAFE7-1C04-96E9-6389-5A6450E63216}"/>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The Hybrid Evaluation Framework</a:t>
            </a:r>
          </a:p>
        </p:txBody>
      </p:sp>
      <p:sp>
        <p:nvSpPr>
          <p:cNvPr id="2" name="TextBox 1">
            <a:extLst>
              <a:ext uri="{FF2B5EF4-FFF2-40B4-BE49-F238E27FC236}">
                <a16:creationId xmlns:a16="http://schemas.microsoft.com/office/drawing/2014/main" id="{5C49C0E9-637B-DC48-F5CA-4E320180C380}"/>
              </a:ext>
            </a:extLst>
          </p:cNvPr>
          <p:cNvSpPr txBox="1"/>
          <p:nvPr/>
        </p:nvSpPr>
        <p:spPr>
          <a:xfrm>
            <a:off x="695325" y="1139868"/>
            <a:ext cx="10801350" cy="5262979"/>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Challenge:</a:t>
            </a:r>
            <a:r>
              <a:rPr lang="en-US" sz="2400" dirty="0">
                <a:latin typeface="Times New Roman" panose="02020603050405020304" pitchFamily="18" charset="0"/>
                <a:cs typeface="Times New Roman" panose="02020603050405020304" pitchFamily="18" charset="0"/>
              </a:rPr>
              <a:t> It is notoriously difficult to grade an AI on writing SQL code, because two completely different pieces of code can sometimes return the exact same correct data. </a:t>
            </a:r>
          </a:p>
          <a:p>
            <a:pPr algn="just"/>
            <a:r>
              <a:rPr lang="en-US" sz="2400" b="1" dirty="0">
                <a:latin typeface="Times New Roman" panose="02020603050405020304" pitchFamily="18" charset="0"/>
                <a:cs typeface="Times New Roman" panose="02020603050405020304" pitchFamily="18" charset="0"/>
              </a:rPr>
              <a:t>The Solution:</a:t>
            </a:r>
            <a:r>
              <a:rPr lang="en-US" sz="2400" dirty="0">
                <a:latin typeface="Times New Roman" panose="02020603050405020304" pitchFamily="18" charset="0"/>
                <a:cs typeface="Times New Roman" panose="02020603050405020304" pitchFamily="18" charset="0"/>
              </a:rPr>
              <a:t> We built a custom, two-step "Hybrid Evaluation Framework" to rigorously and safely grade the AI:</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Step 1 (Structural Code Check):</a:t>
            </a:r>
            <a:r>
              <a:rPr lang="en-US" sz="2400" dirty="0">
                <a:latin typeface="Times New Roman" panose="02020603050405020304" pitchFamily="18" charset="0"/>
                <a:cs typeface="Times New Roman" panose="02020603050405020304" pitchFamily="18" charset="0"/>
              </a:rPr>
              <a:t> Before running the code, we parse it into an Abstract Syntax Tree (AST) to securely inspect the SELECT, FROM, and WHERE clauses, along with Logical Operators, ORDER BY sorting, LIMIT constraints, and Spatial Functions.</a:t>
            </a:r>
          </a:p>
          <a:p>
            <a:pPr algn="just"/>
            <a:r>
              <a:rPr lang="en-US" sz="2400" b="1" dirty="0">
                <a:latin typeface="Times New Roman" panose="02020603050405020304" pitchFamily="18" charset="0"/>
                <a:cs typeface="Times New Roman" panose="02020603050405020304" pitchFamily="18" charset="0"/>
              </a:rPr>
              <a:t>Step 2 (Live Database Execution):</a:t>
            </a:r>
            <a:r>
              <a:rPr lang="en-US" sz="2400" dirty="0">
                <a:latin typeface="Times New Roman" panose="02020603050405020304" pitchFamily="18" charset="0"/>
                <a:cs typeface="Times New Roman" panose="02020603050405020304" pitchFamily="18" charset="0"/>
              </a:rPr>
              <a:t> If the code is safe, we execute it live on the Postgres database. We then use the "50% Rule"—if the AI's results achieve an F1 Score of at least 50% (combining both precision and recall against the true target locations), it receives a PASS.</a:t>
            </a:r>
          </a:p>
        </p:txBody>
      </p:sp>
    </p:spTree>
    <p:extLst>
      <p:ext uri="{BB962C8B-B14F-4D97-AF65-F5344CB8AC3E}">
        <p14:creationId xmlns:p14="http://schemas.microsoft.com/office/powerpoint/2010/main" val="24323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ACF26433-8D4E-7B12-4CFF-80667CD356EB}"/>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62B63CE4-015A-2F0B-92FF-E6C6ACD80D59}"/>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Testing the AI: Text-to-SQL Performance</a:t>
            </a:r>
          </a:p>
        </p:txBody>
      </p:sp>
      <p:graphicFrame>
        <p:nvGraphicFramePr>
          <p:cNvPr id="3" name="Table 2">
            <a:extLst>
              <a:ext uri="{FF2B5EF4-FFF2-40B4-BE49-F238E27FC236}">
                <a16:creationId xmlns:a16="http://schemas.microsoft.com/office/drawing/2014/main" id="{76CB8211-4685-29A0-01DD-4EFC44B0E4DC}"/>
              </a:ext>
            </a:extLst>
          </p:cNvPr>
          <p:cNvGraphicFramePr>
            <a:graphicFrameLocks noGrp="1"/>
          </p:cNvGraphicFramePr>
          <p:nvPr>
            <p:extLst>
              <p:ext uri="{D42A27DB-BD31-4B8C-83A1-F6EECF244321}">
                <p14:modId xmlns:p14="http://schemas.microsoft.com/office/powerpoint/2010/main" val="2454013918"/>
              </p:ext>
            </p:extLst>
          </p:nvPr>
        </p:nvGraphicFramePr>
        <p:xfrm>
          <a:off x="695324" y="1722475"/>
          <a:ext cx="10801349" cy="3632792"/>
        </p:xfrm>
        <a:graphic>
          <a:graphicData uri="http://schemas.openxmlformats.org/drawingml/2006/table">
            <a:tbl>
              <a:tblPr firstRow="1" bandRow="1">
                <a:tableStyleId>{93296810-A885-4BE3-A3E7-6D5BEEA58F35}</a:tableStyleId>
              </a:tblPr>
              <a:tblGrid>
                <a:gridCol w="3566960">
                  <a:extLst>
                    <a:ext uri="{9D8B030D-6E8A-4147-A177-3AD203B41FA5}">
                      <a16:colId xmlns:a16="http://schemas.microsoft.com/office/drawing/2014/main" val="4227574827"/>
                    </a:ext>
                  </a:extLst>
                </a:gridCol>
                <a:gridCol w="1941578">
                  <a:extLst>
                    <a:ext uri="{9D8B030D-6E8A-4147-A177-3AD203B41FA5}">
                      <a16:colId xmlns:a16="http://schemas.microsoft.com/office/drawing/2014/main" val="3282616632"/>
                    </a:ext>
                  </a:extLst>
                </a:gridCol>
                <a:gridCol w="1806630">
                  <a:extLst>
                    <a:ext uri="{9D8B030D-6E8A-4147-A177-3AD203B41FA5}">
                      <a16:colId xmlns:a16="http://schemas.microsoft.com/office/drawing/2014/main" val="4267134068"/>
                    </a:ext>
                  </a:extLst>
                </a:gridCol>
                <a:gridCol w="1806630">
                  <a:extLst>
                    <a:ext uri="{9D8B030D-6E8A-4147-A177-3AD203B41FA5}">
                      <a16:colId xmlns:a16="http://schemas.microsoft.com/office/drawing/2014/main" val="2308551901"/>
                    </a:ext>
                  </a:extLst>
                </a:gridCol>
                <a:gridCol w="1679551">
                  <a:extLst>
                    <a:ext uri="{9D8B030D-6E8A-4147-A177-3AD203B41FA5}">
                      <a16:colId xmlns:a16="http://schemas.microsoft.com/office/drawing/2014/main" val="2235610808"/>
                    </a:ext>
                  </a:extLst>
                </a:gridCol>
              </a:tblGrid>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Model</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Pass Rate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Fail Rate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Avg Struct Score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Avg F1 Score</a:t>
                      </a:r>
                    </a:p>
                  </a:txBody>
                  <a:tcPr anchor="ctr"/>
                </a:tc>
                <a:extLst>
                  <a:ext uri="{0D108BD9-81ED-4DB2-BD59-A6C34878D82A}">
                    <a16:rowId xmlns:a16="http://schemas.microsoft.com/office/drawing/2014/main" val="2504911280"/>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Qwen2.5-Coder-7B-Instruct</a:t>
                      </a:r>
                      <a:endParaRPr lang="en-US" sz="2200" b="0" i="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78.0% (39/50)</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4.0% (2/50)</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0.854</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0.780</a:t>
                      </a:r>
                    </a:p>
                  </a:txBody>
                  <a:tcPr anchor="ctr"/>
                </a:tc>
                <a:extLst>
                  <a:ext uri="{0D108BD9-81ED-4DB2-BD59-A6C34878D82A}">
                    <a16:rowId xmlns:a16="http://schemas.microsoft.com/office/drawing/2014/main" val="49945303"/>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SQLCoder-8B (llama-3)</a:t>
                      </a:r>
                      <a:endParaRPr lang="en-US" sz="2200" b="0" i="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46.0% (23/50)</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54.0% (27/50)</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0.600</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0.459</a:t>
                      </a:r>
                    </a:p>
                  </a:txBody>
                  <a:tcPr anchor="ctr"/>
                </a:tc>
                <a:extLst>
                  <a:ext uri="{0D108BD9-81ED-4DB2-BD59-A6C34878D82A}">
                    <a16:rowId xmlns:a16="http://schemas.microsoft.com/office/drawing/2014/main" val="1094117351"/>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CodeS-7B (BIRD Champ)</a:t>
                      </a:r>
                      <a:endParaRPr lang="en-US" sz="2200" b="0" i="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32.0% (16/50)</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68.0% (34/50)</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0.697</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0.385</a:t>
                      </a:r>
                    </a:p>
                  </a:txBody>
                  <a:tcPr anchor="ctr"/>
                </a:tc>
                <a:extLst>
                  <a:ext uri="{0D108BD9-81ED-4DB2-BD59-A6C34878D82A}">
                    <a16:rowId xmlns:a16="http://schemas.microsoft.com/office/drawing/2014/main" val="1314137541"/>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DeepSeek-Coder-7B</a:t>
                      </a:r>
                      <a:endParaRPr lang="en-US" sz="2200" b="0" i="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28.0% (14/50)</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72.0% (36/50)</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0.489</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0.297</a:t>
                      </a:r>
                    </a:p>
                  </a:txBody>
                  <a:tcPr anchor="ctr"/>
                </a:tc>
                <a:extLst>
                  <a:ext uri="{0D108BD9-81ED-4DB2-BD59-A6C34878D82A}">
                    <a16:rowId xmlns:a16="http://schemas.microsoft.com/office/drawing/2014/main" val="4165177410"/>
                  </a:ext>
                </a:extLst>
              </a:tr>
            </a:tbl>
          </a:graphicData>
        </a:graphic>
      </p:graphicFrame>
    </p:spTree>
    <p:extLst>
      <p:ext uri="{BB962C8B-B14F-4D97-AF65-F5344CB8AC3E}">
        <p14:creationId xmlns:p14="http://schemas.microsoft.com/office/powerpoint/2010/main" val="1618939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51B74F4D-1BDD-F4D2-A477-73720B144EA5}"/>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97472C6B-0962-27BB-619D-57ABB0E4DDB6}"/>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Model Selection &amp; Root Cause Analysis</a:t>
            </a:r>
          </a:p>
        </p:txBody>
      </p:sp>
      <p:sp>
        <p:nvSpPr>
          <p:cNvPr id="8" name="TextBox 7">
            <a:extLst>
              <a:ext uri="{FF2B5EF4-FFF2-40B4-BE49-F238E27FC236}">
                <a16:creationId xmlns:a16="http://schemas.microsoft.com/office/drawing/2014/main" id="{24BBBA5A-2D12-6111-6E57-74EA320A4B2A}"/>
              </a:ext>
            </a:extLst>
          </p:cNvPr>
          <p:cNvSpPr txBox="1"/>
          <p:nvPr/>
        </p:nvSpPr>
        <p:spPr>
          <a:xfrm>
            <a:off x="695325" y="1060704"/>
            <a:ext cx="10801350" cy="4524315"/>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Why did the other models fail?</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err="1">
                <a:latin typeface="Times New Roman" panose="02020603050405020304" pitchFamily="18" charset="0"/>
                <a:cs typeface="Times New Roman" panose="02020603050405020304" pitchFamily="18" charset="0"/>
              </a:rPr>
              <a:t>CodeS</a:t>
            </a:r>
            <a:r>
              <a:rPr lang="en-US" sz="2400" b="1" dirty="0">
                <a:latin typeface="Times New Roman" panose="02020603050405020304" pitchFamily="18" charset="0"/>
                <a:cs typeface="Times New Roman" panose="02020603050405020304" pitchFamily="18" charset="0"/>
              </a:rPr>
              <a:t> &amp; DeepSeek:</a:t>
            </a:r>
            <a:r>
              <a:rPr lang="en-US" sz="2400" dirty="0">
                <a:latin typeface="Times New Roman" panose="02020603050405020304" pitchFamily="18" charset="0"/>
                <a:cs typeface="Times New Roman" panose="02020603050405020304" pitchFamily="18" charset="0"/>
              </a:rPr>
              <a:t> Both models failed miserably (32% and 28%). Because they were aggressively fine-tuned on complex corporate schemas, they overcomplicated our simple map data and hallucinated non-existent columns (like "address").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err="1">
                <a:latin typeface="Times New Roman" panose="02020603050405020304" pitchFamily="18" charset="0"/>
                <a:cs typeface="Times New Roman" panose="02020603050405020304" pitchFamily="18" charset="0"/>
              </a:rPr>
              <a:t>SQLCoder</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Suffered from fatal weaknesses. It mapped wrong columns without explicit hints (mapping "library" to leisure instead of amenity), struggled with negation, and completely broke down on spatial JOINs.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The Winner (Qwen2.5-Coder):</a:t>
            </a:r>
            <a:r>
              <a:rPr lang="en-US" sz="2400" dirty="0">
                <a:latin typeface="Times New Roman" panose="02020603050405020304" pitchFamily="18" charset="0"/>
                <a:cs typeface="Times New Roman" panose="02020603050405020304" pitchFamily="18" charset="0"/>
              </a:rPr>
              <a:t> Naturally understood map concepts, generating clean spatial code without hallucinating.</a:t>
            </a:r>
          </a:p>
        </p:txBody>
      </p:sp>
    </p:spTree>
    <p:extLst>
      <p:ext uri="{BB962C8B-B14F-4D97-AF65-F5344CB8AC3E}">
        <p14:creationId xmlns:p14="http://schemas.microsoft.com/office/powerpoint/2010/main" val="404712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DF123224-7D8F-088A-32C0-E7CBB5BE504A}"/>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FE6C5763-19B6-15D9-F00D-6190F0583CBD}"/>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Cross-Campus Evaluation</a:t>
            </a:r>
          </a:p>
        </p:txBody>
      </p:sp>
      <p:sp>
        <p:nvSpPr>
          <p:cNvPr id="8" name="TextBox 7">
            <a:extLst>
              <a:ext uri="{FF2B5EF4-FFF2-40B4-BE49-F238E27FC236}">
                <a16:creationId xmlns:a16="http://schemas.microsoft.com/office/drawing/2014/main" id="{3D9766CF-ABCD-37D9-5F41-A24FE3DC3975}"/>
              </a:ext>
            </a:extLst>
          </p:cNvPr>
          <p:cNvSpPr txBox="1"/>
          <p:nvPr/>
        </p:nvSpPr>
        <p:spPr>
          <a:xfrm>
            <a:off x="695325" y="1060704"/>
            <a:ext cx="10801350" cy="4154984"/>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The Evaluation:</a:t>
            </a:r>
            <a:r>
              <a:rPr lang="en-US" sz="2400" dirty="0">
                <a:latin typeface="Times New Roman" panose="02020603050405020304" pitchFamily="18" charset="0"/>
                <a:cs typeface="Times New Roman" panose="02020603050405020304" pitchFamily="18" charset="0"/>
              </a:rPr>
              <a:t> To ensure our results were not geographically biased, we ran a second, larger evaluation (80 queries) on a completely different map structure (the BITS Pilani campus). </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The Conclusion:</a:t>
            </a:r>
            <a:r>
              <a:rPr lang="en-US" sz="2400" dirty="0">
                <a:latin typeface="Times New Roman" panose="02020603050405020304" pitchFamily="18" charset="0"/>
                <a:cs typeface="Times New Roman" panose="02020603050405020304" pitchFamily="18" charset="0"/>
              </a:rPr>
              <a:t> Qwen2.5-Coder maintained a dominant 71.2% pass rate, proving its spatial reasoning flawlessly generalizes to unseen geographies without any fine-tuning. Meanwhile, models trained strictly on corporate databases (like </a:t>
            </a:r>
            <a:r>
              <a:rPr lang="en-US" sz="2400" dirty="0" err="1">
                <a:latin typeface="Times New Roman" panose="02020603050405020304" pitchFamily="18" charset="0"/>
                <a:cs typeface="Times New Roman" panose="02020603050405020304" pitchFamily="18" charset="0"/>
              </a:rPr>
              <a:t>CodeS</a:t>
            </a:r>
            <a:r>
              <a:rPr lang="en-US" sz="2400" dirty="0">
                <a:latin typeface="Times New Roman" panose="02020603050405020304" pitchFamily="18" charset="0"/>
                <a:cs typeface="Times New Roman" panose="02020603050405020304" pitchFamily="18" charset="0"/>
              </a:rPr>
              <a:t>) collapsed completely to 23.8% when exposed to new geographic constraints.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Final Recommendation:</a:t>
            </a:r>
            <a:r>
              <a:rPr lang="en-US" sz="2400" dirty="0">
                <a:latin typeface="Times New Roman" panose="02020603050405020304" pitchFamily="18" charset="0"/>
                <a:cs typeface="Times New Roman" panose="02020603050405020304" pitchFamily="18" charset="0"/>
              </a:rPr>
              <a:t> Qwen2.5-Coder-7B-Instruct is the definitively recommended model for text-to-SQL spatial logic.</a:t>
            </a:r>
          </a:p>
        </p:txBody>
      </p:sp>
    </p:spTree>
    <p:extLst>
      <p:ext uri="{BB962C8B-B14F-4D97-AF65-F5344CB8AC3E}">
        <p14:creationId xmlns:p14="http://schemas.microsoft.com/office/powerpoint/2010/main" val="830321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0E7A3638-1602-278F-2FBC-C685624D3780}"/>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DFC47094-482E-9DBC-83EE-F383638F61BE}"/>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Cross-Campus SQL Generalization </a:t>
            </a:r>
          </a:p>
        </p:txBody>
      </p:sp>
      <p:pic>
        <p:nvPicPr>
          <p:cNvPr id="5" name="Picture 4">
            <a:extLst>
              <a:ext uri="{FF2B5EF4-FFF2-40B4-BE49-F238E27FC236}">
                <a16:creationId xmlns:a16="http://schemas.microsoft.com/office/drawing/2014/main" id="{66CDBD41-A4E9-F40E-F0D5-0CC4354026C0}"/>
              </a:ext>
            </a:extLst>
          </p:cNvPr>
          <p:cNvPicPr>
            <a:picLocks noChangeAspect="1"/>
          </p:cNvPicPr>
          <p:nvPr/>
        </p:nvPicPr>
        <p:blipFill>
          <a:blip r:embed="rId3"/>
          <a:stretch>
            <a:fillRect/>
          </a:stretch>
        </p:blipFill>
        <p:spPr>
          <a:xfrm>
            <a:off x="695322" y="1605516"/>
            <a:ext cx="10801349" cy="4720856"/>
          </a:xfrm>
          <a:prstGeom prst="rect">
            <a:avLst/>
          </a:prstGeom>
        </p:spPr>
      </p:pic>
      <p:sp>
        <p:nvSpPr>
          <p:cNvPr id="7" name="TextBox 6">
            <a:extLst>
              <a:ext uri="{FF2B5EF4-FFF2-40B4-BE49-F238E27FC236}">
                <a16:creationId xmlns:a16="http://schemas.microsoft.com/office/drawing/2014/main" id="{FDE4A182-5152-C9BA-3049-22C8B68DB5A7}"/>
              </a:ext>
            </a:extLst>
          </p:cNvPr>
          <p:cNvSpPr txBox="1"/>
          <p:nvPr/>
        </p:nvSpPr>
        <p:spPr>
          <a:xfrm>
            <a:off x="695322" y="1060704"/>
            <a:ext cx="10801349" cy="430887"/>
          </a:xfrm>
          <a:prstGeom prst="rect">
            <a:avLst/>
          </a:prstGeom>
          <a:noFill/>
        </p:spPr>
        <p:txBody>
          <a:bodyPr wrap="square">
            <a:spAutoFit/>
          </a:bodyPr>
          <a:lstStyle/>
          <a:p>
            <a:r>
              <a:rPr lang="en-US" sz="2200" b="1" i="0" dirty="0">
                <a:solidFill>
                  <a:schemeClr val="tx1"/>
                </a:solidFill>
                <a:effectLst/>
                <a:latin typeface="Times New Roman" panose="02020603050405020304" pitchFamily="18" charset="0"/>
                <a:cs typeface="Times New Roman" panose="02020603050405020304" pitchFamily="18" charset="0"/>
              </a:rPr>
              <a:t>Comparing model robustness across two completely different geographic environments:</a:t>
            </a:r>
            <a:endParaRPr 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88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5F1974DE-ABBE-8279-601B-B3D1D8333623}"/>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E0462C16-22ED-50EA-54B3-B887625B43A7}"/>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Testing the Translation AI</a:t>
            </a:r>
          </a:p>
        </p:txBody>
      </p:sp>
      <p:sp>
        <p:nvSpPr>
          <p:cNvPr id="2" name="TextBox 1">
            <a:extLst>
              <a:ext uri="{FF2B5EF4-FFF2-40B4-BE49-F238E27FC236}">
                <a16:creationId xmlns:a16="http://schemas.microsoft.com/office/drawing/2014/main" id="{26641A8E-6198-3334-3D87-409BDE26C31D}"/>
              </a:ext>
            </a:extLst>
          </p:cNvPr>
          <p:cNvSpPr txBox="1"/>
          <p:nvPr/>
        </p:nvSpPr>
        <p:spPr>
          <a:xfrm>
            <a:off x="695325" y="1139868"/>
            <a:ext cx="10801350" cy="5262979"/>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Challenge:</a:t>
            </a:r>
            <a:r>
              <a:rPr lang="en-US" sz="2400" dirty="0">
                <a:latin typeface="Times New Roman" panose="02020603050405020304" pitchFamily="18" charset="0"/>
                <a:cs typeface="Times New Roman" panose="02020603050405020304" pitchFamily="18" charset="0"/>
              </a:rPr>
              <a:t> Since our SQL AI only speaks English, we needed a text translator for our Indian users that could handle conversational Hinglish. </a:t>
            </a:r>
            <a:r>
              <a:rPr lang="en-US" sz="2400" b="1" dirty="0">
                <a:latin typeface="Times New Roman" panose="02020603050405020304" pitchFamily="18" charset="0"/>
                <a:cs typeface="Times New Roman" panose="02020603050405020304" pitchFamily="18" charset="0"/>
              </a:rPr>
              <a:t>Why did the other models fail?</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Google Translate (The Cloud Baseline):</a:t>
            </a:r>
            <a:r>
              <a:rPr lang="en-US" sz="2400" dirty="0">
                <a:latin typeface="Times New Roman" panose="02020603050405020304" pitchFamily="18" charset="0"/>
                <a:cs typeface="Times New Roman" panose="02020603050405020304" pitchFamily="18" charset="0"/>
              </a:rPr>
              <a:t> Performed the best overall (96.4%), but since our goal is a 100% offline architecture, we could not rely on a cloud API.</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NLLB-200 &amp; SeamlessM4T:</a:t>
            </a:r>
            <a:r>
              <a:rPr lang="en-US" sz="2400" dirty="0">
                <a:latin typeface="Times New Roman" panose="02020603050405020304" pitchFamily="18" charset="0"/>
                <a:cs typeface="Times New Roman" panose="02020603050405020304" pitchFamily="18" charset="0"/>
              </a:rPr>
              <a:t> Completely failed on internet slang. They would often just repeat the Hindi slang word back in English letters (leaving words like "</a:t>
            </a:r>
            <a:r>
              <a:rPr lang="en-US" sz="2400" dirty="0" err="1">
                <a:latin typeface="Times New Roman" panose="02020603050405020304" pitchFamily="18" charset="0"/>
                <a:cs typeface="Times New Roman" panose="02020603050405020304" pitchFamily="18" charset="0"/>
              </a:rPr>
              <a:t>tapri</a:t>
            </a:r>
            <a:r>
              <a:rPr lang="en-US" sz="2400" dirty="0">
                <a:latin typeface="Times New Roman" panose="02020603050405020304" pitchFamily="18" charset="0"/>
                <a:cs typeface="Times New Roman" panose="02020603050405020304" pitchFamily="18" charset="0"/>
              </a:rPr>
              <a:t>" untranslated), which caused the SQL AI to crash.</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Sarvam-Translate (The Winner):</a:t>
            </a:r>
            <a:r>
              <a:rPr lang="en-US" sz="2400" dirty="0">
                <a:latin typeface="Times New Roman" panose="02020603050405020304" pitchFamily="18" charset="0"/>
                <a:cs typeface="Times New Roman" panose="02020603050405020304" pitchFamily="18" charset="0"/>
              </a:rPr>
              <a:t> Flawlessly translated messy slang into proper English. It is a bit "chatty" (trying to hold a conversation instead of just translating), but we fixed this with a strict prompt to force it to behave.</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Final Recommendation:</a:t>
            </a:r>
            <a:r>
              <a:rPr lang="en-US" sz="2400" dirty="0">
                <a:latin typeface="Times New Roman" panose="02020603050405020304" pitchFamily="18" charset="0"/>
                <a:cs typeface="Times New Roman" panose="02020603050405020304" pitchFamily="18" charset="0"/>
              </a:rPr>
              <a:t> Sarvam-Translate (4B) is our official choice for translating messy text.</a:t>
            </a:r>
          </a:p>
        </p:txBody>
      </p:sp>
    </p:spTree>
    <p:extLst>
      <p:ext uri="{BB962C8B-B14F-4D97-AF65-F5344CB8AC3E}">
        <p14:creationId xmlns:p14="http://schemas.microsoft.com/office/powerpoint/2010/main" val="614686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1D610359-E01C-B73A-7383-E0039DDB4CF3}"/>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BC4D272B-F4C4-57B1-5119-19ABE32E5E2B}"/>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Translation Model Performance </a:t>
            </a:r>
          </a:p>
        </p:txBody>
      </p:sp>
      <p:graphicFrame>
        <p:nvGraphicFramePr>
          <p:cNvPr id="3" name="Table 2">
            <a:extLst>
              <a:ext uri="{FF2B5EF4-FFF2-40B4-BE49-F238E27FC236}">
                <a16:creationId xmlns:a16="http://schemas.microsoft.com/office/drawing/2014/main" id="{C525C12B-33BD-1D3A-6FA9-7C0CD7082BF1}"/>
              </a:ext>
            </a:extLst>
          </p:cNvPr>
          <p:cNvGraphicFramePr>
            <a:graphicFrameLocks noGrp="1"/>
          </p:cNvGraphicFramePr>
          <p:nvPr>
            <p:extLst>
              <p:ext uri="{D42A27DB-BD31-4B8C-83A1-F6EECF244321}">
                <p14:modId xmlns:p14="http://schemas.microsoft.com/office/powerpoint/2010/main" val="1158570457"/>
              </p:ext>
            </p:extLst>
          </p:nvPr>
        </p:nvGraphicFramePr>
        <p:xfrm>
          <a:off x="695325" y="1722475"/>
          <a:ext cx="10801349" cy="3677094"/>
        </p:xfrm>
        <a:graphic>
          <a:graphicData uri="http://schemas.openxmlformats.org/drawingml/2006/table">
            <a:tbl>
              <a:tblPr firstRow="1" bandRow="1">
                <a:tableStyleId>{93296810-A885-4BE3-A3E7-6D5BEEA58F35}</a:tableStyleId>
              </a:tblPr>
              <a:tblGrid>
                <a:gridCol w="4223728">
                  <a:extLst>
                    <a:ext uri="{9D8B030D-6E8A-4147-A177-3AD203B41FA5}">
                      <a16:colId xmlns:a16="http://schemas.microsoft.com/office/drawing/2014/main" val="4227574827"/>
                    </a:ext>
                  </a:extLst>
                </a:gridCol>
                <a:gridCol w="2299071">
                  <a:extLst>
                    <a:ext uri="{9D8B030D-6E8A-4147-A177-3AD203B41FA5}">
                      <a16:colId xmlns:a16="http://schemas.microsoft.com/office/drawing/2014/main" val="3282616632"/>
                    </a:ext>
                  </a:extLst>
                </a:gridCol>
                <a:gridCol w="2139275">
                  <a:extLst>
                    <a:ext uri="{9D8B030D-6E8A-4147-A177-3AD203B41FA5}">
                      <a16:colId xmlns:a16="http://schemas.microsoft.com/office/drawing/2014/main" val="4267134068"/>
                    </a:ext>
                  </a:extLst>
                </a:gridCol>
                <a:gridCol w="2139275">
                  <a:extLst>
                    <a:ext uri="{9D8B030D-6E8A-4147-A177-3AD203B41FA5}">
                      <a16:colId xmlns:a16="http://schemas.microsoft.com/office/drawing/2014/main" val="2308551901"/>
                    </a:ext>
                  </a:extLst>
                </a:gridCol>
              </a:tblGrid>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Model</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Overall Pass Rate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Hinglish/Slang Pass Rate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Total SQL Failures</a:t>
                      </a:r>
                    </a:p>
                  </a:txBody>
                  <a:tcPr anchor="ctr"/>
                </a:tc>
                <a:extLst>
                  <a:ext uri="{0D108BD9-81ED-4DB2-BD59-A6C34878D82A}">
                    <a16:rowId xmlns:a16="http://schemas.microsoft.com/office/drawing/2014/main" val="2504911280"/>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Google Translate (Cloud Baseline)</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96.4%</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71.4%</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49945303"/>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Sarvam-Translate (4B)</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87.5%</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71.4%</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094117351"/>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NLLB-200 (1.3B)</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85.7%</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57.1%</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3</a:t>
                      </a:r>
                    </a:p>
                  </a:txBody>
                  <a:tcPr anchor="ctr"/>
                </a:tc>
                <a:extLst>
                  <a:ext uri="{0D108BD9-81ED-4DB2-BD59-A6C34878D82A}">
                    <a16:rowId xmlns:a16="http://schemas.microsoft.com/office/drawing/2014/main" val="1314137541"/>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SeamlessM4T v2 (Large)</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83.9%</a:t>
                      </a:r>
                    </a:p>
                  </a:txBody>
                  <a:tcPr anchor="ctr"/>
                </a:tc>
                <a:tc>
                  <a:txBody>
                    <a:bodyPr/>
                    <a:lstStyle/>
                    <a:p>
                      <a:pPr indent="0" algn="ctr">
                        <a:buNone/>
                      </a:pPr>
                      <a:r>
                        <a:rPr lang="en-US" sz="1800" b="0" i="0">
                          <a:solidFill>
                            <a:schemeClr val="tx1"/>
                          </a:solidFill>
                          <a:effectLst/>
                          <a:latin typeface="Times New Roman" panose="02020603050405020304" pitchFamily="18" charset="0"/>
                          <a:cs typeface="Times New Roman" panose="02020603050405020304" pitchFamily="18" charset="0"/>
                        </a:rPr>
                        <a:t>42.9%</a:t>
                      </a:r>
                    </a:p>
                  </a:txBody>
                  <a:tcPr anchor="ctr"/>
                </a:tc>
                <a:tc>
                  <a:txBody>
                    <a:bodyPr/>
                    <a:lstStyle/>
                    <a:p>
                      <a:pPr indent="0" algn="ctr">
                        <a:buNone/>
                      </a:pPr>
                      <a:r>
                        <a:rPr lang="en-US" sz="1800" b="0" i="0" dirty="0">
                          <a:solidFill>
                            <a:schemeClr val="tx1"/>
                          </a:solidFill>
                          <a:effectLst/>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4165177410"/>
                  </a:ext>
                </a:extLst>
              </a:tr>
            </a:tbl>
          </a:graphicData>
        </a:graphic>
      </p:graphicFrame>
    </p:spTree>
    <p:extLst>
      <p:ext uri="{BB962C8B-B14F-4D97-AF65-F5344CB8AC3E}">
        <p14:creationId xmlns:p14="http://schemas.microsoft.com/office/powerpoint/2010/main" val="3203619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692C60A4-FBFF-47CB-077A-6568B80DCC0B}"/>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CC52000F-05B7-C7EA-F4B1-692FFC52EA79}"/>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Testing Speech Recognition (ASR)</a:t>
            </a:r>
          </a:p>
        </p:txBody>
      </p:sp>
      <p:sp>
        <p:nvSpPr>
          <p:cNvPr id="2" name="TextBox 1">
            <a:extLst>
              <a:ext uri="{FF2B5EF4-FFF2-40B4-BE49-F238E27FC236}">
                <a16:creationId xmlns:a16="http://schemas.microsoft.com/office/drawing/2014/main" id="{F50CD627-B003-DB5C-7EF7-697022FFB59E}"/>
              </a:ext>
            </a:extLst>
          </p:cNvPr>
          <p:cNvSpPr txBox="1"/>
          <p:nvPr/>
        </p:nvSpPr>
        <p:spPr>
          <a:xfrm>
            <a:off x="695325" y="1139868"/>
            <a:ext cx="10801350" cy="5262979"/>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The Challenge:</a:t>
            </a:r>
            <a:r>
              <a:rPr lang="en-US" sz="2400" dirty="0">
                <a:latin typeface="Times New Roman" panose="02020603050405020304" pitchFamily="18" charset="0"/>
                <a:cs typeface="Times New Roman" panose="02020603050405020304" pitchFamily="18" charset="0"/>
              </a:rPr>
              <a:t> To allow users to literally speak to the map, we tested four different voice recognition engines using our synthetic audio dataset. </a:t>
            </a:r>
            <a:r>
              <a:rPr lang="en-US" sz="2400" b="1" dirty="0">
                <a:latin typeface="Times New Roman" panose="02020603050405020304" pitchFamily="18" charset="0"/>
                <a:cs typeface="Times New Roman" panose="02020603050405020304" pitchFamily="18" charset="0"/>
              </a:rPr>
              <a:t>Why did the other models fail?</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OpenAI Whisper (Failed):</a:t>
            </a:r>
            <a:r>
              <a:rPr lang="en-US" sz="2400" dirty="0">
                <a:latin typeface="Times New Roman" panose="02020603050405020304" pitchFamily="18" charset="0"/>
                <a:cs typeface="Times New Roman" panose="02020603050405020304" pitchFamily="18" charset="0"/>
              </a:rPr>
              <a:t> Despite being famous, Whisper was terrible at understanding regional Indian languages, completely failing on Telugu and Marathi.</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Google Speech (Failed):</a:t>
            </a:r>
            <a:r>
              <a:rPr lang="en-US" sz="2400" dirty="0">
                <a:latin typeface="Times New Roman" panose="02020603050405020304" pitchFamily="18" charset="0"/>
                <a:cs typeface="Times New Roman" panose="02020603050405020304" pitchFamily="18" charset="0"/>
              </a:rPr>
              <a:t> Google was decent, but completely broke down when a user mixed Hindi and English in the same sentence.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Sarvam API (Runner-Up):</a:t>
            </a:r>
            <a:r>
              <a:rPr lang="en-US" sz="2400" dirty="0">
                <a:latin typeface="Times New Roman" panose="02020603050405020304" pitchFamily="18" charset="0"/>
                <a:cs typeface="Times New Roman" panose="02020603050405020304" pitchFamily="18" charset="0"/>
              </a:rPr>
              <a:t> Incredibly accurate, but it requires an internet connection to use their API, which breaks our "100% offline" goal.</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SeamlessM4T v2 (The Winner):</a:t>
            </a:r>
            <a:r>
              <a:rPr lang="en-US" sz="2400" dirty="0">
                <a:latin typeface="Times New Roman" panose="02020603050405020304" pitchFamily="18" charset="0"/>
                <a:cs typeface="Times New Roman" panose="02020603050405020304" pitchFamily="18" charset="0"/>
              </a:rPr>
              <a:t> Listened to Indian audio and translated it directly into English text in a single step, entirely offline on our local GPU.</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Final Recommendation:</a:t>
            </a:r>
            <a:r>
              <a:rPr lang="en-US" sz="2400" dirty="0">
                <a:latin typeface="Times New Roman" panose="02020603050405020304" pitchFamily="18" charset="0"/>
                <a:cs typeface="Times New Roman" panose="02020603050405020304" pitchFamily="18" charset="0"/>
              </a:rPr>
              <a:t> SeamlessM4T v2 is our official choice for the voice engine because it is fast, accurate, and runs 100% offline.</a:t>
            </a:r>
          </a:p>
        </p:txBody>
      </p:sp>
    </p:spTree>
    <p:extLst>
      <p:ext uri="{BB962C8B-B14F-4D97-AF65-F5344CB8AC3E}">
        <p14:creationId xmlns:p14="http://schemas.microsoft.com/office/powerpoint/2010/main" val="3523753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48DF1A98-5864-F373-EF7A-7F6DDA241A80}"/>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8B7FB88E-400B-70FE-787E-D5D6E4F8E337}"/>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ASR Model Performance </a:t>
            </a:r>
          </a:p>
        </p:txBody>
      </p:sp>
      <p:graphicFrame>
        <p:nvGraphicFramePr>
          <p:cNvPr id="3" name="Table 2">
            <a:extLst>
              <a:ext uri="{FF2B5EF4-FFF2-40B4-BE49-F238E27FC236}">
                <a16:creationId xmlns:a16="http://schemas.microsoft.com/office/drawing/2014/main" id="{A77D466E-037E-B7C2-07D6-52A190FFDB0B}"/>
              </a:ext>
            </a:extLst>
          </p:cNvPr>
          <p:cNvGraphicFramePr>
            <a:graphicFrameLocks noGrp="1"/>
          </p:cNvGraphicFramePr>
          <p:nvPr>
            <p:extLst>
              <p:ext uri="{D42A27DB-BD31-4B8C-83A1-F6EECF244321}">
                <p14:modId xmlns:p14="http://schemas.microsoft.com/office/powerpoint/2010/main" val="991231065"/>
              </p:ext>
            </p:extLst>
          </p:nvPr>
        </p:nvGraphicFramePr>
        <p:xfrm>
          <a:off x="695325" y="1722475"/>
          <a:ext cx="10801349" cy="3632792"/>
        </p:xfrm>
        <a:graphic>
          <a:graphicData uri="http://schemas.openxmlformats.org/drawingml/2006/table">
            <a:tbl>
              <a:tblPr firstRow="1" bandRow="1">
                <a:tableStyleId>{93296810-A885-4BE3-A3E7-6D5BEEA58F35}</a:tableStyleId>
              </a:tblPr>
              <a:tblGrid>
                <a:gridCol w="3547066">
                  <a:extLst>
                    <a:ext uri="{9D8B030D-6E8A-4147-A177-3AD203B41FA5}">
                      <a16:colId xmlns:a16="http://schemas.microsoft.com/office/drawing/2014/main" val="4227574827"/>
                    </a:ext>
                  </a:extLst>
                </a:gridCol>
                <a:gridCol w="2275367">
                  <a:extLst>
                    <a:ext uri="{9D8B030D-6E8A-4147-A177-3AD203B41FA5}">
                      <a16:colId xmlns:a16="http://schemas.microsoft.com/office/drawing/2014/main" val="3282616632"/>
                    </a:ext>
                  </a:extLst>
                </a:gridCol>
                <a:gridCol w="2839641">
                  <a:extLst>
                    <a:ext uri="{9D8B030D-6E8A-4147-A177-3AD203B41FA5}">
                      <a16:colId xmlns:a16="http://schemas.microsoft.com/office/drawing/2014/main" val="4267134068"/>
                    </a:ext>
                  </a:extLst>
                </a:gridCol>
                <a:gridCol w="2139275">
                  <a:extLst>
                    <a:ext uri="{9D8B030D-6E8A-4147-A177-3AD203B41FA5}">
                      <a16:colId xmlns:a16="http://schemas.microsoft.com/office/drawing/2014/main" val="2308551901"/>
                    </a:ext>
                  </a:extLst>
                </a:gridCol>
              </a:tblGrid>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Model</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Pass Rate</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Avg Word Error Rate (WER)</a:t>
                      </a:r>
                    </a:p>
                  </a:txBody>
                  <a:tcPr anchor="ctr"/>
                </a:tc>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Type</a:t>
                      </a:r>
                    </a:p>
                  </a:txBody>
                  <a:tcPr anchor="ctr"/>
                </a:tc>
                <a:extLst>
                  <a:ext uri="{0D108BD9-81ED-4DB2-BD59-A6C34878D82A}">
                    <a16:rowId xmlns:a16="http://schemas.microsoft.com/office/drawing/2014/main" val="2504911280"/>
                  </a:ext>
                </a:extLst>
              </a:tr>
              <a:tr h="717698">
                <a:tc>
                  <a:txBody>
                    <a:bodyPr/>
                    <a:lstStyle/>
                    <a:p>
                      <a:pPr indent="0" algn="ctr">
                        <a:buNone/>
                      </a:pPr>
                      <a:r>
                        <a:rPr lang="en-US" sz="2200" b="1" i="0">
                          <a:solidFill>
                            <a:schemeClr val="tx1"/>
                          </a:solidFill>
                          <a:effectLst/>
                          <a:latin typeface="Times New Roman" panose="02020603050405020304" pitchFamily="18" charset="0"/>
                          <a:cs typeface="Times New Roman" panose="02020603050405020304" pitchFamily="18" charset="0"/>
                        </a:rPr>
                        <a:t>Sarvam API (Saaras)</a:t>
                      </a:r>
                    </a:p>
                  </a:txBody>
                  <a:tcPr anchor="ctr"/>
                </a:tc>
                <a:tc>
                  <a:txBody>
                    <a:bodyPr/>
                    <a:lstStyle/>
                    <a:p>
                      <a:pPr indent="0" algn="ctr">
                        <a:buNone/>
                      </a:pPr>
                      <a:r>
                        <a:rPr lang="en-US" sz="2200" b="0" i="0">
                          <a:solidFill>
                            <a:schemeClr val="tx1"/>
                          </a:solidFill>
                          <a:effectLst/>
                          <a:latin typeface="Times New Roman" panose="02020603050405020304" pitchFamily="18" charset="0"/>
                          <a:cs typeface="Times New Roman" panose="02020603050405020304" pitchFamily="18" charset="0"/>
                        </a:rPr>
                        <a:t>83.9% (47/56)</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0.339</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Cloud API</a:t>
                      </a:r>
                    </a:p>
                  </a:txBody>
                  <a:tcPr anchor="ctr"/>
                </a:tc>
                <a:extLst>
                  <a:ext uri="{0D108BD9-81ED-4DB2-BD59-A6C34878D82A}">
                    <a16:rowId xmlns:a16="http://schemas.microsoft.com/office/drawing/2014/main" val="49945303"/>
                  </a:ext>
                </a:extLst>
              </a:tr>
              <a:tr h="717698">
                <a:tc>
                  <a:txBody>
                    <a:bodyPr/>
                    <a:lstStyle/>
                    <a:p>
                      <a:pPr indent="0" algn="ctr">
                        <a:buNone/>
                      </a:pPr>
                      <a:r>
                        <a:rPr lang="en-US" sz="2200" b="1" i="0">
                          <a:solidFill>
                            <a:schemeClr val="tx1"/>
                          </a:solidFill>
                          <a:effectLst/>
                          <a:latin typeface="Times New Roman" panose="02020603050405020304" pitchFamily="18" charset="0"/>
                          <a:cs typeface="Times New Roman" panose="02020603050405020304" pitchFamily="18" charset="0"/>
                        </a:rPr>
                        <a:t>SeamlessM4T v2 (Large)</a:t>
                      </a:r>
                    </a:p>
                  </a:txBody>
                  <a:tcPr anchor="ctr"/>
                </a:tc>
                <a:tc>
                  <a:txBody>
                    <a:bodyPr/>
                    <a:lstStyle/>
                    <a:p>
                      <a:pPr indent="0" algn="ctr">
                        <a:buNone/>
                      </a:pPr>
                      <a:r>
                        <a:rPr lang="en-US" sz="2200" b="0" i="0">
                          <a:solidFill>
                            <a:schemeClr val="tx1"/>
                          </a:solidFill>
                          <a:effectLst/>
                          <a:latin typeface="Times New Roman" panose="02020603050405020304" pitchFamily="18" charset="0"/>
                          <a:cs typeface="Times New Roman" panose="02020603050405020304" pitchFamily="18" charset="0"/>
                        </a:rPr>
                        <a:t>82.1% (46/56)</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0.470</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Local / Open</a:t>
                      </a:r>
                    </a:p>
                  </a:txBody>
                  <a:tcPr anchor="ctr"/>
                </a:tc>
                <a:extLst>
                  <a:ext uri="{0D108BD9-81ED-4DB2-BD59-A6C34878D82A}">
                    <a16:rowId xmlns:a16="http://schemas.microsoft.com/office/drawing/2014/main" val="1094117351"/>
                  </a:ext>
                </a:extLst>
              </a:tr>
              <a:tr h="717698">
                <a:tc>
                  <a:txBody>
                    <a:bodyPr/>
                    <a:lstStyle/>
                    <a:p>
                      <a:pPr indent="0" algn="ctr">
                        <a:buNone/>
                      </a:pPr>
                      <a:r>
                        <a:rPr lang="en-US" sz="2200" b="1" i="0">
                          <a:solidFill>
                            <a:schemeClr val="tx1"/>
                          </a:solidFill>
                          <a:effectLst/>
                          <a:latin typeface="Times New Roman" panose="02020603050405020304" pitchFamily="18" charset="0"/>
                          <a:cs typeface="Times New Roman" panose="02020603050405020304" pitchFamily="18" charset="0"/>
                        </a:rPr>
                        <a:t>Google Speech Recognition</a:t>
                      </a:r>
                    </a:p>
                  </a:txBody>
                  <a:tcPr anchor="ctr"/>
                </a:tc>
                <a:tc>
                  <a:txBody>
                    <a:bodyPr/>
                    <a:lstStyle/>
                    <a:p>
                      <a:pPr indent="0" algn="ctr">
                        <a:buNone/>
                      </a:pPr>
                      <a:r>
                        <a:rPr lang="en-US" sz="2200" b="0" i="0">
                          <a:solidFill>
                            <a:schemeClr val="tx1"/>
                          </a:solidFill>
                          <a:effectLst/>
                          <a:latin typeface="Times New Roman" panose="02020603050405020304" pitchFamily="18" charset="0"/>
                          <a:cs typeface="Times New Roman" panose="02020603050405020304" pitchFamily="18" charset="0"/>
                        </a:rPr>
                        <a:t>78.6% (44/56)</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0.514</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Cloud API</a:t>
                      </a:r>
                    </a:p>
                  </a:txBody>
                  <a:tcPr anchor="ctr"/>
                </a:tc>
                <a:extLst>
                  <a:ext uri="{0D108BD9-81ED-4DB2-BD59-A6C34878D82A}">
                    <a16:rowId xmlns:a16="http://schemas.microsoft.com/office/drawing/2014/main" val="1314137541"/>
                  </a:ext>
                </a:extLst>
              </a:tr>
              <a:tr h="717698">
                <a:tc>
                  <a:txBody>
                    <a:bodyPr/>
                    <a:lstStyle/>
                    <a:p>
                      <a:pPr indent="0" algn="ctr">
                        <a:buNone/>
                      </a:pPr>
                      <a:r>
                        <a:rPr lang="en-US" sz="2200" b="1" i="0" dirty="0">
                          <a:solidFill>
                            <a:schemeClr val="tx1"/>
                          </a:solidFill>
                          <a:effectLst/>
                          <a:latin typeface="Times New Roman" panose="02020603050405020304" pitchFamily="18" charset="0"/>
                          <a:cs typeface="Times New Roman" panose="02020603050405020304" pitchFamily="18" charset="0"/>
                        </a:rPr>
                        <a:t>OpenAI Whisper (Large)</a:t>
                      </a:r>
                    </a:p>
                  </a:txBody>
                  <a:tcPr anchor="ctr"/>
                </a:tc>
                <a:tc>
                  <a:txBody>
                    <a:bodyPr/>
                    <a:lstStyle/>
                    <a:p>
                      <a:pPr indent="0" algn="ctr">
                        <a:buNone/>
                      </a:pPr>
                      <a:r>
                        <a:rPr lang="en-US" sz="2200" b="0" i="0">
                          <a:solidFill>
                            <a:schemeClr val="tx1"/>
                          </a:solidFill>
                          <a:effectLst/>
                          <a:latin typeface="Times New Roman" panose="02020603050405020304" pitchFamily="18" charset="0"/>
                          <a:cs typeface="Times New Roman" panose="02020603050405020304" pitchFamily="18" charset="0"/>
                        </a:rPr>
                        <a:t>66.1% (37/56)</a:t>
                      </a:r>
                    </a:p>
                  </a:txBody>
                  <a:tcPr anchor="ctr"/>
                </a:tc>
                <a:tc>
                  <a:txBody>
                    <a:bodyPr/>
                    <a:lstStyle/>
                    <a:p>
                      <a:pPr indent="0" algn="ctr">
                        <a:buNone/>
                      </a:pPr>
                      <a:r>
                        <a:rPr lang="en-US" sz="2200" b="0" i="0">
                          <a:solidFill>
                            <a:schemeClr val="tx1"/>
                          </a:solidFill>
                          <a:effectLst/>
                          <a:latin typeface="Times New Roman" panose="02020603050405020304" pitchFamily="18" charset="0"/>
                          <a:cs typeface="Times New Roman" panose="02020603050405020304" pitchFamily="18" charset="0"/>
                        </a:rPr>
                        <a:t>0.632</a:t>
                      </a:r>
                    </a:p>
                  </a:txBody>
                  <a:tcPr anchor="ctr"/>
                </a:tc>
                <a:tc>
                  <a:txBody>
                    <a:bodyPr/>
                    <a:lstStyle/>
                    <a:p>
                      <a:pPr indent="0" algn="ctr">
                        <a:buNone/>
                      </a:pPr>
                      <a:r>
                        <a:rPr lang="en-US" sz="2200" b="0" i="0" dirty="0">
                          <a:solidFill>
                            <a:schemeClr val="tx1"/>
                          </a:solidFill>
                          <a:effectLst/>
                          <a:latin typeface="Times New Roman" panose="02020603050405020304" pitchFamily="18" charset="0"/>
                          <a:cs typeface="Times New Roman" panose="02020603050405020304" pitchFamily="18" charset="0"/>
                        </a:rPr>
                        <a:t>Local / Open</a:t>
                      </a:r>
                    </a:p>
                  </a:txBody>
                  <a:tcPr anchor="ctr"/>
                </a:tc>
                <a:extLst>
                  <a:ext uri="{0D108BD9-81ED-4DB2-BD59-A6C34878D82A}">
                    <a16:rowId xmlns:a16="http://schemas.microsoft.com/office/drawing/2014/main" val="4165177410"/>
                  </a:ext>
                </a:extLst>
              </a:tr>
            </a:tbl>
          </a:graphicData>
        </a:graphic>
      </p:graphicFrame>
    </p:spTree>
    <p:extLst>
      <p:ext uri="{BB962C8B-B14F-4D97-AF65-F5344CB8AC3E}">
        <p14:creationId xmlns:p14="http://schemas.microsoft.com/office/powerpoint/2010/main" val="79266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15C18BAF-0757-CAF4-D597-13EA2EA0B9E8}"/>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43C05528-CC2F-91C5-0EEF-202AC602A259}"/>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ASR Model Performance </a:t>
            </a:r>
          </a:p>
        </p:txBody>
      </p:sp>
      <p:pic>
        <p:nvPicPr>
          <p:cNvPr id="4" name="Picture 3">
            <a:extLst>
              <a:ext uri="{FF2B5EF4-FFF2-40B4-BE49-F238E27FC236}">
                <a16:creationId xmlns:a16="http://schemas.microsoft.com/office/drawing/2014/main" id="{5B8E89D6-E855-3EF7-5743-086B60C493FA}"/>
              </a:ext>
            </a:extLst>
          </p:cNvPr>
          <p:cNvPicPr>
            <a:picLocks noChangeAspect="1"/>
          </p:cNvPicPr>
          <p:nvPr/>
        </p:nvPicPr>
        <p:blipFill>
          <a:blip r:embed="rId3"/>
          <a:stretch>
            <a:fillRect/>
          </a:stretch>
        </p:blipFill>
        <p:spPr>
          <a:xfrm>
            <a:off x="695325" y="1145764"/>
            <a:ext cx="10801349" cy="4978589"/>
          </a:xfrm>
          <a:prstGeom prst="rect">
            <a:avLst/>
          </a:prstGeom>
        </p:spPr>
      </p:pic>
    </p:spTree>
    <p:extLst>
      <p:ext uri="{BB962C8B-B14F-4D97-AF65-F5344CB8AC3E}">
        <p14:creationId xmlns:p14="http://schemas.microsoft.com/office/powerpoint/2010/main" val="3821209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42FF87C1-5A92-7C8E-2F6E-96E8F4BA203F}"/>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C4F255F2-74A5-1882-53D6-49687EC50417}"/>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Autofit/>
          </a:bodyPr>
          <a:lstStyle/>
          <a:p>
            <a:r>
              <a:rPr lang="en-US" dirty="0">
                <a:latin typeface="Times New Roman" panose="02020603050405020304" pitchFamily="18" charset="0"/>
                <a:cs typeface="Times New Roman" panose="02020603050405020304" pitchFamily="18" charset="0"/>
              </a:rPr>
              <a:t>The 100% Offline Architecture Flow</a:t>
            </a:r>
          </a:p>
        </p:txBody>
      </p:sp>
      <p:sp>
        <p:nvSpPr>
          <p:cNvPr id="2" name="TextBox 1">
            <a:extLst>
              <a:ext uri="{FF2B5EF4-FFF2-40B4-BE49-F238E27FC236}">
                <a16:creationId xmlns:a16="http://schemas.microsoft.com/office/drawing/2014/main" id="{72EFA9DD-9B99-ADA1-CAE3-928C44620DF8}"/>
              </a:ext>
            </a:extLst>
          </p:cNvPr>
          <p:cNvSpPr txBox="1"/>
          <p:nvPr/>
        </p:nvSpPr>
        <p:spPr>
          <a:xfrm>
            <a:off x="695325" y="4157330"/>
            <a:ext cx="10801350" cy="2308324"/>
          </a:xfrm>
          <a:prstGeom prst="rect">
            <a:avLst/>
          </a:prstGeom>
          <a:noFill/>
        </p:spPr>
        <p:txBody>
          <a:bodyPr wrap="square" rtlCol="0">
            <a:spAutoFit/>
          </a:bodyPr>
          <a:lstStyle/>
          <a:p>
            <a:pPr algn="just"/>
            <a:r>
              <a:rPr lang="en-US" sz="1600" b="1" dirty="0">
                <a:latin typeface="Times New Roman" panose="02020603050405020304" pitchFamily="18" charset="0"/>
                <a:cs typeface="Times New Roman" panose="02020603050405020304" pitchFamily="18" charset="0"/>
              </a:rPr>
              <a:t>How data flows through the system:</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User Input:</a:t>
            </a:r>
            <a:r>
              <a:rPr lang="en-US" sz="1600" dirty="0">
                <a:latin typeface="Times New Roman" panose="02020603050405020304" pitchFamily="18" charset="0"/>
                <a:cs typeface="Times New Roman" panose="02020603050405020304" pitchFamily="18" charset="0"/>
              </a:rPr>
              <a:t> User inputs a query via voice (audio) or text in their native regional language.</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Translation to English:</a:t>
            </a:r>
            <a:r>
              <a:rPr lang="en-US" sz="1600" dirty="0">
                <a:latin typeface="Times New Roman" panose="02020603050405020304" pitchFamily="18" charset="0"/>
                <a:cs typeface="Times New Roman" panose="02020603050405020304" pitchFamily="18" charset="0"/>
              </a:rPr>
              <a:t> SeamlessM4T transcribes and translates both the audio and text directly into English.</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Intent Router:</a:t>
            </a:r>
            <a:r>
              <a:rPr lang="en-US" sz="1600" dirty="0">
                <a:latin typeface="Times New Roman" panose="02020603050405020304" pitchFamily="18" charset="0"/>
                <a:cs typeface="Times New Roman" panose="02020603050405020304" pitchFamily="18" charset="0"/>
              </a:rPr>
              <a:t> Qwen2.5 filters out small talk and decides if the query requires a Database Search or a RAG Rulebook search.</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Generating SQL:</a:t>
            </a:r>
            <a:r>
              <a:rPr lang="en-US" sz="1600" dirty="0">
                <a:latin typeface="Times New Roman" panose="02020603050405020304" pitchFamily="18" charset="0"/>
                <a:cs typeface="Times New Roman" panose="02020603050405020304" pitchFamily="18" charset="0"/>
              </a:rPr>
              <a:t> Qwen translates the English intent into an executable spatial SQL query.</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Database Search:</a:t>
            </a:r>
            <a:r>
              <a:rPr lang="en-US" sz="1600" dirty="0">
                <a:latin typeface="Times New Roman" panose="02020603050405020304" pitchFamily="18" charset="0"/>
                <a:cs typeface="Times New Roman" panose="02020603050405020304" pitchFamily="18" charset="0"/>
              </a:rPr>
              <a:t> Local PostgreSQL map is queried.</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Reverse Translation &amp; Output:</a:t>
            </a:r>
            <a:r>
              <a:rPr lang="en-US" sz="1600" dirty="0">
                <a:latin typeface="Times New Roman" panose="02020603050405020304" pitchFamily="18" charset="0"/>
                <a:cs typeface="Times New Roman" panose="02020603050405020304" pitchFamily="18" charset="0"/>
              </a:rPr>
              <a:t> The results are summarized in English, translated back to the native language via SeamlessM4T, and outputted as text and spoken aloud!</a:t>
            </a:r>
          </a:p>
        </p:txBody>
      </p:sp>
      <p:pic>
        <p:nvPicPr>
          <p:cNvPr id="3" name="Picture 2">
            <a:extLst>
              <a:ext uri="{FF2B5EF4-FFF2-40B4-BE49-F238E27FC236}">
                <a16:creationId xmlns:a16="http://schemas.microsoft.com/office/drawing/2014/main" id="{CC710FB6-078A-8971-2D32-9A31905F20F9}"/>
              </a:ext>
            </a:extLst>
          </p:cNvPr>
          <p:cNvPicPr>
            <a:picLocks noChangeAspect="1"/>
          </p:cNvPicPr>
          <p:nvPr/>
        </p:nvPicPr>
        <p:blipFill>
          <a:blip r:embed="rId3"/>
          <a:stretch>
            <a:fillRect/>
          </a:stretch>
        </p:blipFill>
        <p:spPr>
          <a:xfrm>
            <a:off x="695325" y="1399259"/>
            <a:ext cx="10801350" cy="2864397"/>
          </a:xfrm>
          <a:prstGeom prst="rect">
            <a:avLst/>
          </a:prstGeom>
        </p:spPr>
      </p:pic>
      <p:sp>
        <p:nvSpPr>
          <p:cNvPr id="5" name="TextBox 4">
            <a:extLst>
              <a:ext uri="{FF2B5EF4-FFF2-40B4-BE49-F238E27FC236}">
                <a16:creationId xmlns:a16="http://schemas.microsoft.com/office/drawing/2014/main" id="{0F8F51E7-C6AD-1B55-8A36-B4817C8081AB}"/>
              </a:ext>
            </a:extLst>
          </p:cNvPr>
          <p:cNvSpPr txBox="1"/>
          <p:nvPr/>
        </p:nvSpPr>
        <p:spPr>
          <a:xfrm>
            <a:off x="695325" y="1060704"/>
            <a:ext cx="10801350" cy="338554"/>
          </a:xfrm>
          <a:prstGeom prst="rect">
            <a:avLst/>
          </a:prstGeom>
          <a:noFill/>
        </p:spPr>
        <p:txBody>
          <a:bodyPr wrap="square">
            <a:spAutoFit/>
          </a:bodyPr>
          <a:lstStyle/>
          <a:p>
            <a:r>
              <a:rPr lang="en-US" sz="1600" b="1" i="0" dirty="0">
                <a:solidFill>
                  <a:schemeClr val="tx1"/>
                </a:solidFill>
                <a:effectLst/>
                <a:latin typeface="Times New Roman" panose="02020603050405020304" pitchFamily="18" charset="0"/>
                <a:cs typeface="Times New Roman" panose="02020603050405020304" pitchFamily="18" charset="0"/>
              </a:rPr>
              <a:t>The Goal:</a:t>
            </a:r>
            <a:r>
              <a:rPr lang="en-US" sz="1600" b="0" i="0" dirty="0">
                <a:solidFill>
                  <a:schemeClr val="tx1"/>
                </a:solidFill>
                <a:effectLst/>
                <a:latin typeface="Times New Roman" panose="02020603050405020304" pitchFamily="18" charset="0"/>
                <a:cs typeface="Times New Roman" panose="02020603050405020304" pitchFamily="18" charset="0"/>
              </a:rPr>
              <a:t> Run the entire ecosystem locally without relying on Cloud APIs that pose privacy risks and have strict rate limits.</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7827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47683EB1-88BA-B7FD-D846-7ACBAF40A8E2}"/>
            </a:ext>
          </a:extLst>
        </p:cNvPr>
        <p:cNvGrpSpPr/>
        <p:nvPr/>
      </p:nvGrpSpPr>
      <p:grpSpPr>
        <a:xfrm>
          <a:off x="0" y="0"/>
          <a:ext cx="0" cy="0"/>
          <a:chOff x="0" y="0"/>
          <a:chExt cx="0" cy="0"/>
        </a:xfrm>
      </p:grpSpPr>
      <p:sp>
        <p:nvSpPr>
          <p:cNvPr id="79" name="Google Shape;79;p14">
            <a:extLst>
              <a:ext uri="{FF2B5EF4-FFF2-40B4-BE49-F238E27FC236}">
                <a16:creationId xmlns:a16="http://schemas.microsoft.com/office/drawing/2014/main" id="{0FCE2DDF-071E-F6B7-6D1D-D871B50BCF8E}"/>
              </a:ext>
            </a:extLst>
          </p:cNvPr>
          <p:cNvSpPr txBox="1">
            <a:spLocks noGrp="1"/>
          </p:cNvSpPr>
          <p:nvPr>
            <p:ph type="title"/>
          </p:nvPr>
        </p:nvSpPr>
        <p:spPr>
          <a:xfrm>
            <a:off x="695325" y="231878"/>
            <a:ext cx="10801350" cy="82882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11D70"/>
              </a:buClr>
              <a:buSzPts val="3600"/>
              <a:buFont typeface="Arial"/>
              <a:buNone/>
            </a:pPr>
            <a:r>
              <a:rPr lang="en-IN" noProof="0" dirty="0">
                <a:latin typeface="Times New Roman" panose="02020603050405020304" pitchFamily="18" charset="0"/>
                <a:cs typeface="Times New Roman" panose="02020603050405020304" pitchFamily="18" charset="0"/>
              </a:rPr>
              <a:t>Conclusion &amp; Future Work</a:t>
            </a:r>
          </a:p>
        </p:txBody>
      </p:sp>
      <p:sp>
        <p:nvSpPr>
          <p:cNvPr id="2" name="TextBox 1">
            <a:extLst>
              <a:ext uri="{FF2B5EF4-FFF2-40B4-BE49-F238E27FC236}">
                <a16:creationId xmlns:a16="http://schemas.microsoft.com/office/drawing/2014/main" id="{581288DE-E163-A8DA-6B57-AE5C8269DECC}"/>
              </a:ext>
            </a:extLst>
          </p:cNvPr>
          <p:cNvSpPr txBox="1"/>
          <p:nvPr/>
        </p:nvSpPr>
        <p:spPr>
          <a:xfrm>
            <a:off x="695325" y="1139868"/>
            <a:ext cx="10801350" cy="489364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Final Takeaways: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Successfully replaced rigid keyword searching with an AI that understands abstract human intent.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Built a highly accurate, custom Hybrid Evaluation Framework to prove model reliability.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Achieved a highly accurate, privacy-first system running 100% offline.</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Future Enhancements: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Real-Time Latency:</a:t>
            </a:r>
            <a:r>
              <a:rPr lang="en-US" sz="2400" dirty="0">
                <a:latin typeface="Times New Roman" panose="02020603050405020304" pitchFamily="18" charset="0"/>
                <a:cs typeface="Times New Roman" panose="02020603050405020304" pitchFamily="18" charset="0"/>
              </a:rPr>
              <a:t> Integrating </a:t>
            </a:r>
            <a:r>
              <a:rPr lang="en-US" sz="2400" dirty="0" err="1">
                <a:latin typeface="Times New Roman" panose="02020603050405020304" pitchFamily="18" charset="0"/>
                <a:cs typeface="Times New Roman" panose="02020603050405020304" pitchFamily="18" charset="0"/>
              </a:rPr>
              <a:t>vLLM</a:t>
            </a:r>
            <a:r>
              <a:rPr lang="en-US" sz="2400" dirty="0">
                <a:latin typeface="Times New Roman" panose="02020603050405020304" pitchFamily="18" charset="0"/>
                <a:cs typeface="Times New Roman" panose="02020603050405020304" pitchFamily="18" charset="0"/>
              </a:rPr>
              <a:t> engines to speed up generation times.</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State Memory:</a:t>
            </a:r>
            <a:r>
              <a:rPr lang="en-US" sz="2400" dirty="0">
                <a:latin typeface="Times New Roman" panose="02020603050405020304" pitchFamily="18" charset="0"/>
                <a:cs typeface="Times New Roman" panose="02020603050405020304" pitchFamily="18" charset="0"/>
              </a:rPr>
              <a:t> Upgrading the AI to remember context from earlier in the conversation.</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Live Phone GPS:</a:t>
            </a:r>
            <a:r>
              <a:rPr lang="en-US" sz="2400" dirty="0">
                <a:latin typeface="Times New Roman" panose="02020603050405020304" pitchFamily="18" charset="0"/>
                <a:cs typeface="Times New Roman" panose="02020603050405020304" pitchFamily="18" charset="0"/>
              </a:rPr>
              <a:t> Automatically hooking into the user's real-time mobile location data.</a:t>
            </a:r>
          </a:p>
        </p:txBody>
      </p:sp>
    </p:spTree>
    <p:extLst>
      <p:ext uri="{BB962C8B-B14F-4D97-AF65-F5344CB8AC3E}">
        <p14:creationId xmlns:p14="http://schemas.microsoft.com/office/powerpoint/2010/main" val="2334423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a:extLst>
            <a:ext uri="{FF2B5EF4-FFF2-40B4-BE49-F238E27FC236}">
              <a16:creationId xmlns:a16="http://schemas.microsoft.com/office/drawing/2014/main" id="{78C2E9D1-9F35-FA9E-7843-C7A41067511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385C60F-DFB8-1C76-A9D5-3D51026EA55B}"/>
              </a:ext>
            </a:extLst>
          </p:cNvPr>
          <p:cNvPicPr>
            <a:picLocks noChangeAspect="1"/>
          </p:cNvPicPr>
          <p:nvPr/>
        </p:nvPicPr>
        <p:blipFill>
          <a:blip r:embed="rId3"/>
          <a:stretch>
            <a:fillRect/>
          </a:stretch>
        </p:blipFill>
        <p:spPr>
          <a:xfrm>
            <a:off x="1792224" y="381000"/>
            <a:ext cx="8607552" cy="6096000"/>
          </a:xfrm>
          <a:prstGeom prst="rect">
            <a:avLst/>
          </a:prstGeom>
        </p:spPr>
      </p:pic>
    </p:spTree>
    <p:extLst>
      <p:ext uri="{BB962C8B-B14F-4D97-AF65-F5344CB8AC3E}">
        <p14:creationId xmlns:p14="http://schemas.microsoft.com/office/powerpoint/2010/main" val="1329074532"/>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2243</TotalTime>
  <Words>1693</Words>
  <Application>Microsoft Macintosh PowerPoint</Application>
  <PresentationFormat>Widescreen</PresentationFormat>
  <Paragraphs>163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2_Office Theme</vt:lpstr>
      <vt:lpstr>Intent-Driven Spatial Search Engine using a Hybrid NL-to-SQL Architecture</vt:lpstr>
      <vt:lpstr>Table of contents</vt:lpstr>
      <vt:lpstr>Project Overview &amp; Problem Statement</vt:lpstr>
      <vt:lpstr>Environment Setup</vt:lpstr>
      <vt:lpstr> Dataset Curation &amp; Methodology</vt:lpstr>
      <vt:lpstr>The Hybrid Evaluation Framework</vt:lpstr>
      <vt:lpstr>Testing the AI: Text-to-SQL Performance</vt:lpstr>
      <vt:lpstr>Model Selection &amp; Root Cause Analysis</vt:lpstr>
      <vt:lpstr>Cross-Campus Evaluation</vt:lpstr>
      <vt:lpstr>Cross-Campus SQL Generalization </vt:lpstr>
      <vt:lpstr>Testing the Translation AI</vt:lpstr>
      <vt:lpstr>Translation Model Performance </vt:lpstr>
      <vt:lpstr>Testing Speech Recognition (ASR)</vt:lpstr>
      <vt:lpstr>ASR Model Performance </vt:lpstr>
      <vt:lpstr>ASR Model Performance </vt:lpstr>
      <vt:lpstr>The 100% Offline Architecture Flow</vt:lpstr>
      <vt:lpstr>Conclusion &amp;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Shivam Chauhan</dc:creator>
  <cp:lastModifiedBy>Mayank Pillai</cp:lastModifiedBy>
  <cp:revision>42</cp:revision>
  <dcterms:created xsi:type="dcterms:W3CDTF">2022-09-26T09:02:06Z</dcterms:created>
  <dcterms:modified xsi:type="dcterms:W3CDTF">2026-07-16T07:00:47Z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0x010100B3AC44B68C077B4EBA1A8030BA55A96A</vt:lpwstr>
  </property>
  <property fmtid="{D5CDD505-2E9C-101B-9397-08002B2CF9AE}" pid="3" name="MediaServiceImageTags">
    <vt:lpwstr/>
  </property>
</Properties>
</file>