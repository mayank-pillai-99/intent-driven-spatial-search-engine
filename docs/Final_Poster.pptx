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
  </p:notesMasterIdLst>
  <p:sldIdLst>
    <p:sldId id="257" r:id="rId2"/>
  </p:sldIdLst>
  <p:sldSz cx="30275213" cy="42803763"/>
  <p:notesSz cx="10234613" cy="1466215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02F"/>
    <a:srgbClr val="0000FF"/>
    <a:srgbClr val="211D7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4680" autoAdjust="0"/>
    <p:restoredTop sz="95052" autoAdjust="0"/>
  </p:normalViewPr>
  <p:slideViewPr>
    <p:cSldViewPr snapToGrid="0">
      <p:cViewPr>
        <p:scale>
          <a:sx n="54" d="100"/>
          <a:sy n="54" d="100"/>
        </p:scale>
        <p:origin x="1808" y="-6760"/>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434999" cy="735654"/>
          </a:xfrm>
          <a:prstGeom prst="rect">
            <a:avLst/>
          </a:prstGeom>
        </p:spPr>
        <p:txBody>
          <a:bodyPr vert="horz" lIns="142262" tIns="71131" rIns="142262" bIns="71131" rtlCol="0"/>
          <a:lstStyle>
            <a:lvl1pPr algn="l">
              <a:defRPr sz="1900"/>
            </a:lvl1pPr>
          </a:lstStyle>
          <a:p>
            <a:endParaRPr lang="en-US"/>
          </a:p>
        </p:txBody>
      </p:sp>
      <p:sp>
        <p:nvSpPr>
          <p:cNvPr id="3" name="Date Placeholder 2"/>
          <p:cNvSpPr>
            <a:spLocks noGrp="1"/>
          </p:cNvSpPr>
          <p:nvPr>
            <p:ph type="dt" idx="1"/>
          </p:nvPr>
        </p:nvSpPr>
        <p:spPr>
          <a:xfrm>
            <a:off x="5797246" y="0"/>
            <a:ext cx="4434999" cy="735654"/>
          </a:xfrm>
          <a:prstGeom prst="rect">
            <a:avLst/>
          </a:prstGeom>
        </p:spPr>
        <p:txBody>
          <a:bodyPr vert="horz" lIns="142262" tIns="71131" rIns="142262" bIns="71131" rtlCol="0"/>
          <a:lstStyle>
            <a:lvl1pPr algn="r">
              <a:defRPr sz="1900"/>
            </a:lvl1pPr>
          </a:lstStyle>
          <a:p>
            <a:fld id="{A0C2BA6F-6457-439F-BBDB-0B38AEA84A6F}" type="datetimeFigureOut">
              <a:rPr lang="en-US" smtClean="0"/>
              <a:t>7/7/26</a:t>
            </a:fld>
            <a:endParaRPr lang="en-US"/>
          </a:p>
        </p:txBody>
      </p:sp>
      <p:sp>
        <p:nvSpPr>
          <p:cNvPr id="4" name="Slide Image Placeholder 3"/>
          <p:cNvSpPr>
            <a:spLocks noGrp="1" noRot="1" noChangeAspect="1"/>
          </p:cNvSpPr>
          <p:nvPr>
            <p:ph type="sldImg" idx="2"/>
          </p:nvPr>
        </p:nvSpPr>
        <p:spPr>
          <a:xfrm>
            <a:off x="3367088" y="1833563"/>
            <a:ext cx="3500437" cy="4948237"/>
          </a:xfrm>
          <a:prstGeom prst="rect">
            <a:avLst/>
          </a:prstGeom>
          <a:noFill/>
          <a:ln w="12700">
            <a:solidFill>
              <a:prstClr val="black"/>
            </a:solidFill>
          </a:ln>
        </p:spPr>
        <p:txBody>
          <a:bodyPr vert="horz" lIns="142262" tIns="71131" rIns="142262" bIns="71131" rtlCol="0" anchor="ctr"/>
          <a:lstStyle/>
          <a:p>
            <a:endParaRPr lang="en-US"/>
          </a:p>
        </p:txBody>
      </p:sp>
      <p:sp>
        <p:nvSpPr>
          <p:cNvPr id="5" name="Notes Placeholder 4"/>
          <p:cNvSpPr>
            <a:spLocks noGrp="1"/>
          </p:cNvSpPr>
          <p:nvPr>
            <p:ph type="body" sz="quarter" idx="3"/>
          </p:nvPr>
        </p:nvSpPr>
        <p:spPr>
          <a:xfrm>
            <a:off x="1023462" y="7056159"/>
            <a:ext cx="8187690" cy="5773222"/>
          </a:xfrm>
          <a:prstGeom prst="rect">
            <a:avLst/>
          </a:prstGeom>
        </p:spPr>
        <p:txBody>
          <a:bodyPr vert="horz" lIns="142262" tIns="71131" rIns="142262" bIns="711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3926499"/>
            <a:ext cx="4434999" cy="735652"/>
          </a:xfrm>
          <a:prstGeom prst="rect">
            <a:avLst/>
          </a:prstGeom>
        </p:spPr>
        <p:txBody>
          <a:bodyPr vert="horz" lIns="142262" tIns="71131" rIns="142262" bIns="71131" rtlCol="0" anchor="b"/>
          <a:lstStyle>
            <a:lvl1pPr algn="l">
              <a:defRPr sz="1900"/>
            </a:lvl1pPr>
          </a:lstStyle>
          <a:p>
            <a:endParaRPr lang="en-US"/>
          </a:p>
        </p:txBody>
      </p:sp>
      <p:sp>
        <p:nvSpPr>
          <p:cNvPr id="7" name="Slide Number Placeholder 6"/>
          <p:cNvSpPr>
            <a:spLocks noGrp="1"/>
          </p:cNvSpPr>
          <p:nvPr>
            <p:ph type="sldNum" sz="quarter" idx="5"/>
          </p:nvPr>
        </p:nvSpPr>
        <p:spPr>
          <a:xfrm>
            <a:off x="5797246" y="13926499"/>
            <a:ext cx="4434999" cy="735652"/>
          </a:xfrm>
          <a:prstGeom prst="rect">
            <a:avLst/>
          </a:prstGeom>
        </p:spPr>
        <p:txBody>
          <a:bodyPr vert="horz" lIns="142262" tIns="71131" rIns="142262" bIns="71131" rtlCol="0" anchor="b"/>
          <a:lstStyle>
            <a:lvl1pPr algn="r">
              <a:defRPr sz="1900"/>
            </a:lvl1pPr>
          </a:lstStyle>
          <a:p>
            <a:fld id="{63080104-3A65-4BC0-B407-1081040F87C4}" type="slidenum">
              <a:rPr lang="en-US" smtClean="0"/>
              <a:t>‹#›</a:t>
            </a:fld>
            <a:endParaRPr lang="en-US"/>
          </a:p>
        </p:txBody>
      </p:sp>
    </p:spTree>
    <p:extLst>
      <p:ext uri="{BB962C8B-B14F-4D97-AF65-F5344CB8AC3E}">
        <p14:creationId xmlns:p14="http://schemas.microsoft.com/office/powerpoint/2010/main" val="27595472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367088" y="1833563"/>
            <a:ext cx="3500437" cy="494823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3080104-3A65-4BC0-B407-1081040F87C4}" type="slidenum">
              <a:rPr lang="en-US" smtClean="0"/>
              <a:t>1</a:t>
            </a:fld>
            <a:endParaRPr lang="en-US"/>
          </a:p>
        </p:txBody>
      </p:sp>
    </p:spTree>
    <p:extLst>
      <p:ext uri="{BB962C8B-B14F-4D97-AF65-F5344CB8AC3E}">
        <p14:creationId xmlns:p14="http://schemas.microsoft.com/office/powerpoint/2010/main" val="11904903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en-US"/>
              <a:t>Click to edit Master title style</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3F7F64B-FB45-4607-AAFE-E64E652CDD08}" type="datetimeFigureOut">
              <a:rPr lang="en-US" smtClean="0"/>
              <a:t>7/7/26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28435754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F7F64B-FB45-4607-AAFE-E64E652CDD08}" type="datetimeFigureOut">
              <a:rPr lang="en-US" smtClean="0"/>
              <a:t>7/7/26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3374668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en-US"/>
              <a:t>Click to edit Master title style</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solidFill>
              </a:defRPr>
            </a:lvl1pPr>
            <a:lvl2pPr marL="1513743" indent="0">
              <a:buNone/>
              <a:defRPr sz="6622">
                <a:solidFill>
                  <a:schemeClr val="tx1">
                    <a:tint val="75000"/>
                  </a:schemeClr>
                </a:solidFill>
              </a:defRPr>
            </a:lvl2pPr>
            <a:lvl3pPr marL="3027487" indent="0">
              <a:buNone/>
              <a:defRPr sz="5960">
                <a:solidFill>
                  <a:schemeClr val="tx1">
                    <a:tint val="75000"/>
                  </a:schemeClr>
                </a:solidFill>
              </a:defRPr>
            </a:lvl3pPr>
            <a:lvl4pPr marL="4541230" indent="0">
              <a:buNone/>
              <a:defRPr sz="5297">
                <a:solidFill>
                  <a:schemeClr val="tx1">
                    <a:tint val="75000"/>
                  </a:schemeClr>
                </a:solidFill>
              </a:defRPr>
            </a:lvl4pPr>
            <a:lvl5pPr marL="6054974" indent="0">
              <a:buNone/>
              <a:defRPr sz="5297">
                <a:solidFill>
                  <a:schemeClr val="tx1">
                    <a:tint val="75000"/>
                  </a:schemeClr>
                </a:solidFill>
              </a:defRPr>
            </a:lvl5pPr>
            <a:lvl6pPr marL="7568717" indent="0">
              <a:buNone/>
              <a:defRPr sz="5297">
                <a:solidFill>
                  <a:schemeClr val="tx1">
                    <a:tint val="75000"/>
                  </a:schemeClr>
                </a:solidFill>
              </a:defRPr>
            </a:lvl6pPr>
            <a:lvl7pPr marL="9082461" indent="0">
              <a:buNone/>
              <a:defRPr sz="5297">
                <a:solidFill>
                  <a:schemeClr val="tx1">
                    <a:tint val="75000"/>
                  </a:schemeClr>
                </a:solidFill>
              </a:defRPr>
            </a:lvl7pPr>
            <a:lvl8pPr marL="10596204" indent="0">
              <a:buNone/>
              <a:defRPr sz="5297">
                <a:solidFill>
                  <a:schemeClr val="tx1">
                    <a:tint val="75000"/>
                  </a:schemeClr>
                </a:solidFill>
              </a:defRPr>
            </a:lvl8pPr>
            <a:lvl9pPr marL="12109948" indent="0">
              <a:buNone/>
              <a:defRPr sz="5297">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3F7F64B-FB45-4607-AAFE-E64E652CDD08}" type="datetimeFigureOut">
              <a:rPr lang="en-US" smtClean="0"/>
              <a:t>7/7/26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36918027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3F7F64B-FB45-4607-AAFE-E64E652CDD08}" type="datetimeFigureOut">
              <a:rPr lang="en-US" smtClean="0"/>
              <a:t>7/7/26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9104007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4" name="Content Placeholder 3"/>
          <p:cNvSpPr>
            <a:spLocks noGrp="1"/>
          </p:cNvSpPr>
          <p:nvPr>
            <p:ph sz="half" idx="2"/>
          </p:nvPr>
        </p:nvSpPr>
        <p:spPr>
          <a:xfrm>
            <a:off x="2085368" y="15635264"/>
            <a:ext cx="12807832"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6" name="Content Placeholder 5"/>
          <p:cNvSpPr>
            <a:spLocks noGrp="1"/>
          </p:cNvSpPr>
          <p:nvPr>
            <p:ph sz="quarter" idx="4"/>
          </p:nvPr>
        </p:nvSpPr>
        <p:spPr>
          <a:xfrm>
            <a:off x="15326828" y="15635264"/>
            <a:ext cx="12870909"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3F7F64B-FB45-4607-AAFE-E64E652CDD08}" type="datetimeFigureOut">
              <a:rPr lang="en-US" smtClean="0"/>
              <a:t>7/7/26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34258784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3F7F64B-FB45-4607-AAFE-E64E652CDD08}" type="datetimeFigureOut">
              <a:rPr lang="en-US" smtClean="0"/>
              <a:t>7/7/26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3781696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3F7F64B-FB45-4607-AAFE-E64E652CDD08}" type="datetimeFigureOut">
              <a:rPr lang="en-US" smtClean="0"/>
              <a:t>7/7/26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22573745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43F7F64B-FB45-4607-AAFE-E64E652CDD08}" type="datetimeFigureOut">
              <a:rPr lang="en-US" smtClean="0"/>
              <a:t>7/7/26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17496386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r>
              <a:rPr lang="en-US"/>
              <a:t>Click icon to add picture</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43F7F64B-FB45-4607-AAFE-E64E652CDD08}" type="datetimeFigureOut">
              <a:rPr lang="en-US" smtClean="0"/>
              <a:t>7/7/26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2206540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F7F64B-FB45-4607-AAFE-E64E652CDD08}" type="datetimeFigureOut">
              <a:rPr lang="en-US" smtClean="0"/>
              <a:t>7/7/26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867013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F7F64B-FB45-4607-AAFE-E64E652CDD08}" type="datetimeFigureOut">
              <a:rPr lang="en-US" smtClean="0"/>
              <a:t>7/7/26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21357504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75000"/>
                  </a:schemeClr>
                </a:solidFill>
              </a:defRPr>
            </a:lvl1pPr>
          </a:lstStyle>
          <a:p>
            <a:fld id="{43F7F64B-FB45-4607-AAFE-E64E652CDD08}" type="datetimeFigureOut">
              <a:rPr lang="en-US" smtClean="0"/>
              <a:t>7/7/26</a:t>
            </a:fld>
            <a:endParaRPr 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75000"/>
                  </a:schemeClr>
                </a:solidFill>
              </a:defRPr>
            </a:lvl1pPr>
          </a:lstStyle>
          <a:p>
            <a:fld id="{F555C81B-45F7-41FA-B1B5-74C87B664EC4}" type="slidenum">
              <a:rPr lang="en-US" smtClean="0"/>
              <a:t>‹#›</a:t>
            </a:fld>
            <a:endParaRPr lang="en-US"/>
          </a:p>
        </p:txBody>
      </p:sp>
    </p:spTree>
    <p:extLst>
      <p:ext uri="{BB962C8B-B14F-4D97-AF65-F5344CB8AC3E}">
        <p14:creationId xmlns:p14="http://schemas.microsoft.com/office/powerpoint/2010/main" val="59150851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0"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0"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0"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0" name="Group 18"/>
          <p:cNvGrpSpPr/>
          <p:nvPr/>
        </p:nvGrpSpPr>
        <p:grpSpPr>
          <a:xfrm>
            <a:off x="872966" y="2524110"/>
            <a:ext cx="28845026" cy="161854"/>
            <a:chOff x="1905000" y="6553200"/>
            <a:chExt cx="7010400" cy="45719"/>
          </a:xfrm>
        </p:grpSpPr>
        <p:sp>
          <p:nvSpPr>
            <p:cNvPr id="341" name="Rectangle 340"/>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prstClr val="white"/>
                </a:solidFill>
              </a:endParaRPr>
            </a:p>
          </p:txBody>
        </p:sp>
        <p:sp>
          <p:nvSpPr>
            <p:cNvPr id="342" name="Rectangle 341"/>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prstClr val="white"/>
                </a:solidFill>
              </a:endParaRPr>
            </a:p>
          </p:txBody>
        </p:sp>
        <p:sp>
          <p:nvSpPr>
            <p:cNvPr id="343" name="Rectangle 342"/>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prstClr val="white"/>
                </a:solidFill>
              </a:endParaRPr>
            </a:p>
          </p:txBody>
        </p:sp>
      </p:grpSp>
      <p:sp>
        <p:nvSpPr>
          <p:cNvPr id="287" name="TextBox 286">
            <a:extLst>
              <a:ext uri="{FF2B5EF4-FFF2-40B4-BE49-F238E27FC236}">
                <a16:creationId xmlns:a16="http://schemas.microsoft.com/office/drawing/2014/main" id="{02203076-F3DC-970B-7C52-01453B5384AA}"/>
              </a:ext>
            </a:extLst>
          </p:cNvPr>
          <p:cNvSpPr txBox="1"/>
          <p:nvPr/>
        </p:nvSpPr>
        <p:spPr>
          <a:xfrm>
            <a:off x="7494375" y="604235"/>
            <a:ext cx="17031418" cy="1323439"/>
          </a:xfrm>
          <a:prstGeom prst="rect">
            <a:avLst/>
          </a:prstGeom>
          <a:noFill/>
        </p:spPr>
        <p:txBody>
          <a:bodyPr wrap="square" rtlCol="0">
            <a:spAutoFit/>
          </a:bodyPr>
          <a:lstStyle/>
          <a:p>
            <a:pPr algn="ctr"/>
            <a:r>
              <a:rPr lang="en-US" sz="8000" b="1" dirty="0">
                <a:solidFill>
                  <a:srgbClr val="C00000"/>
                </a:solidFill>
                <a:latin typeface="Times New Roman" panose="02020603050405020304" pitchFamily="18" charset="0"/>
                <a:cs typeface="Times New Roman" panose="02020603050405020304" pitchFamily="18" charset="0"/>
              </a:rPr>
              <a:t>Intent-Driven Spatial Search Engine</a:t>
            </a:r>
          </a:p>
        </p:txBody>
      </p:sp>
      <p:sp>
        <p:nvSpPr>
          <p:cNvPr id="13" name="TextBox 12">
            <a:extLst>
              <a:ext uri="{FF2B5EF4-FFF2-40B4-BE49-F238E27FC236}">
                <a16:creationId xmlns:a16="http://schemas.microsoft.com/office/drawing/2014/main" id="{AB1F1C01-7F1A-20EF-B1B5-2363111E6001}"/>
              </a:ext>
            </a:extLst>
          </p:cNvPr>
          <p:cNvSpPr txBox="1"/>
          <p:nvPr/>
        </p:nvSpPr>
        <p:spPr>
          <a:xfrm>
            <a:off x="8314556" y="1670806"/>
            <a:ext cx="16968888" cy="707886"/>
          </a:xfrm>
          <a:prstGeom prst="rect">
            <a:avLst/>
          </a:prstGeom>
          <a:noFill/>
        </p:spPr>
        <p:txBody>
          <a:bodyPr wrap="square" rtlCol="0">
            <a:spAutoFit/>
          </a:bodyPr>
          <a:lstStyle/>
          <a:p>
            <a:r>
              <a:rPr lang="en-US" sz="4000" i="1" dirty="0">
                <a:solidFill>
                  <a:srgbClr val="002060"/>
                </a:solidFill>
                <a:latin typeface="Times New Roman" panose="02020603050405020304" pitchFamily="18" charset="0"/>
                <a:cs typeface="Times New Roman" panose="02020603050405020304" pitchFamily="18" charset="0"/>
              </a:rPr>
              <a:t>A Hybrid NL-to-SQL Architecture for Conversational Geographic Queries</a:t>
            </a:r>
          </a:p>
        </p:txBody>
      </p:sp>
      <p:sp>
        <p:nvSpPr>
          <p:cNvPr id="18" name="Rectangle 17">
            <a:extLst>
              <a:ext uri="{FF2B5EF4-FFF2-40B4-BE49-F238E27FC236}">
                <a16:creationId xmlns:a16="http://schemas.microsoft.com/office/drawing/2014/main" id="{FC5CC62C-0D01-A724-FA55-953227C69690}"/>
              </a:ext>
            </a:extLst>
          </p:cNvPr>
          <p:cNvSpPr/>
          <p:nvPr/>
        </p:nvSpPr>
        <p:spPr>
          <a:xfrm>
            <a:off x="886255" y="2839855"/>
            <a:ext cx="14356080"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latin typeface="Times New Roman" panose="02020603050405020304" pitchFamily="18" charset="0"/>
                <a:cs typeface="Times New Roman" panose="02020603050405020304" pitchFamily="18" charset="0"/>
              </a:rPr>
              <a:t>Abstract</a:t>
            </a:r>
          </a:p>
        </p:txBody>
      </p:sp>
      <p:sp>
        <p:nvSpPr>
          <p:cNvPr id="21" name="Rectangle 20">
            <a:extLst>
              <a:ext uri="{FF2B5EF4-FFF2-40B4-BE49-F238E27FC236}">
                <a16:creationId xmlns:a16="http://schemas.microsoft.com/office/drawing/2014/main" id="{0E6E47D2-4F87-8AEA-03AF-E4711CD37081}"/>
              </a:ext>
            </a:extLst>
          </p:cNvPr>
          <p:cNvSpPr/>
          <p:nvPr/>
        </p:nvSpPr>
        <p:spPr>
          <a:xfrm>
            <a:off x="886255" y="3535862"/>
            <a:ext cx="14356080" cy="5156510"/>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lang="en-US" sz="2600" dirty="0">
                <a:solidFill>
                  <a:srgbClr val="333333"/>
                </a:solidFill>
                <a:latin typeface="Times New Roman"/>
              </a:rPr>
              <a:t>Traditional digital maps rely on rigid keyword searches, which fail when users ask for things conversationally. To solve this, we built an Intent-Driven Spatial Search Engine that translates colloquial, multi-lingual queries directly into structured </a:t>
            </a:r>
            <a:r>
              <a:rPr lang="en-US" sz="2600" dirty="0" err="1">
                <a:solidFill>
                  <a:srgbClr val="333333"/>
                </a:solidFill>
                <a:latin typeface="Times New Roman"/>
              </a:rPr>
              <a:t>PostGIS</a:t>
            </a:r>
            <a:r>
              <a:rPr lang="en-US" sz="2600" dirty="0">
                <a:solidFill>
                  <a:srgbClr val="333333"/>
                </a:solidFill>
                <a:latin typeface="Times New Roman"/>
              </a:rPr>
              <a:t> database commands.</a:t>
            </a:r>
          </a:p>
          <a:p>
            <a:pPr algn="just">
              <a:spcAft>
                <a:spcPts val="400"/>
              </a:spcAft>
            </a:pPr>
            <a:endParaRPr lang="en-US" sz="2600" dirty="0">
              <a:solidFill>
                <a:srgbClr val="333333"/>
              </a:solidFill>
              <a:latin typeface="Times New Roman"/>
            </a:endParaRPr>
          </a:p>
          <a:p>
            <a:pPr algn="just">
              <a:spcAft>
                <a:spcPts val="400"/>
              </a:spcAft>
            </a:pPr>
            <a:r>
              <a:rPr lang="en-US" sz="2600" dirty="0">
                <a:solidFill>
                  <a:srgbClr val="333333"/>
                </a:solidFill>
                <a:latin typeface="Times New Roman"/>
              </a:rPr>
              <a:t>Running 100% offline on a local GPU, the system uses SeamlessM4T for speech recognition and translation, paired with Qwen2.5-Coder to act as a Text-to-SQL engine and intent router.</a:t>
            </a:r>
          </a:p>
          <a:p>
            <a:pPr algn="just">
              <a:spcAft>
                <a:spcPts val="400"/>
              </a:spcAft>
            </a:pPr>
            <a:endParaRPr lang="en-US" sz="2600" dirty="0">
              <a:solidFill>
                <a:srgbClr val="333333"/>
              </a:solidFill>
              <a:latin typeface="Times New Roman"/>
            </a:endParaRPr>
          </a:p>
          <a:p>
            <a:pPr algn="just">
              <a:spcAft>
                <a:spcPts val="400"/>
              </a:spcAft>
            </a:pPr>
            <a:r>
              <a:rPr lang="en-US" sz="2600" b="1" dirty="0">
                <a:solidFill>
                  <a:srgbClr val="C00000"/>
                </a:solidFill>
                <a:latin typeface="Times New Roman"/>
              </a:rPr>
              <a:t>Our custom Hybrid Evaluation Framework validates SQL structure (using Abstract Syntax Trees) and live database results. The final architecture achieved a 78.0% success rate on complex geographic intents, proving it can successfully bridge the gap between abstract human intent (like "a quiet place to study") and rigid geographic databases.</a:t>
            </a:r>
          </a:p>
        </p:txBody>
      </p:sp>
      <p:sp>
        <p:nvSpPr>
          <p:cNvPr id="22" name="Rectangle 21">
            <a:extLst>
              <a:ext uri="{FF2B5EF4-FFF2-40B4-BE49-F238E27FC236}">
                <a16:creationId xmlns:a16="http://schemas.microsoft.com/office/drawing/2014/main" id="{7E423CFC-02F6-0B06-378C-A4D974E1E0D1}"/>
              </a:ext>
            </a:extLst>
          </p:cNvPr>
          <p:cNvSpPr/>
          <p:nvPr/>
        </p:nvSpPr>
        <p:spPr>
          <a:xfrm>
            <a:off x="886255" y="8757237"/>
            <a:ext cx="14356080"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latin typeface="Times New Roman" panose="02020603050405020304" pitchFamily="18" charset="0"/>
                <a:cs typeface="Times New Roman" panose="02020603050405020304" pitchFamily="18" charset="0"/>
              </a:rPr>
              <a:t>Problem Statement</a:t>
            </a:r>
          </a:p>
        </p:txBody>
      </p:sp>
      <p:sp>
        <p:nvSpPr>
          <p:cNvPr id="23" name="Rectangle 22">
            <a:extLst>
              <a:ext uri="{FF2B5EF4-FFF2-40B4-BE49-F238E27FC236}">
                <a16:creationId xmlns:a16="http://schemas.microsoft.com/office/drawing/2014/main" id="{BC17EE58-C016-A12B-4B64-8257C25F56EA}"/>
              </a:ext>
            </a:extLst>
          </p:cNvPr>
          <p:cNvSpPr/>
          <p:nvPr/>
        </p:nvSpPr>
        <p:spPr>
          <a:xfrm>
            <a:off x="886255" y="9488757"/>
            <a:ext cx="14356080" cy="3291840"/>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b="1" dirty="0">
                <a:solidFill>
                  <a:srgbClr val="C00000"/>
                </a:solidFill>
                <a:latin typeface="Times New Roman" panose="02020603050405020304" pitchFamily="18" charset="0"/>
                <a:cs typeface="Times New Roman" panose="02020603050405020304" pitchFamily="18" charset="0"/>
              </a:rPr>
              <a:t>Local Intent Failure:</a:t>
            </a:r>
          </a:p>
          <a:p>
            <a:pPr algn="just">
              <a:spcAft>
                <a:spcPts val="400"/>
              </a:spcAft>
            </a:pPr>
            <a:r>
              <a:rPr sz="2600" b="0" dirty="0">
                <a:solidFill>
                  <a:srgbClr val="333333"/>
                </a:solidFill>
                <a:latin typeface="Times New Roman" panose="02020603050405020304" pitchFamily="18" charset="0"/>
                <a:cs typeface="Times New Roman" panose="02020603050405020304" pitchFamily="18" charset="0"/>
              </a:rPr>
              <a:t>When a user searches "quiet places near me," traditional maps look for a business literally named "Quiet" — suggesting a restaurant 1,000 km away, ignoring the spatial constraint.</a:t>
            </a:r>
          </a:p>
          <a:p>
            <a:pPr algn="just">
              <a:spcAft>
                <a:spcPts val="400"/>
              </a:spcAft>
            </a:pPr>
            <a:endParaRPr sz="2600" b="0" dirty="0">
              <a:solidFill>
                <a:srgbClr val="333333"/>
              </a:solidFill>
              <a:latin typeface="Times New Roman" panose="02020603050405020304" pitchFamily="18" charset="0"/>
              <a:cs typeface="Times New Roman" panose="02020603050405020304" pitchFamily="18" charset="0"/>
            </a:endParaRPr>
          </a:p>
          <a:p>
            <a:pPr algn="just">
              <a:spcAft>
                <a:spcPts val="400"/>
              </a:spcAft>
            </a:pPr>
            <a:r>
              <a:rPr sz="2600" b="1" dirty="0">
                <a:solidFill>
                  <a:srgbClr val="C00000"/>
                </a:solidFill>
                <a:latin typeface="Times New Roman" panose="02020603050405020304" pitchFamily="18" charset="0"/>
                <a:cs typeface="Times New Roman" panose="02020603050405020304" pitchFamily="18" charset="0"/>
              </a:rPr>
              <a:t>The India-Specific Challenge:</a:t>
            </a:r>
          </a:p>
          <a:p>
            <a:pPr algn="just">
              <a:spcAft>
                <a:spcPts val="400"/>
              </a:spcAft>
            </a:pPr>
            <a:r>
              <a:rPr sz="2600" b="0" dirty="0">
                <a:solidFill>
                  <a:srgbClr val="333333"/>
                </a:solidFill>
                <a:latin typeface="Times New Roman" panose="02020603050405020304" pitchFamily="18" charset="0"/>
                <a:cs typeface="Times New Roman" panose="02020603050405020304" pitchFamily="18" charset="0"/>
              </a:rPr>
              <a:t>Indian spatial navigation is informal and code-mixed (e.g., Hinglish). A query like "koi chai ki </a:t>
            </a:r>
            <a:r>
              <a:rPr sz="2600" b="0" dirty="0" err="1">
                <a:solidFill>
                  <a:srgbClr val="333333"/>
                </a:solidFill>
                <a:latin typeface="Times New Roman" panose="02020603050405020304" pitchFamily="18" charset="0"/>
                <a:cs typeface="Times New Roman" panose="02020603050405020304" pitchFamily="18" charset="0"/>
              </a:rPr>
              <a:t>tapri</a:t>
            </a:r>
            <a:r>
              <a:rPr sz="2600" b="0" dirty="0">
                <a:solidFill>
                  <a:srgbClr val="333333"/>
                </a:solidFill>
                <a:latin typeface="Times New Roman" panose="02020603050405020304" pitchFamily="18" charset="0"/>
                <a:cs typeface="Times New Roman" panose="02020603050405020304" pitchFamily="18" charset="0"/>
              </a:rPr>
              <a:t> </a:t>
            </a:r>
            <a:r>
              <a:rPr sz="2600" b="0" dirty="0" err="1">
                <a:solidFill>
                  <a:srgbClr val="333333"/>
                </a:solidFill>
                <a:latin typeface="Times New Roman" panose="02020603050405020304" pitchFamily="18" charset="0"/>
                <a:cs typeface="Times New Roman" panose="02020603050405020304" pitchFamily="18" charset="0"/>
              </a:rPr>
              <a:t>hai</a:t>
            </a:r>
            <a:r>
              <a:rPr sz="2600" b="0" dirty="0">
                <a:solidFill>
                  <a:srgbClr val="333333"/>
                </a:solidFill>
                <a:latin typeface="Times New Roman" panose="02020603050405020304" pitchFamily="18" charset="0"/>
                <a:cs typeface="Times New Roman" panose="02020603050405020304" pitchFamily="18" charset="0"/>
              </a:rPr>
              <a:t> </a:t>
            </a:r>
            <a:r>
              <a:rPr sz="2600" b="0" dirty="0" err="1">
                <a:solidFill>
                  <a:srgbClr val="333333"/>
                </a:solidFill>
                <a:latin typeface="Times New Roman" panose="02020603050405020304" pitchFamily="18" charset="0"/>
                <a:cs typeface="Times New Roman" panose="02020603050405020304" pitchFamily="18" charset="0"/>
              </a:rPr>
              <a:t>kya</a:t>
            </a:r>
            <a:r>
              <a:rPr sz="2600" b="0" dirty="0">
                <a:solidFill>
                  <a:srgbClr val="333333"/>
                </a:solidFill>
                <a:latin typeface="Times New Roman" panose="02020603050405020304" pitchFamily="18" charset="0"/>
                <a:cs typeface="Times New Roman" panose="02020603050405020304" pitchFamily="18" charset="0"/>
              </a:rPr>
              <a:t> </a:t>
            </a:r>
            <a:r>
              <a:rPr sz="2600" b="0" dirty="0" err="1">
                <a:solidFill>
                  <a:srgbClr val="333333"/>
                </a:solidFill>
                <a:latin typeface="Times New Roman" panose="02020603050405020304" pitchFamily="18" charset="0"/>
                <a:cs typeface="Times New Roman" panose="02020603050405020304" pitchFamily="18" charset="0"/>
              </a:rPr>
              <a:t>paas</a:t>
            </a:r>
            <a:r>
              <a:rPr sz="2600" b="0" dirty="0">
                <a:solidFill>
                  <a:srgbClr val="333333"/>
                </a:solidFill>
                <a:latin typeface="Times New Roman" panose="02020603050405020304" pitchFamily="18" charset="0"/>
                <a:cs typeface="Times New Roman" panose="02020603050405020304" pitchFamily="18" charset="0"/>
              </a:rPr>
              <a:t> </a:t>
            </a:r>
            <a:r>
              <a:rPr sz="2600" b="0" dirty="0" err="1">
                <a:solidFill>
                  <a:srgbClr val="333333"/>
                </a:solidFill>
                <a:latin typeface="Times New Roman" panose="02020603050405020304" pitchFamily="18" charset="0"/>
                <a:cs typeface="Times New Roman" panose="02020603050405020304" pitchFamily="18" charset="0"/>
              </a:rPr>
              <a:t>mein</a:t>
            </a:r>
            <a:r>
              <a:rPr sz="2600" b="0" dirty="0">
                <a:solidFill>
                  <a:srgbClr val="333333"/>
                </a:solidFill>
                <a:latin typeface="Times New Roman" panose="02020603050405020304" pitchFamily="18" charset="0"/>
                <a:cs typeface="Times New Roman" panose="02020603050405020304" pitchFamily="18" charset="0"/>
              </a:rPr>
              <a:t>?" requires translating slang, identifying the category, and enforcing a geographic radius.</a:t>
            </a:r>
          </a:p>
        </p:txBody>
      </p:sp>
      <p:sp>
        <p:nvSpPr>
          <p:cNvPr id="108" name="Rectangle 107">
            <a:extLst>
              <a:ext uri="{FF2B5EF4-FFF2-40B4-BE49-F238E27FC236}">
                <a16:creationId xmlns:a16="http://schemas.microsoft.com/office/drawing/2014/main" id="{4FE027EF-8116-2439-9C96-0602E614071A}"/>
              </a:ext>
            </a:extLst>
          </p:cNvPr>
          <p:cNvSpPr/>
          <p:nvPr/>
        </p:nvSpPr>
        <p:spPr>
          <a:xfrm>
            <a:off x="15547520" y="35810476"/>
            <a:ext cx="14197058"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dirty="0">
                <a:solidFill>
                  <a:srgbClr val="FFFFFF"/>
                </a:solidFill>
                <a:latin typeface="Times New Roman" panose="02020603050405020304" pitchFamily="18" charset="0"/>
                <a:cs typeface="Times New Roman" panose="02020603050405020304" pitchFamily="18" charset="0"/>
              </a:rPr>
              <a:t>References</a:t>
            </a:r>
          </a:p>
        </p:txBody>
      </p:sp>
      <p:sp>
        <p:nvSpPr>
          <p:cNvPr id="112" name="Rectangle 111">
            <a:extLst>
              <a:ext uri="{FF2B5EF4-FFF2-40B4-BE49-F238E27FC236}">
                <a16:creationId xmlns:a16="http://schemas.microsoft.com/office/drawing/2014/main" id="{C8F73A0D-2EEB-67F1-8CD8-D3437546ED2D}"/>
              </a:ext>
            </a:extLst>
          </p:cNvPr>
          <p:cNvSpPr/>
          <p:nvPr/>
        </p:nvSpPr>
        <p:spPr>
          <a:xfrm>
            <a:off x="15547520" y="36558580"/>
            <a:ext cx="14197058" cy="3875244"/>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lang="en-US" sz="2600" dirty="0">
                <a:solidFill>
                  <a:schemeClr val="tx1"/>
                </a:solidFill>
                <a:latin typeface="Times New Roman" panose="02020603050405020304" pitchFamily="18" charset="0"/>
                <a:cs typeface="Times New Roman" panose="02020603050405020304" pitchFamily="18" charset="0"/>
              </a:rPr>
              <a:t>[1] V. Zhong, C. Xiong, and R. Socher, "Seq2SQL: Generating structured queries from natural language using reinforcement learning," </a:t>
            </a:r>
            <a:r>
              <a:rPr lang="en-US" sz="2600" i="1" dirty="0" err="1">
                <a:solidFill>
                  <a:schemeClr val="tx1"/>
                </a:solidFill>
                <a:latin typeface="Times New Roman" panose="02020603050405020304" pitchFamily="18" charset="0"/>
                <a:cs typeface="Times New Roman" panose="02020603050405020304" pitchFamily="18" charset="0"/>
              </a:rPr>
              <a:t>arXiv</a:t>
            </a:r>
            <a:r>
              <a:rPr lang="en-US" sz="2600" i="1" dirty="0">
                <a:solidFill>
                  <a:schemeClr val="tx1"/>
                </a:solidFill>
                <a:latin typeface="Times New Roman" panose="02020603050405020304" pitchFamily="18" charset="0"/>
                <a:cs typeface="Times New Roman" panose="02020603050405020304" pitchFamily="18" charset="0"/>
              </a:rPr>
              <a:t> preprint arXiv:1709.00103</a:t>
            </a:r>
            <a:r>
              <a:rPr lang="en-US" sz="2600" dirty="0">
                <a:solidFill>
                  <a:schemeClr val="tx1"/>
                </a:solidFill>
                <a:latin typeface="Times New Roman" panose="02020603050405020304" pitchFamily="18" charset="0"/>
                <a:cs typeface="Times New Roman" panose="02020603050405020304" pitchFamily="18" charset="0"/>
              </a:rPr>
              <a:t>, 2017. </a:t>
            </a:r>
          </a:p>
          <a:p>
            <a:pPr algn="just">
              <a:spcAft>
                <a:spcPts val="400"/>
              </a:spcAft>
            </a:pPr>
            <a:r>
              <a:rPr lang="en-US" sz="2600" dirty="0">
                <a:solidFill>
                  <a:schemeClr val="tx1"/>
                </a:solidFill>
                <a:latin typeface="Times New Roman" panose="02020603050405020304" pitchFamily="18" charset="0"/>
                <a:cs typeface="Times New Roman" panose="02020603050405020304" pitchFamily="18" charset="0"/>
              </a:rPr>
              <a:t>[2] T. Yu et al., "Spider: A large-scale human-labeled dataset for complex and cross-domain semantic parsing and text-to-</a:t>
            </a:r>
            <a:r>
              <a:rPr lang="en-US" sz="2600" dirty="0" err="1">
                <a:solidFill>
                  <a:schemeClr val="tx1"/>
                </a:solidFill>
                <a:latin typeface="Times New Roman" panose="02020603050405020304" pitchFamily="18" charset="0"/>
                <a:cs typeface="Times New Roman" panose="02020603050405020304" pitchFamily="18" charset="0"/>
              </a:rPr>
              <a:t>sql</a:t>
            </a:r>
            <a:r>
              <a:rPr lang="en-US" sz="2600" dirty="0">
                <a:solidFill>
                  <a:schemeClr val="tx1"/>
                </a:solidFill>
                <a:latin typeface="Times New Roman" panose="02020603050405020304" pitchFamily="18" charset="0"/>
                <a:cs typeface="Times New Roman" panose="02020603050405020304" pitchFamily="18" charset="0"/>
              </a:rPr>
              <a:t> task," in </a:t>
            </a:r>
            <a:r>
              <a:rPr lang="en-US" sz="2600" i="1" dirty="0">
                <a:solidFill>
                  <a:schemeClr val="tx1"/>
                </a:solidFill>
                <a:latin typeface="Times New Roman" panose="02020603050405020304" pitchFamily="18" charset="0"/>
                <a:cs typeface="Times New Roman" panose="02020603050405020304" pitchFamily="18" charset="0"/>
              </a:rPr>
              <a:t>Proc. EMNLP</a:t>
            </a:r>
            <a:r>
              <a:rPr lang="en-US" sz="2600" dirty="0">
                <a:solidFill>
                  <a:schemeClr val="tx1"/>
                </a:solidFill>
                <a:latin typeface="Times New Roman" panose="02020603050405020304" pitchFamily="18" charset="0"/>
                <a:cs typeface="Times New Roman" panose="02020603050405020304" pitchFamily="18" charset="0"/>
              </a:rPr>
              <a:t>, 2018. </a:t>
            </a:r>
          </a:p>
          <a:p>
            <a:pPr algn="just">
              <a:spcAft>
                <a:spcPts val="400"/>
              </a:spcAft>
            </a:pPr>
            <a:r>
              <a:rPr lang="en-US" sz="2600" dirty="0">
                <a:solidFill>
                  <a:schemeClr val="tx1"/>
                </a:solidFill>
                <a:latin typeface="Times New Roman" panose="02020603050405020304" pitchFamily="18" charset="0"/>
                <a:cs typeface="Times New Roman" panose="02020603050405020304" pitchFamily="18" charset="0"/>
              </a:rPr>
              <a:t>[3] J. Li et al., "Can LLM already serve as a database interface? A </a:t>
            </a:r>
            <a:r>
              <a:rPr lang="en-US" sz="2600" dirty="0" err="1">
                <a:solidFill>
                  <a:schemeClr val="tx1"/>
                </a:solidFill>
                <a:latin typeface="Times New Roman" panose="02020603050405020304" pitchFamily="18" charset="0"/>
                <a:cs typeface="Times New Roman" panose="02020603050405020304" pitchFamily="18" charset="0"/>
              </a:rPr>
              <a:t>BIg</a:t>
            </a:r>
            <a:r>
              <a:rPr lang="en-US" sz="2600" dirty="0">
                <a:solidFill>
                  <a:schemeClr val="tx1"/>
                </a:solidFill>
                <a:latin typeface="Times New Roman" panose="02020603050405020304" pitchFamily="18" charset="0"/>
                <a:cs typeface="Times New Roman" panose="02020603050405020304" pitchFamily="18" charset="0"/>
              </a:rPr>
              <a:t> Bench for Large-Scale Database Grounded Text-to-SQLs," in </a:t>
            </a:r>
            <a:r>
              <a:rPr lang="en-US" sz="2600" i="1" dirty="0">
                <a:solidFill>
                  <a:schemeClr val="tx1"/>
                </a:solidFill>
                <a:latin typeface="Times New Roman" panose="02020603050405020304" pitchFamily="18" charset="0"/>
                <a:cs typeface="Times New Roman" panose="02020603050405020304" pitchFamily="18" charset="0"/>
              </a:rPr>
              <a:t>Proc. </a:t>
            </a:r>
            <a:r>
              <a:rPr lang="en-US" sz="2600" i="1" dirty="0" err="1">
                <a:solidFill>
                  <a:schemeClr val="tx1"/>
                </a:solidFill>
                <a:latin typeface="Times New Roman" panose="02020603050405020304" pitchFamily="18" charset="0"/>
                <a:cs typeface="Times New Roman" panose="02020603050405020304" pitchFamily="18" charset="0"/>
              </a:rPr>
              <a:t>NeurIPS</a:t>
            </a:r>
            <a:r>
              <a:rPr lang="en-US" sz="2600" dirty="0">
                <a:solidFill>
                  <a:schemeClr val="tx1"/>
                </a:solidFill>
                <a:latin typeface="Times New Roman" panose="02020603050405020304" pitchFamily="18" charset="0"/>
                <a:cs typeface="Times New Roman" panose="02020603050405020304" pitchFamily="18" charset="0"/>
              </a:rPr>
              <a:t>, 2023. </a:t>
            </a:r>
          </a:p>
          <a:p>
            <a:pPr algn="just">
              <a:spcAft>
                <a:spcPts val="400"/>
              </a:spcAft>
            </a:pPr>
            <a:r>
              <a:rPr lang="en-US" sz="2600" dirty="0">
                <a:solidFill>
                  <a:schemeClr val="tx1"/>
                </a:solidFill>
                <a:latin typeface="Times New Roman" panose="02020603050405020304" pitchFamily="18" charset="0"/>
                <a:cs typeface="Times New Roman" panose="02020603050405020304" pitchFamily="18" charset="0"/>
              </a:rPr>
              <a:t>[4] S. Chang et al., "</a:t>
            </a:r>
            <a:r>
              <a:rPr lang="en-US" sz="2600" dirty="0" err="1">
                <a:solidFill>
                  <a:schemeClr val="tx1"/>
                </a:solidFill>
                <a:latin typeface="Times New Roman" panose="02020603050405020304" pitchFamily="18" charset="0"/>
                <a:cs typeface="Times New Roman" panose="02020603050405020304" pitchFamily="18" charset="0"/>
              </a:rPr>
              <a:t>Dr.Spider</a:t>
            </a:r>
            <a:r>
              <a:rPr lang="en-US" sz="2600" dirty="0">
                <a:solidFill>
                  <a:schemeClr val="tx1"/>
                </a:solidFill>
                <a:latin typeface="Times New Roman" panose="02020603050405020304" pitchFamily="18" charset="0"/>
                <a:cs typeface="Times New Roman" panose="02020603050405020304" pitchFamily="18" charset="0"/>
              </a:rPr>
              <a:t>: A diagnostic evaluation benchmark for robust text-to-</a:t>
            </a:r>
            <a:r>
              <a:rPr lang="en-US" sz="2600" dirty="0" err="1">
                <a:solidFill>
                  <a:schemeClr val="tx1"/>
                </a:solidFill>
                <a:latin typeface="Times New Roman" panose="02020603050405020304" pitchFamily="18" charset="0"/>
                <a:cs typeface="Times New Roman" panose="02020603050405020304" pitchFamily="18" charset="0"/>
              </a:rPr>
              <a:t>sql</a:t>
            </a:r>
            <a:r>
              <a:rPr lang="en-US" sz="2600" dirty="0">
                <a:solidFill>
                  <a:schemeClr val="tx1"/>
                </a:solidFill>
                <a:latin typeface="Times New Roman" panose="02020603050405020304" pitchFamily="18" charset="0"/>
                <a:cs typeface="Times New Roman" panose="02020603050405020304" pitchFamily="18" charset="0"/>
              </a:rPr>
              <a:t>," in </a:t>
            </a:r>
            <a:r>
              <a:rPr lang="en-US" sz="2600" i="1" dirty="0">
                <a:solidFill>
                  <a:schemeClr val="tx1"/>
                </a:solidFill>
                <a:latin typeface="Times New Roman" panose="02020603050405020304" pitchFamily="18" charset="0"/>
                <a:cs typeface="Times New Roman" panose="02020603050405020304" pitchFamily="18" charset="0"/>
              </a:rPr>
              <a:t>Proc. ICLR</a:t>
            </a:r>
            <a:r>
              <a:rPr lang="en-US" sz="2600" dirty="0">
                <a:solidFill>
                  <a:schemeClr val="tx1"/>
                </a:solidFill>
                <a:latin typeface="Times New Roman" panose="02020603050405020304" pitchFamily="18" charset="0"/>
                <a:cs typeface="Times New Roman" panose="02020603050405020304" pitchFamily="18" charset="0"/>
              </a:rPr>
              <a:t>, 2023. [5] H. Jiao et al., "</a:t>
            </a:r>
            <a:r>
              <a:rPr lang="en-US" sz="2600" dirty="0" err="1">
                <a:solidFill>
                  <a:schemeClr val="tx1"/>
                </a:solidFill>
                <a:latin typeface="Times New Roman" panose="02020603050405020304" pitchFamily="18" charset="0"/>
                <a:cs typeface="Times New Roman" panose="02020603050405020304" pitchFamily="18" charset="0"/>
              </a:rPr>
              <a:t>GeoSQL</a:t>
            </a:r>
            <a:r>
              <a:rPr lang="en-US" sz="2600" dirty="0">
                <a:solidFill>
                  <a:schemeClr val="tx1"/>
                </a:solidFill>
                <a:latin typeface="Times New Roman" panose="02020603050405020304" pitchFamily="18" charset="0"/>
                <a:cs typeface="Times New Roman" panose="02020603050405020304" pitchFamily="18" charset="0"/>
              </a:rPr>
              <a:t>-Eval: First evaluation of LLMs on </a:t>
            </a:r>
            <a:r>
              <a:rPr lang="en-US" sz="2600" dirty="0" err="1">
                <a:solidFill>
                  <a:schemeClr val="tx1"/>
                </a:solidFill>
                <a:latin typeface="Times New Roman" panose="02020603050405020304" pitchFamily="18" charset="0"/>
                <a:cs typeface="Times New Roman" panose="02020603050405020304" pitchFamily="18" charset="0"/>
              </a:rPr>
              <a:t>PostGIS</a:t>
            </a:r>
            <a:r>
              <a:rPr lang="en-US" sz="2600" dirty="0">
                <a:solidFill>
                  <a:schemeClr val="tx1"/>
                </a:solidFill>
                <a:latin typeface="Times New Roman" panose="02020603050405020304" pitchFamily="18" charset="0"/>
                <a:cs typeface="Times New Roman" panose="02020603050405020304" pitchFamily="18" charset="0"/>
              </a:rPr>
              <a:t>-based NL2GeoSQL queries," </a:t>
            </a:r>
            <a:r>
              <a:rPr lang="en-US" sz="2600" i="1" dirty="0">
                <a:solidFill>
                  <a:schemeClr val="tx1"/>
                </a:solidFill>
                <a:latin typeface="Times New Roman" panose="02020603050405020304" pitchFamily="18" charset="0"/>
                <a:cs typeface="Times New Roman" panose="02020603050405020304" pitchFamily="18" charset="0"/>
              </a:rPr>
              <a:t>Expert Syst. Appl.</a:t>
            </a:r>
            <a:r>
              <a:rPr lang="en-US" sz="2600" dirty="0">
                <a:solidFill>
                  <a:schemeClr val="tx1"/>
                </a:solidFill>
                <a:latin typeface="Times New Roman" panose="02020603050405020304" pitchFamily="18" charset="0"/>
                <a:cs typeface="Times New Roman" panose="02020603050405020304" pitchFamily="18" charset="0"/>
              </a:rPr>
              <a:t>, 2026.</a:t>
            </a:r>
            <a:endParaRPr sz="2600" b="0" dirty="0">
              <a:solidFill>
                <a:schemeClr val="tx1"/>
              </a:solidFill>
              <a:latin typeface="Times New Roman" panose="02020603050405020304" pitchFamily="18" charset="0"/>
              <a:cs typeface="Times New Roman" panose="02020603050405020304" pitchFamily="18" charset="0"/>
            </a:endParaRPr>
          </a:p>
        </p:txBody>
      </p:sp>
      <p:sp>
        <p:nvSpPr>
          <p:cNvPr id="2" name="Rectangle 1">
            <a:extLst>
              <a:ext uri="{FF2B5EF4-FFF2-40B4-BE49-F238E27FC236}">
                <a16:creationId xmlns:a16="http://schemas.microsoft.com/office/drawing/2014/main" id="{9FC32635-20B4-AEE4-85F9-E3B725F9DDE7}"/>
              </a:ext>
            </a:extLst>
          </p:cNvPr>
          <p:cNvSpPr/>
          <p:nvPr/>
        </p:nvSpPr>
        <p:spPr>
          <a:xfrm>
            <a:off x="15547524" y="2839855"/>
            <a:ext cx="14197054"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dirty="0">
                <a:solidFill>
                  <a:srgbClr val="FFFFFF"/>
                </a:solidFill>
                <a:latin typeface="Times New Roman"/>
              </a:rPr>
              <a:t>Results: Text-to-SQL Model Selection</a:t>
            </a:r>
          </a:p>
        </p:txBody>
      </p:sp>
      <p:sp>
        <p:nvSpPr>
          <p:cNvPr id="5" name="Rectangle 4">
            <a:extLst>
              <a:ext uri="{FF2B5EF4-FFF2-40B4-BE49-F238E27FC236}">
                <a16:creationId xmlns:a16="http://schemas.microsoft.com/office/drawing/2014/main" id="{6410E69B-4D26-DEE3-847B-DF08DE5CD928}"/>
              </a:ext>
            </a:extLst>
          </p:cNvPr>
          <p:cNvSpPr/>
          <p:nvPr/>
        </p:nvSpPr>
        <p:spPr>
          <a:xfrm>
            <a:off x="15547520" y="3546386"/>
            <a:ext cx="14197054" cy="3330975"/>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b="0" dirty="0">
                <a:solidFill>
                  <a:srgbClr val="333333"/>
                </a:solidFill>
                <a:latin typeface="Times New Roman"/>
              </a:rPr>
              <a:t>Four open-weight models evaluated on a 50-query benchmark:</a:t>
            </a:r>
          </a:p>
          <a:p>
            <a:pPr algn="just">
              <a:spcAft>
                <a:spcPts val="400"/>
              </a:spcAft>
            </a:pPr>
            <a:r>
              <a:rPr sz="2600" b="0" dirty="0">
                <a:solidFill>
                  <a:srgbClr val="007030"/>
                </a:solidFill>
                <a:latin typeface="Times New Roman"/>
              </a:rPr>
              <a:t>•Qwen2.5-Coder (Winner): </a:t>
            </a:r>
            <a:r>
              <a:rPr lang="en-US" sz="2600" b="0" dirty="0">
                <a:solidFill>
                  <a:srgbClr val="007030"/>
                </a:solidFill>
                <a:latin typeface="Times New Roman"/>
              </a:rPr>
              <a:t>Exc</a:t>
            </a:r>
            <a:r>
              <a:rPr lang="en-US" sz="2600" dirty="0">
                <a:solidFill>
                  <a:srgbClr val="007030"/>
                </a:solidFill>
                <a:latin typeface="Times New Roman"/>
              </a:rPr>
              <a:t>elled at native POSTGIS spatial logic without custom finetuning</a:t>
            </a:r>
            <a:r>
              <a:rPr sz="2600" b="0" dirty="0">
                <a:solidFill>
                  <a:srgbClr val="007030"/>
                </a:solidFill>
                <a:latin typeface="Times New Roman"/>
              </a:rPr>
              <a:t>.</a:t>
            </a:r>
            <a:endParaRPr lang="en-US" sz="2600" b="0" dirty="0">
              <a:solidFill>
                <a:srgbClr val="007030"/>
              </a:solidFill>
              <a:latin typeface="Times New Roman"/>
            </a:endParaRPr>
          </a:p>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•SQLCoder-8B (Failed): </a:t>
            </a:r>
            <a:r>
              <a:rPr lang="en-US" sz="2600" dirty="0">
                <a:solidFill>
                  <a:schemeClr val="tx1"/>
                </a:solidFill>
                <a:latin typeface="Times New Roman" panose="02020603050405020304" pitchFamily="18" charset="0"/>
                <a:cs typeface="Times New Roman" panose="02020603050405020304" pitchFamily="18" charset="0"/>
              </a:rPr>
              <a:t>Broke down when handling multi-step spatial joins (CTEs) and spatial exclusion queries.</a:t>
            </a:r>
          </a:p>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•CodeS-7B (Failed): </a:t>
            </a:r>
            <a:r>
              <a:rPr lang="en-US" sz="2600" dirty="0">
                <a:solidFill>
                  <a:schemeClr val="tx1"/>
                </a:solidFill>
                <a:latin typeface="Times New Roman" panose="02020603050405020304" pitchFamily="18" charset="0"/>
                <a:cs typeface="Times New Roman" panose="02020603050405020304" pitchFamily="18" charset="0"/>
              </a:rPr>
              <a:t>Exhibited severe schema hallucination due to over-finetuning on the BIRD benchmark.</a:t>
            </a:r>
          </a:p>
          <a:p>
            <a:pPr algn="just">
              <a:spcAft>
                <a:spcPts val="400"/>
              </a:spcAft>
            </a:pPr>
            <a:r>
              <a:rPr lang="en-US" sz="2600" dirty="0">
                <a:solidFill>
                  <a:schemeClr val="tx1"/>
                </a:solidFill>
                <a:latin typeface="Times New Roman" panose="02020603050405020304" pitchFamily="18" charset="0"/>
                <a:cs typeface="Times New Roman" panose="02020603050405020304" pitchFamily="18" charset="0"/>
              </a:rPr>
              <a:t>•DeepSeek-Coder-7B (Failed): Struggled with </a:t>
            </a:r>
            <a:r>
              <a:rPr lang="en-US" sz="2600" dirty="0" err="1">
                <a:solidFill>
                  <a:schemeClr val="tx1"/>
                </a:solidFill>
                <a:latin typeface="Times New Roman" panose="02020603050405020304" pitchFamily="18" charset="0"/>
                <a:cs typeface="Times New Roman" panose="02020603050405020304" pitchFamily="18" charset="0"/>
              </a:rPr>
              <a:t>PostGIS</a:t>
            </a:r>
            <a:r>
              <a:rPr lang="en-US" sz="2600" dirty="0">
                <a:solidFill>
                  <a:schemeClr val="tx1"/>
                </a:solidFill>
                <a:latin typeface="Times New Roman" panose="02020603050405020304" pitchFamily="18" charset="0"/>
                <a:cs typeface="Times New Roman" panose="02020603050405020304" pitchFamily="18" charset="0"/>
              </a:rPr>
              <a:t> syntax alignment, producing malformed queries.</a:t>
            </a:r>
          </a:p>
        </p:txBody>
      </p:sp>
      <p:graphicFrame>
        <p:nvGraphicFramePr>
          <p:cNvPr id="6" name="Table 5">
            <a:extLst>
              <a:ext uri="{FF2B5EF4-FFF2-40B4-BE49-F238E27FC236}">
                <a16:creationId xmlns:a16="http://schemas.microsoft.com/office/drawing/2014/main" id="{B10F4632-DF43-A219-A0AC-C4BB8F5CE67E}"/>
              </a:ext>
            </a:extLst>
          </p:cNvPr>
          <p:cNvGraphicFramePr>
            <a:graphicFrameLocks noGrp="1"/>
          </p:cNvGraphicFramePr>
          <p:nvPr>
            <p:extLst>
              <p:ext uri="{D42A27DB-BD31-4B8C-83A1-F6EECF244321}">
                <p14:modId xmlns:p14="http://schemas.microsoft.com/office/powerpoint/2010/main" val="2419928385"/>
              </p:ext>
            </p:extLst>
          </p:nvPr>
        </p:nvGraphicFramePr>
        <p:xfrm>
          <a:off x="15547517" y="6992903"/>
          <a:ext cx="14197053" cy="2256540"/>
        </p:xfrm>
        <a:graphic>
          <a:graphicData uri="http://schemas.openxmlformats.org/drawingml/2006/table">
            <a:tbl>
              <a:tblPr firstRow="1" bandRow="1">
                <a:tableStyleId>{5C22544A-7EE6-4342-B048-85BDC9FD1C3A}</a:tableStyleId>
              </a:tblPr>
              <a:tblGrid>
                <a:gridCol w="4764111">
                  <a:extLst>
                    <a:ext uri="{9D8B030D-6E8A-4147-A177-3AD203B41FA5}">
                      <a16:colId xmlns:a16="http://schemas.microsoft.com/office/drawing/2014/main" val="20000"/>
                    </a:ext>
                  </a:extLst>
                </a:gridCol>
                <a:gridCol w="3144314">
                  <a:extLst>
                    <a:ext uri="{9D8B030D-6E8A-4147-A177-3AD203B41FA5}">
                      <a16:colId xmlns:a16="http://schemas.microsoft.com/office/drawing/2014/main" val="20001"/>
                    </a:ext>
                  </a:extLst>
                </a:gridCol>
                <a:gridCol w="3144314">
                  <a:extLst>
                    <a:ext uri="{9D8B030D-6E8A-4147-A177-3AD203B41FA5}">
                      <a16:colId xmlns:a16="http://schemas.microsoft.com/office/drawing/2014/main" val="20002"/>
                    </a:ext>
                  </a:extLst>
                </a:gridCol>
                <a:gridCol w="3144314">
                  <a:extLst>
                    <a:ext uri="{9D8B030D-6E8A-4147-A177-3AD203B41FA5}">
                      <a16:colId xmlns:a16="http://schemas.microsoft.com/office/drawing/2014/main" val="20003"/>
                    </a:ext>
                  </a:extLst>
                </a:gridCol>
              </a:tblGrid>
              <a:tr h="451308">
                <a:tc>
                  <a:txBody>
                    <a:bodyPr/>
                    <a:lstStyle/>
                    <a:p>
                      <a:pPr algn="ctr"/>
                      <a:r>
                        <a:rPr sz="2000" b="1">
                          <a:solidFill>
                            <a:srgbClr val="FFFFFF"/>
                          </a:solidFill>
                          <a:latin typeface="Times New Roman"/>
                        </a:rPr>
                        <a:t>Model</a:t>
                      </a:r>
                    </a:p>
                  </a:txBody>
                  <a:tcPr>
                    <a:solidFill>
                      <a:srgbClr val="2E75B6"/>
                    </a:solidFill>
                  </a:tcPr>
                </a:tc>
                <a:tc>
                  <a:txBody>
                    <a:bodyPr/>
                    <a:lstStyle/>
                    <a:p>
                      <a:pPr algn="ctr"/>
                      <a:r>
                        <a:rPr sz="2000" b="1">
                          <a:solidFill>
                            <a:srgbClr val="FFFFFF"/>
                          </a:solidFill>
                          <a:latin typeface="Times New Roman"/>
                        </a:rPr>
                        <a:t>Pass Rate</a:t>
                      </a:r>
                    </a:p>
                  </a:txBody>
                  <a:tcPr>
                    <a:solidFill>
                      <a:srgbClr val="2E75B6"/>
                    </a:solidFill>
                  </a:tcPr>
                </a:tc>
                <a:tc>
                  <a:txBody>
                    <a:bodyPr/>
                    <a:lstStyle/>
                    <a:p>
                      <a:pPr algn="ctr"/>
                      <a:r>
                        <a:rPr sz="2000" b="1" dirty="0">
                          <a:solidFill>
                            <a:srgbClr val="FFFFFF"/>
                          </a:solidFill>
                          <a:latin typeface="Times New Roman"/>
                        </a:rPr>
                        <a:t>Fail Rate</a:t>
                      </a:r>
                    </a:p>
                  </a:txBody>
                  <a:tcPr>
                    <a:solidFill>
                      <a:srgbClr val="2E75B6"/>
                    </a:solidFill>
                  </a:tcPr>
                </a:tc>
                <a:tc>
                  <a:txBody>
                    <a:bodyPr/>
                    <a:lstStyle/>
                    <a:p>
                      <a:pPr algn="ctr"/>
                      <a:r>
                        <a:rPr sz="2000" b="1">
                          <a:solidFill>
                            <a:srgbClr val="FFFFFF"/>
                          </a:solidFill>
                          <a:latin typeface="Times New Roman"/>
                        </a:rPr>
                        <a:t>Avg F1</a:t>
                      </a:r>
                    </a:p>
                  </a:txBody>
                  <a:tcPr>
                    <a:solidFill>
                      <a:srgbClr val="2E75B6"/>
                    </a:solidFill>
                  </a:tcPr>
                </a:tc>
                <a:extLst>
                  <a:ext uri="{0D108BD9-81ED-4DB2-BD59-A6C34878D82A}">
                    <a16:rowId xmlns:a16="http://schemas.microsoft.com/office/drawing/2014/main" val="10000"/>
                  </a:ext>
                </a:extLst>
              </a:tr>
              <a:tr h="451308">
                <a:tc>
                  <a:txBody>
                    <a:bodyPr/>
                    <a:lstStyle/>
                    <a:p>
                      <a:pPr algn="l"/>
                      <a:r>
                        <a:rPr sz="1800" b="1" dirty="0">
                          <a:solidFill>
                            <a:srgbClr val="007030"/>
                          </a:solidFill>
                          <a:latin typeface="Times New Roman"/>
                        </a:rPr>
                        <a:t>Qwen2.5-Coder-7B</a:t>
                      </a:r>
                    </a:p>
                  </a:txBody>
                  <a:tcPr>
                    <a:solidFill>
                      <a:srgbClr val="D6E4F0"/>
                    </a:solidFill>
                  </a:tcPr>
                </a:tc>
                <a:tc>
                  <a:txBody>
                    <a:bodyPr/>
                    <a:lstStyle/>
                    <a:p>
                      <a:pPr algn="ctr"/>
                      <a:r>
                        <a:rPr sz="1800" b="1">
                          <a:solidFill>
                            <a:srgbClr val="007030"/>
                          </a:solidFill>
                          <a:latin typeface="Times New Roman"/>
                        </a:rPr>
                        <a:t>78.0%</a:t>
                      </a:r>
                    </a:p>
                  </a:txBody>
                  <a:tcPr>
                    <a:solidFill>
                      <a:srgbClr val="D6E4F0"/>
                    </a:solidFill>
                  </a:tcPr>
                </a:tc>
                <a:tc>
                  <a:txBody>
                    <a:bodyPr/>
                    <a:lstStyle/>
                    <a:p>
                      <a:pPr algn="ctr"/>
                      <a:r>
                        <a:rPr sz="1800" b="1" dirty="0">
                          <a:solidFill>
                            <a:srgbClr val="007030"/>
                          </a:solidFill>
                          <a:latin typeface="Times New Roman"/>
                        </a:rPr>
                        <a:t>4.0%</a:t>
                      </a:r>
                    </a:p>
                  </a:txBody>
                  <a:tcPr>
                    <a:solidFill>
                      <a:srgbClr val="D6E4F0"/>
                    </a:solidFill>
                  </a:tcPr>
                </a:tc>
                <a:tc>
                  <a:txBody>
                    <a:bodyPr/>
                    <a:lstStyle/>
                    <a:p>
                      <a:pPr algn="ctr"/>
                      <a:r>
                        <a:rPr sz="1800" b="1">
                          <a:solidFill>
                            <a:srgbClr val="007030"/>
                          </a:solidFill>
                          <a:latin typeface="Times New Roman"/>
                        </a:rPr>
                        <a:t>0.780</a:t>
                      </a:r>
                    </a:p>
                  </a:txBody>
                  <a:tcPr>
                    <a:solidFill>
                      <a:srgbClr val="D6E4F0"/>
                    </a:solidFill>
                  </a:tcPr>
                </a:tc>
                <a:extLst>
                  <a:ext uri="{0D108BD9-81ED-4DB2-BD59-A6C34878D82A}">
                    <a16:rowId xmlns:a16="http://schemas.microsoft.com/office/drawing/2014/main" val="10001"/>
                  </a:ext>
                </a:extLst>
              </a:tr>
              <a:tr h="451308">
                <a:tc>
                  <a:txBody>
                    <a:bodyPr/>
                    <a:lstStyle/>
                    <a:p>
                      <a:pPr algn="l"/>
                      <a:r>
                        <a:rPr sz="1800" b="0">
                          <a:solidFill>
                            <a:srgbClr val="333333"/>
                          </a:solidFill>
                          <a:latin typeface="Times New Roman"/>
                        </a:rPr>
                        <a:t>SQLCoder-8B</a:t>
                      </a:r>
                    </a:p>
                  </a:txBody>
                  <a:tcPr>
                    <a:solidFill>
                      <a:srgbClr val="FFFFFF"/>
                    </a:solidFill>
                  </a:tcPr>
                </a:tc>
                <a:tc>
                  <a:txBody>
                    <a:bodyPr/>
                    <a:lstStyle/>
                    <a:p>
                      <a:pPr algn="ctr"/>
                      <a:r>
                        <a:rPr sz="1800" b="0">
                          <a:solidFill>
                            <a:srgbClr val="333333"/>
                          </a:solidFill>
                          <a:latin typeface="Times New Roman"/>
                        </a:rPr>
                        <a:t>46.0%</a:t>
                      </a:r>
                    </a:p>
                  </a:txBody>
                  <a:tcPr>
                    <a:solidFill>
                      <a:srgbClr val="FFFFFF"/>
                    </a:solidFill>
                  </a:tcPr>
                </a:tc>
                <a:tc>
                  <a:txBody>
                    <a:bodyPr/>
                    <a:lstStyle/>
                    <a:p>
                      <a:pPr algn="ctr"/>
                      <a:r>
                        <a:rPr sz="1800" b="0">
                          <a:solidFill>
                            <a:srgbClr val="333333"/>
                          </a:solidFill>
                          <a:latin typeface="Times New Roman"/>
                        </a:rPr>
                        <a:t>54.0%</a:t>
                      </a:r>
                    </a:p>
                  </a:txBody>
                  <a:tcPr>
                    <a:solidFill>
                      <a:srgbClr val="FFFFFF"/>
                    </a:solidFill>
                  </a:tcPr>
                </a:tc>
                <a:tc>
                  <a:txBody>
                    <a:bodyPr/>
                    <a:lstStyle/>
                    <a:p>
                      <a:pPr algn="ctr"/>
                      <a:r>
                        <a:rPr sz="1800" b="0">
                          <a:solidFill>
                            <a:srgbClr val="333333"/>
                          </a:solidFill>
                          <a:latin typeface="Times New Roman"/>
                        </a:rPr>
                        <a:t>0.459</a:t>
                      </a:r>
                    </a:p>
                  </a:txBody>
                  <a:tcPr>
                    <a:solidFill>
                      <a:srgbClr val="FFFFFF"/>
                    </a:solidFill>
                  </a:tcPr>
                </a:tc>
                <a:extLst>
                  <a:ext uri="{0D108BD9-81ED-4DB2-BD59-A6C34878D82A}">
                    <a16:rowId xmlns:a16="http://schemas.microsoft.com/office/drawing/2014/main" val="10002"/>
                  </a:ext>
                </a:extLst>
              </a:tr>
              <a:tr h="451308">
                <a:tc>
                  <a:txBody>
                    <a:bodyPr/>
                    <a:lstStyle/>
                    <a:p>
                      <a:pPr algn="l"/>
                      <a:r>
                        <a:rPr sz="1800" b="0">
                          <a:solidFill>
                            <a:srgbClr val="333333"/>
                          </a:solidFill>
                          <a:latin typeface="Times New Roman"/>
                        </a:rPr>
                        <a:t>CodeS-7B</a:t>
                      </a:r>
                    </a:p>
                  </a:txBody>
                  <a:tcPr>
                    <a:solidFill>
                      <a:srgbClr val="D6E4F0"/>
                    </a:solidFill>
                  </a:tcPr>
                </a:tc>
                <a:tc>
                  <a:txBody>
                    <a:bodyPr/>
                    <a:lstStyle/>
                    <a:p>
                      <a:pPr algn="ctr"/>
                      <a:r>
                        <a:rPr sz="1800" b="0">
                          <a:solidFill>
                            <a:srgbClr val="333333"/>
                          </a:solidFill>
                          <a:latin typeface="Times New Roman"/>
                        </a:rPr>
                        <a:t>32.0%</a:t>
                      </a:r>
                    </a:p>
                  </a:txBody>
                  <a:tcPr>
                    <a:solidFill>
                      <a:srgbClr val="D6E4F0"/>
                    </a:solidFill>
                  </a:tcPr>
                </a:tc>
                <a:tc>
                  <a:txBody>
                    <a:bodyPr/>
                    <a:lstStyle/>
                    <a:p>
                      <a:pPr algn="ctr"/>
                      <a:r>
                        <a:rPr sz="1800" b="0">
                          <a:solidFill>
                            <a:srgbClr val="333333"/>
                          </a:solidFill>
                          <a:latin typeface="Times New Roman"/>
                        </a:rPr>
                        <a:t>68.0%</a:t>
                      </a:r>
                    </a:p>
                  </a:txBody>
                  <a:tcPr>
                    <a:solidFill>
                      <a:srgbClr val="D6E4F0"/>
                    </a:solidFill>
                  </a:tcPr>
                </a:tc>
                <a:tc>
                  <a:txBody>
                    <a:bodyPr/>
                    <a:lstStyle/>
                    <a:p>
                      <a:pPr algn="ctr"/>
                      <a:r>
                        <a:rPr sz="1800" b="0">
                          <a:solidFill>
                            <a:srgbClr val="333333"/>
                          </a:solidFill>
                          <a:latin typeface="Times New Roman"/>
                        </a:rPr>
                        <a:t>0.385</a:t>
                      </a:r>
                    </a:p>
                  </a:txBody>
                  <a:tcPr>
                    <a:solidFill>
                      <a:srgbClr val="D6E4F0"/>
                    </a:solidFill>
                  </a:tcPr>
                </a:tc>
                <a:extLst>
                  <a:ext uri="{0D108BD9-81ED-4DB2-BD59-A6C34878D82A}">
                    <a16:rowId xmlns:a16="http://schemas.microsoft.com/office/drawing/2014/main" val="10003"/>
                  </a:ext>
                </a:extLst>
              </a:tr>
              <a:tr h="451308">
                <a:tc>
                  <a:txBody>
                    <a:bodyPr/>
                    <a:lstStyle/>
                    <a:p>
                      <a:pPr algn="l"/>
                      <a:r>
                        <a:rPr sz="1800" b="0">
                          <a:solidFill>
                            <a:srgbClr val="333333"/>
                          </a:solidFill>
                          <a:latin typeface="Times New Roman"/>
                        </a:rPr>
                        <a:t>DeepSeek-Coder-7B</a:t>
                      </a:r>
                    </a:p>
                  </a:txBody>
                  <a:tcPr>
                    <a:solidFill>
                      <a:srgbClr val="FFFFFF"/>
                    </a:solidFill>
                  </a:tcPr>
                </a:tc>
                <a:tc>
                  <a:txBody>
                    <a:bodyPr/>
                    <a:lstStyle/>
                    <a:p>
                      <a:pPr algn="ctr"/>
                      <a:r>
                        <a:rPr sz="1800" b="0" dirty="0">
                          <a:solidFill>
                            <a:srgbClr val="333333"/>
                          </a:solidFill>
                          <a:latin typeface="Times New Roman"/>
                        </a:rPr>
                        <a:t>28.0%</a:t>
                      </a:r>
                    </a:p>
                  </a:txBody>
                  <a:tcPr>
                    <a:solidFill>
                      <a:srgbClr val="FFFFFF"/>
                    </a:solidFill>
                  </a:tcPr>
                </a:tc>
                <a:tc>
                  <a:txBody>
                    <a:bodyPr/>
                    <a:lstStyle/>
                    <a:p>
                      <a:pPr algn="ctr"/>
                      <a:r>
                        <a:rPr sz="1800" b="0" dirty="0">
                          <a:solidFill>
                            <a:srgbClr val="333333"/>
                          </a:solidFill>
                          <a:latin typeface="Times New Roman"/>
                        </a:rPr>
                        <a:t>72.0%</a:t>
                      </a:r>
                    </a:p>
                  </a:txBody>
                  <a:tcPr>
                    <a:solidFill>
                      <a:srgbClr val="FFFFFF"/>
                    </a:solidFill>
                  </a:tcPr>
                </a:tc>
                <a:tc>
                  <a:txBody>
                    <a:bodyPr/>
                    <a:lstStyle/>
                    <a:p>
                      <a:pPr algn="ctr"/>
                      <a:r>
                        <a:rPr sz="1800" b="0" dirty="0">
                          <a:solidFill>
                            <a:srgbClr val="333333"/>
                          </a:solidFill>
                          <a:latin typeface="Times New Roman"/>
                        </a:rPr>
                        <a:t>0.297</a:t>
                      </a:r>
                    </a:p>
                  </a:txBody>
                  <a:tcPr>
                    <a:solidFill>
                      <a:srgbClr val="FFFFFF"/>
                    </a:solidFill>
                  </a:tcPr>
                </a:tc>
                <a:extLst>
                  <a:ext uri="{0D108BD9-81ED-4DB2-BD59-A6C34878D82A}">
                    <a16:rowId xmlns:a16="http://schemas.microsoft.com/office/drawing/2014/main" val="10004"/>
                  </a:ext>
                </a:extLst>
              </a:tr>
            </a:tbl>
          </a:graphicData>
        </a:graphic>
      </p:graphicFrame>
      <p:sp>
        <p:nvSpPr>
          <p:cNvPr id="7" name="Rectangle 6">
            <a:extLst>
              <a:ext uri="{FF2B5EF4-FFF2-40B4-BE49-F238E27FC236}">
                <a16:creationId xmlns:a16="http://schemas.microsoft.com/office/drawing/2014/main" id="{6252AF06-1F6E-27CF-1BC8-9B8747C96C73}"/>
              </a:ext>
            </a:extLst>
          </p:cNvPr>
          <p:cNvSpPr/>
          <p:nvPr/>
        </p:nvSpPr>
        <p:spPr>
          <a:xfrm>
            <a:off x="15547520" y="9345726"/>
            <a:ext cx="14197050"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latin typeface="Times New Roman"/>
              </a:rPr>
              <a:t>Results: Translation Model Selection</a:t>
            </a:r>
          </a:p>
        </p:txBody>
      </p:sp>
      <p:sp>
        <p:nvSpPr>
          <p:cNvPr id="8" name="Rectangle 7">
            <a:extLst>
              <a:ext uri="{FF2B5EF4-FFF2-40B4-BE49-F238E27FC236}">
                <a16:creationId xmlns:a16="http://schemas.microsoft.com/office/drawing/2014/main" id="{1A3E2A5E-BEDE-1505-7562-3ACFE03FB187}"/>
              </a:ext>
            </a:extLst>
          </p:cNvPr>
          <p:cNvSpPr/>
          <p:nvPr/>
        </p:nvSpPr>
        <p:spPr>
          <a:xfrm>
            <a:off x="15547517" y="10168013"/>
            <a:ext cx="14197054" cy="2653597"/>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56-query multilingual dataset across 5 Indian languages + slang:</a:t>
            </a:r>
          </a:p>
          <a:p>
            <a:r>
              <a:rPr lang="en-US" sz="2600" dirty="0">
                <a:solidFill>
                  <a:srgbClr val="00702F"/>
                </a:solidFill>
                <a:latin typeface="Times New Roman"/>
              </a:rPr>
              <a:t>• </a:t>
            </a:r>
            <a:r>
              <a:rPr lang="en-US" sz="2600" dirty="0">
                <a:solidFill>
                  <a:srgbClr val="00702F"/>
                </a:solidFill>
                <a:latin typeface="Times New Roman" panose="02020603050405020304" pitchFamily="18" charset="0"/>
                <a:cs typeface="Times New Roman" panose="02020603050405020304" pitchFamily="18" charset="0"/>
              </a:rPr>
              <a:t>Sarvam-Translate (Winner): Successfully normalized complex Hinglish internet slang into formal English suitable for SQL parsing.</a:t>
            </a:r>
          </a:p>
          <a:p>
            <a:r>
              <a:rPr lang="en-US" sz="2600" dirty="0">
                <a:solidFill>
                  <a:schemeClr val="tx1"/>
                </a:solidFill>
                <a:latin typeface="Times New Roman" panose="02020603050405020304" pitchFamily="18" charset="0"/>
                <a:cs typeface="Times New Roman" panose="02020603050405020304" pitchFamily="18" charset="0"/>
              </a:rPr>
              <a:t>• NLLB &amp; Seamless (Failed): Spelled out Hindi slang in English letters instead of translating it, which crashed the SQL engine.</a:t>
            </a:r>
          </a:p>
          <a:p>
            <a:r>
              <a:rPr lang="en-US" sz="2600" dirty="0">
                <a:solidFill>
                  <a:schemeClr val="tx1"/>
                </a:solidFill>
                <a:latin typeface="Times New Roman" panose="02020603050405020304" pitchFamily="18" charset="0"/>
                <a:cs typeface="Times New Roman" panose="02020603050405020304" pitchFamily="18" charset="0"/>
              </a:rPr>
              <a:t>• Google Translate: Provided a strong accuracy baseline but violated the strict 100% offline requirement.</a:t>
            </a:r>
          </a:p>
        </p:txBody>
      </p:sp>
      <p:graphicFrame>
        <p:nvGraphicFramePr>
          <p:cNvPr id="9" name="Table 8">
            <a:extLst>
              <a:ext uri="{FF2B5EF4-FFF2-40B4-BE49-F238E27FC236}">
                <a16:creationId xmlns:a16="http://schemas.microsoft.com/office/drawing/2014/main" id="{C5C36359-DEC5-593E-D5FE-D1B5EA4F9367}"/>
              </a:ext>
            </a:extLst>
          </p:cNvPr>
          <p:cNvGraphicFramePr>
            <a:graphicFrameLocks noGrp="1"/>
          </p:cNvGraphicFramePr>
          <p:nvPr>
            <p:extLst>
              <p:ext uri="{D42A27DB-BD31-4B8C-83A1-F6EECF244321}">
                <p14:modId xmlns:p14="http://schemas.microsoft.com/office/powerpoint/2010/main" val="747104080"/>
              </p:ext>
            </p:extLst>
          </p:nvPr>
        </p:nvGraphicFramePr>
        <p:xfrm>
          <a:off x="15547520" y="13052073"/>
          <a:ext cx="14197050" cy="2478515"/>
        </p:xfrm>
        <a:graphic>
          <a:graphicData uri="http://schemas.openxmlformats.org/drawingml/2006/table">
            <a:tbl>
              <a:tblPr firstRow="1" bandRow="1">
                <a:tableStyleId>{5C22544A-7EE6-4342-B048-85BDC9FD1C3A}</a:tableStyleId>
              </a:tblPr>
              <a:tblGrid>
                <a:gridCol w="5070375">
                  <a:extLst>
                    <a:ext uri="{9D8B030D-6E8A-4147-A177-3AD203B41FA5}">
                      <a16:colId xmlns:a16="http://schemas.microsoft.com/office/drawing/2014/main" val="20000"/>
                    </a:ext>
                  </a:extLst>
                </a:gridCol>
                <a:gridCol w="3042225">
                  <a:extLst>
                    <a:ext uri="{9D8B030D-6E8A-4147-A177-3AD203B41FA5}">
                      <a16:colId xmlns:a16="http://schemas.microsoft.com/office/drawing/2014/main" val="20001"/>
                    </a:ext>
                  </a:extLst>
                </a:gridCol>
                <a:gridCol w="3042225">
                  <a:extLst>
                    <a:ext uri="{9D8B030D-6E8A-4147-A177-3AD203B41FA5}">
                      <a16:colId xmlns:a16="http://schemas.microsoft.com/office/drawing/2014/main" val="20002"/>
                    </a:ext>
                  </a:extLst>
                </a:gridCol>
                <a:gridCol w="3042225">
                  <a:extLst>
                    <a:ext uri="{9D8B030D-6E8A-4147-A177-3AD203B41FA5}">
                      <a16:colId xmlns:a16="http://schemas.microsoft.com/office/drawing/2014/main" val="20003"/>
                    </a:ext>
                  </a:extLst>
                </a:gridCol>
              </a:tblGrid>
              <a:tr h="495703">
                <a:tc>
                  <a:txBody>
                    <a:bodyPr/>
                    <a:lstStyle/>
                    <a:p>
                      <a:pPr algn="ctr"/>
                      <a:r>
                        <a:rPr sz="2000" b="1">
                          <a:solidFill>
                            <a:srgbClr val="FFFFFF"/>
                          </a:solidFill>
                          <a:latin typeface="Times New Roman"/>
                        </a:rPr>
                        <a:t>Model</a:t>
                      </a:r>
                    </a:p>
                  </a:txBody>
                  <a:tcPr>
                    <a:solidFill>
                      <a:srgbClr val="2E75B6"/>
                    </a:solidFill>
                  </a:tcPr>
                </a:tc>
                <a:tc>
                  <a:txBody>
                    <a:bodyPr/>
                    <a:lstStyle/>
                    <a:p>
                      <a:pPr algn="ctr"/>
                      <a:r>
                        <a:rPr sz="2000" b="1" dirty="0">
                          <a:solidFill>
                            <a:srgbClr val="FFFFFF"/>
                          </a:solidFill>
                          <a:latin typeface="Times New Roman"/>
                        </a:rPr>
                        <a:t>Overall</a:t>
                      </a:r>
                    </a:p>
                  </a:txBody>
                  <a:tcPr>
                    <a:solidFill>
                      <a:srgbClr val="2E75B6"/>
                    </a:solidFill>
                  </a:tcPr>
                </a:tc>
                <a:tc>
                  <a:txBody>
                    <a:bodyPr/>
                    <a:lstStyle/>
                    <a:p>
                      <a:pPr algn="ctr"/>
                      <a:r>
                        <a:rPr sz="2000" b="1" dirty="0">
                          <a:solidFill>
                            <a:srgbClr val="FFFFFF"/>
                          </a:solidFill>
                          <a:latin typeface="Times New Roman"/>
                        </a:rPr>
                        <a:t>Slang</a:t>
                      </a:r>
                    </a:p>
                  </a:txBody>
                  <a:tcPr>
                    <a:solidFill>
                      <a:srgbClr val="2E75B6"/>
                    </a:solidFill>
                  </a:tcPr>
                </a:tc>
                <a:tc>
                  <a:txBody>
                    <a:bodyPr/>
                    <a:lstStyle/>
                    <a:p>
                      <a:pPr algn="ctr"/>
                      <a:r>
                        <a:rPr sz="2000" b="1">
                          <a:solidFill>
                            <a:srgbClr val="FFFFFF"/>
                          </a:solidFill>
                          <a:latin typeface="Times New Roman"/>
                        </a:rPr>
                        <a:t>Failures</a:t>
                      </a:r>
                    </a:p>
                  </a:txBody>
                  <a:tcPr>
                    <a:solidFill>
                      <a:srgbClr val="2E75B6"/>
                    </a:solidFill>
                  </a:tcPr>
                </a:tc>
                <a:extLst>
                  <a:ext uri="{0D108BD9-81ED-4DB2-BD59-A6C34878D82A}">
                    <a16:rowId xmlns:a16="http://schemas.microsoft.com/office/drawing/2014/main" val="10000"/>
                  </a:ext>
                </a:extLst>
              </a:tr>
              <a:tr h="495703">
                <a:tc>
                  <a:txBody>
                    <a:bodyPr/>
                    <a:lstStyle/>
                    <a:p>
                      <a:pPr algn="l"/>
                      <a:r>
                        <a:rPr sz="1800" b="0">
                          <a:solidFill>
                            <a:srgbClr val="333333"/>
                          </a:solidFill>
                          <a:latin typeface="Times New Roman"/>
                        </a:rPr>
                        <a:t>Google Translate</a:t>
                      </a:r>
                    </a:p>
                  </a:txBody>
                  <a:tcPr>
                    <a:solidFill>
                      <a:srgbClr val="D6E4F0"/>
                    </a:solidFill>
                  </a:tcPr>
                </a:tc>
                <a:tc>
                  <a:txBody>
                    <a:bodyPr/>
                    <a:lstStyle/>
                    <a:p>
                      <a:pPr algn="ctr"/>
                      <a:r>
                        <a:rPr sz="1800" b="0">
                          <a:solidFill>
                            <a:srgbClr val="333333"/>
                          </a:solidFill>
                          <a:latin typeface="Times New Roman"/>
                        </a:rPr>
                        <a:t>96.4%</a:t>
                      </a:r>
                    </a:p>
                  </a:txBody>
                  <a:tcPr>
                    <a:solidFill>
                      <a:srgbClr val="D6E4F0"/>
                    </a:solidFill>
                  </a:tcPr>
                </a:tc>
                <a:tc>
                  <a:txBody>
                    <a:bodyPr/>
                    <a:lstStyle/>
                    <a:p>
                      <a:pPr algn="ctr"/>
                      <a:r>
                        <a:rPr sz="1800" b="0">
                          <a:solidFill>
                            <a:srgbClr val="333333"/>
                          </a:solidFill>
                          <a:latin typeface="Times New Roman"/>
                        </a:rPr>
                        <a:t>71.4%</a:t>
                      </a:r>
                    </a:p>
                  </a:txBody>
                  <a:tcPr>
                    <a:solidFill>
                      <a:srgbClr val="D6E4F0"/>
                    </a:solidFill>
                  </a:tcPr>
                </a:tc>
                <a:tc>
                  <a:txBody>
                    <a:bodyPr/>
                    <a:lstStyle/>
                    <a:p>
                      <a:pPr algn="ctr"/>
                      <a:r>
                        <a:rPr sz="1800" b="0" dirty="0">
                          <a:solidFill>
                            <a:srgbClr val="333333"/>
                          </a:solidFill>
                          <a:latin typeface="Times New Roman"/>
                        </a:rPr>
                        <a:t>0</a:t>
                      </a:r>
                    </a:p>
                  </a:txBody>
                  <a:tcPr>
                    <a:solidFill>
                      <a:srgbClr val="D6E4F0"/>
                    </a:solidFill>
                  </a:tcPr>
                </a:tc>
                <a:extLst>
                  <a:ext uri="{0D108BD9-81ED-4DB2-BD59-A6C34878D82A}">
                    <a16:rowId xmlns:a16="http://schemas.microsoft.com/office/drawing/2014/main" val="10001"/>
                  </a:ext>
                </a:extLst>
              </a:tr>
              <a:tr h="495703">
                <a:tc>
                  <a:txBody>
                    <a:bodyPr/>
                    <a:lstStyle/>
                    <a:p>
                      <a:pPr algn="l"/>
                      <a:r>
                        <a:rPr sz="1800" b="1">
                          <a:solidFill>
                            <a:srgbClr val="007030"/>
                          </a:solidFill>
                          <a:latin typeface="Times New Roman"/>
                        </a:rPr>
                        <a:t>Sarvam-Translate (4B)</a:t>
                      </a:r>
                    </a:p>
                  </a:txBody>
                  <a:tcPr>
                    <a:solidFill>
                      <a:srgbClr val="FFFFFF"/>
                    </a:solidFill>
                  </a:tcPr>
                </a:tc>
                <a:tc>
                  <a:txBody>
                    <a:bodyPr/>
                    <a:lstStyle/>
                    <a:p>
                      <a:pPr algn="ctr"/>
                      <a:r>
                        <a:rPr sz="1800" b="1">
                          <a:solidFill>
                            <a:srgbClr val="007030"/>
                          </a:solidFill>
                          <a:latin typeface="Times New Roman"/>
                        </a:rPr>
                        <a:t>87.5%</a:t>
                      </a:r>
                    </a:p>
                  </a:txBody>
                  <a:tcPr>
                    <a:solidFill>
                      <a:srgbClr val="FFFFFF"/>
                    </a:solidFill>
                  </a:tcPr>
                </a:tc>
                <a:tc>
                  <a:txBody>
                    <a:bodyPr/>
                    <a:lstStyle/>
                    <a:p>
                      <a:pPr algn="ctr"/>
                      <a:r>
                        <a:rPr sz="1800" b="1">
                          <a:solidFill>
                            <a:srgbClr val="007030"/>
                          </a:solidFill>
                          <a:latin typeface="Times New Roman"/>
                        </a:rPr>
                        <a:t>71.4%</a:t>
                      </a:r>
                    </a:p>
                  </a:txBody>
                  <a:tcPr>
                    <a:solidFill>
                      <a:srgbClr val="FFFFFF"/>
                    </a:solidFill>
                  </a:tcPr>
                </a:tc>
                <a:tc>
                  <a:txBody>
                    <a:bodyPr/>
                    <a:lstStyle/>
                    <a:p>
                      <a:pPr algn="ctr"/>
                      <a:r>
                        <a:rPr sz="1800" b="1">
                          <a:solidFill>
                            <a:srgbClr val="007030"/>
                          </a:solidFill>
                          <a:latin typeface="Times New Roman"/>
                        </a:rPr>
                        <a:t>2</a:t>
                      </a:r>
                    </a:p>
                  </a:txBody>
                  <a:tcPr>
                    <a:solidFill>
                      <a:srgbClr val="FFFFFF"/>
                    </a:solidFill>
                  </a:tcPr>
                </a:tc>
                <a:extLst>
                  <a:ext uri="{0D108BD9-81ED-4DB2-BD59-A6C34878D82A}">
                    <a16:rowId xmlns:a16="http://schemas.microsoft.com/office/drawing/2014/main" val="10002"/>
                  </a:ext>
                </a:extLst>
              </a:tr>
              <a:tr h="495703">
                <a:tc>
                  <a:txBody>
                    <a:bodyPr/>
                    <a:lstStyle/>
                    <a:p>
                      <a:pPr algn="l"/>
                      <a:r>
                        <a:rPr sz="1800" b="0">
                          <a:solidFill>
                            <a:srgbClr val="333333"/>
                          </a:solidFill>
                          <a:latin typeface="Times New Roman"/>
                        </a:rPr>
                        <a:t>NLLB-200 (1.3B)</a:t>
                      </a:r>
                    </a:p>
                  </a:txBody>
                  <a:tcPr>
                    <a:solidFill>
                      <a:srgbClr val="D6E4F0"/>
                    </a:solidFill>
                  </a:tcPr>
                </a:tc>
                <a:tc>
                  <a:txBody>
                    <a:bodyPr/>
                    <a:lstStyle/>
                    <a:p>
                      <a:pPr algn="ctr"/>
                      <a:r>
                        <a:rPr sz="1800" b="0">
                          <a:solidFill>
                            <a:srgbClr val="333333"/>
                          </a:solidFill>
                          <a:latin typeface="Times New Roman"/>
                        </a:rPr>
                        <a:t>85.7%</a:t>
                      </a:r>
                    </a:p>
                  </a:txBody>
                  <a:tcPr>
                    <a:solidFill>
                      <a:srgbClr val="D6E4F0"/>
                    </a:solidFill>
                  </a:tcPr>
                </a:tc>
                <a:tc>
                  <a:txBody>
                    <a:bodyPr/>
                    <a:lstStyle/>
                    <a:p>
                      <a:pPr algn="ctr"/>
                      <a:r>
                        <a:rPr sz="1800" b="0">
                          <a:solidFill>
                            <a:srgbClr val="333333"/>
                          </a:solidFill>
                          <a:latin typeface="Times New Roman"/>
                        </a:rPr>
                        <a:t>57.1%</a:t>
                      </a:r>
                    </a:p>
                  </a:txBody>
                  <a:tcPr>
                    <a:solidFill>
                      <a:srgbClr val="D6E4F0"/>
                    </a:solidFill>
                  </a:tcPr>
                </a:tc>
                <a:tc>
                  <a:txBody>
                    <a:bodyPr/>
                    <a:lstStyle/>
                    <a:p>
                      <a:pPr algn="ctr"/>
                      <a:r>
                        <a:rPr sz="1800" b="0">
                          <a:solidFill>
                            <a:srgbClr val="333333"/>
                          </a:solidFill>
                          <a:latin typeface="Times New Roman"/>
                        </a:rPr>
                        <a:t>3</a:t>
                      </a:r>
                    </a:p>
                  </a:txBody>
                  <a:tcPr>
                    <a:solidFill>
                      <a:srgbClr val="D6E4F0"/>
                    </a:solidFill>
                  </a:tcPr>
                </a:tc>
                <a:extLst>
                  <a:ext uri="{0D108BD9-81ED-4DB2-BD59-A6C34878D82A}">
                    <a16:rowId xmlns:a16="http://schemas.microsoft.com/office/drawing/2014/main" val="10003"/>
                  </a:ext>
                </a:extLst>
              </a:tr>
              <a:tr h="495703">
                <a:tc>
                  <a:txBody>
                    <a:bodyPr/>
                    <a:lstStyle/>
                    <a:p>
                      <a:pPr algn="l"/>
                      <a:r>
                        <a:rPr sz="1800" b="0" dirty="0">
                          <a:solidFill>
                            <a:srgbClr val="333333"/>
                          </a:solidFill>
                          <a:latin typeface="Times New Roman"/>
                        </a:rPr>
                        <a:t>SeamlessM4T v2</a:t>
                      </a:r>
                    </a:p>
                  </a:txBody>
                  <a:tcPr>
                    <a:solidFill>
                      <a:srgbClr val="FFFFFF"/>
                    </a:solidFill>
                  </a:tcPr>
                </a:tc>
                <a:tc>
                  <a:txBody>
                    <a:bodyPr/>
                    <a:lstStyle/>
                    <a:p>
                      <a:pPr algn="ctr"/>
                      <a:r>
                        <a:rPr sz="1800" b="0" dirty="0">
                          <a:solidFill>
                            <a:srgbClr val="333333"/>
                          </a:solidFill>
                          <a:latin typeface="Times New Roman"/>
                        </a:rPr>
                        <a:t>83.9%</a:t>
                      </a:r>
                    </a:p>
                  </a:txBody>
                  <a:tcPr>
                    <a:solidFill>
                      <a:srgbClr val="FFFFFF"/>
                    </a:solidFill>
                  </a:tcPr>
                </a:tc>
                <a:tc>
                  <a:txBody>
                    <a:bodyPr/>
                    <a:lstStyle/>
                    <a:p>
                      <a:pPr algn="ctr"/>
                      <a:r>
                        <a:rPr sz="1800" b="0">
                          <a:solidFill>
                            <a:srgbClr val="333333"/>
                          </a:solidFill>
                          <a:latin typeface="Times New Roman"/>
                        </a:rPr>
                        <a:t>42.9%</a:t>
                      </a:r>
                    </a:p>
                  </a:txBody>
                  <a:tcPr>
                    <a:solidFill>
                      <a:srgbClr val="FFFFFF"/>
                    </a:solidFill>
                  </a:tcPr>
                </a:tc>
                <a:tc>
                  <a:txBody>
                    <a:bodyPr/>
                    <a:lstStyle/>
                    <a:p>
                      <a:pPr algn="ctr"/>
                      <a:r>
                        <a:rPr sz="1800" b="0" dirty="0">
                          <a:solidFill>
                            <a:srgbClr val="333333"/>
                          </a:solidFill>
                          <a:latin typeface="Times New Roman"/>
                        </a:rPr>
                        <a:t>High</a:t>
                      </a:r>
                    </a:p>
                  </a:txBody>
                  <a:tcPr>
                    <a:solidFill>
                      <a:srgbClr val="FFFFFF"/>
                    </a:solidFill>
                  </a:tcPr>
                </a:tc>
                <a:extLst>
                  <a:ext uri="{0D108BD9-81ED-4DB2-BD59-A6C34878D82A}">
                    <a16:rowId xmlns:a16="http://schemas.microsoft.com/office/drawing/2014/main" val="10004"/>
                  </a:ext>
                </a:extLst>
              </a:tr>
            </a:tbl>
          </a:graphicData>
        </a:graphic>
      </p:graphicFrame>
      <p:sp>
        <p:nvSpPr>
          <p:cNvPr id="11" name="Rectangle 10">
            <a:extLst>
              <a:ext uri="{FF2B5EF4-FFF2-40B4-BE49-F238E27FC236}">
                <a16:creationId xmlns:a16="http://schemas.microsoft.com/office/drawing/2014/main" id="{A53559B2-86B7-0DAC-222F-B7E4B52561CF}"/>
              </a:ext>
            </a:extLst>
          </p:cNvPr>
          <p:cNvSpPr/>
          <p:nvPr/>
        </p:nvSpPr>
        <p:spPr>
          <a:xfrm>
            <a:off x="15547524" y="15761051"/>
            <a:ext cx="14197046"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latin typeface="Times New Roman"/>
              </a:rPr>
              <a:t>Results: Voice Recognition (ASR)</a:t>
            </a:r>
          </a:p>
        </p:txBody>
      </p:sp>
      <p:sp>
        <p:nvSpPr>
          <p:cNvPr id="12" name="Rectangle 11">
            <a:extLst>
              <a:ext uri="{FF2B5EF4-FFF2-40B4-BE49-F238E27FC236}">
                <a16:creationId xmlns:a16="http://schemas.microsoft.com/office/drawing/2014/main" id="{23B7EE10-3D75-C8C4-51A3-143F9ABD2F6B}"/>
              </a:ext>
            </a:extLst>
          </p:cNvPr>
          <p:cNvSpPr/>
          <p:nvPr/>
        </p:nvSpPr>
        <p:spPr>
          <a:xfrm>
            <a:off x="15547524" y="16611769"/>
            <a:ext cx="14197046" cy="3138903"/>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Tested on synthetic multilingual audio. Offline capability is required:</a:t>
            </a:r>
          </a:p>
          <a:p>
            <a:r>
              <a:rPr sz="2600" dirty="0">
                <a:solidFill>
                  <a:srgbClr val="00702F"/>
                </a:solidFill>
                <a:latin typeface="Times New Roman" panose="02020603050405020304" pitchFamily="18" charset="0"/>
                <a:cs typeface="Times New Roman" panose="02020603050405020304" pitchFamily="18" charset="0"/>
              </a:rPr>
              <a:t>• </a:t>
            </a:r>
            <a:r>
              <a:rPr lang="en-US" sz="2600" dirty="0">
                <a:solidFill>
                  <a:srgbClr val="00702F"/>
                </a:solidFill>
                <a:latin typeface="Times New Roman" panose="02020603050405020304" pitchFamily="18" charset="0"/>
                <a:cs typeface="Times New Roman" panose="02020603050405020304" pitchFamily="18" charset="0"/>
              </a:rPr>
              <a:t>SeamlessM4T v2 (Winner): Delivered fast, direct speech-to-English transcription while maintaining strict 100% offline capability.</a:t>
            </a:r>
          </a:p>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 Sarvam API (Runner-up): </a:t>
            </a:r>
            <a:r>
              <a:rPr lang="en-US" sz="2600" dirty="0">
                <a:solidFill>
                  <a:schemeClr val="tx1"/>
                </a:solidFill>
                <a:latin typeface="Times New Roman" panose="02020603050405020304" pitchFamily="18" charset="0"/>
                <a:cs typeface="Times New Roman" panose="02020603050405020304" pitchFamily="18" charset="0"/>
              </a:rPr>
              <a:t>Achieved the highest overall accuracy  </a:t>
            </a:r>
            <a:r>
              <a:rPr sz="2600" dirty="0">
                <a:solidFill>
                  <a:schemeClr val="tx1"/>
                </a:solidFill>
                <a:latin typeface="Times New Roman" panose="02020603050405020304" pitchFamily="18" charset="0"/>
                <a:cs typeface="Times New Roman" panose="02020603050405020304" pitchFamily="18" charset="0"/>
              </a:rPr>
              <a:t>but requires internet (API).</a:t>
            </a:r>
          </a:p>
          <a:p>
            <a:r>
              <a:rPr lang="en-US" sz="2600" dirty="0">
                <a:solidFill>
                  <a:schemeClr val="tx1"/>
                </a:solidFill>
                <a:latin typeface="Times New Roman" panose="02020603050405020304" pitchFamily="18" charset="0"/>
                <a:cs typeface="Times New Roman" panose="02020603050405020304" pitchFamily="18" charset="0"/>
              </a:rPr>
              <a:t>• OpenAI Whisper (Failed): Struggled with low-resource Indian languages, failing heavily on Telugu and Marathi audio inputs.</a:t>
            </a:r>
          </a:p>
          <a:p>
            <a:r>
              <a:rPr lang="en-US" sz="2600" dirty="0">
                <a:solidFill>
                  <a:schemeClr val="tx1"/>
                </a:solidFill>
                <a:latin typeface="Times New Roman" panose="02020603050405020304" pitchFamily="18" charset="0"/>
                <a:cs typeface="Times New Roman" panose="02020603050405020304" pitchFamily="18" charset="0"/>
              </a:rPr>
              <a:t>• Google Speech (Failed): Provided moderate accuracy but requires internet (API).</a:t>
            </a:r>
          </a:p>
        </p:txBody>
      </p:sp>
      <p:graphicFrame>
        <p:nvGraphicFramePr>
          <p:cNvPr id="14" name="Table 13">
            <a:extLst>
              <a:ext uri="{FF2B5EF4-FFF2-40B4-BE49-F238E27FC236}">
                <a16:creationId xmlns:a16="http://schemas.microsoft.com/office/drawing/2014/main" id="{64132EE1-4CC4-EBE4-8F4F-9F62E6944BA4}"/>
              </a:ext>
            </a:extLst>
          </p:cNvPr>
          <p:cNvGraphicFramePr>
            <a:graphicFrameLocks noGrp="1"/>
          </p:cNvGraphicFramePr>
          <p:nvPr>
            <p:extLst>
              <p:ext uri="{D42A27DB-BD31-4B8C-83A1-F6EECF244321}">
                <p14:modId xmlns:p14="http://schemas.microsoft.com/office/powerpoint/2010/main" val="99052211"/>
              </p:ext>
            </p:extLst>
          </p:nvPr>
        </p:nvGraphicFramePr>
        <p:xfrm>
          <a:off x="15547517" y="19924272"/>
          <a:ext cx="14197054" cy="2382015"/>
        </p:xfrm>
        <a:graphic>
          <a:graphicData uri="http://schemas.openxmlformats.org/drawingml/2006/table">
            <a:tbl>
              <a:tblPr firstRow="1" bandRow="1">
                <a:tableStyleId>{5C22544A-7EE6-4342-B048-85BDC9FD1C3A}</a:tableStyleId>
              </a:tblPr>
              <a:tblGrid>
                <a:gridCol w="5070376">
                  <a:extLst>
                    <a:ext uri="{9D8B030D-6E8A-4147-A177-3AD203B41FA5}">
                      <a16:colId xmlns:a16="http://schemas.microsoft.com/office/drawing/2014/main" val="20000"/>
                    </a:ext>
                  </a:extLst>
                </a:gridCol>
                <a:gridCol w="3042226">
                  <a:extLst>
                    <a:ext uri="{9D8B030D-6E8A-4147-A177-3AD203B41FA5}">
                      <a16:colId xmlns:a16="http://schemas.microsoft.com/office/drawing/2014/main" val="20001"/>
                    </a:ext>
                  </a:extLst>
                </a:gridCol>
                <a:gridCol w="3042226">
                  <a:extLst>
                    <a:ext uri="{9D8B030D-6E8A-4147-A177-3AD203B41FA5}">
                      <a16:colId xmlns:a16="http://schemas.microsoft.com/office/drawing/2014/main" val="20002"/>
                    </a:ext>
                  </a:extLst>
                </a:gridCol>
                <a:gridCol w="3042226">
                  <a:extLst>
                    <a:ext uri="{9D8B030D-6E8A-4147-A177-3AD203B41FA5}">
                      <a16:colId xmlns:a16="http://schemas.microsoft.com/office/drawing/2014/main" val="20003"/>
                    </a:ext>
                  </a:extLst>
                </a:gridCol>
              </a:tblGrid>
              <a:tr h="476403">
                <a:tc>
                  <a:txBody>
                    <a:bodyPr/>
                    <a:lstStyle/>
                    <a:p>
                      <a:pPr algn="ctr"/>
                      <a:r>
                        <a:rPr sz="2000" b="1">
                          <a:solidFill>
                            <a:srgbClr val="FFFFFF"/>
                          </a:solidFill>
                          <a:latin typeface="Times New Roman"/>
                        </a:rPr>
                        <a:t>Model</a:t>
                      </a:r>
                    </a:p>
                  </a:txBody>
                  <a:tcPr>
                    <a:solidFill>
                      <a:srgbClr val="2E75B6"/>
                    </a:solidFill>
                  </a:tcPr>
                </a:tc>
                <a:tc>
                  <a:txBody>
                    <a:bodyPr/>
                    <a:lstStyle/>
                    <a:p>
                      <a:pPr algn="ctr"/>
                      <a:r>
                        <a:rPr sz="2000" b="1">
                          <a:solidFill>
                            <a:srgbClr val="FFFFFF"/>
                          </a:solidFill>
                          <a:latin typeface="Times New Roman"/>
                        </a:rPr>
                        <a:t>Pass Rate</a:t>
                      </a:r>
                    </a:p>
                  </a:txBody>
                  <a:tcPr>
                    <a:solidFill>
                      <a:srgbClr val="2E75B6"/>
                    </a:solidFill>
                  </a:tcPr>
                </a:tc>
                <a:tc>
                  <a:txBody>
                    <a:bodyPr/>
                    <a:lstStyle/>
                    <a:p>
                      <a:pPr algn="ctr"/>
                      <a:r>
                        <a:rPr sz="2000" b="1">
                          <a:solidFill>
                            <a:srgbClr val="FFFFFF"/>
                          </a:solidFill>
                          <a:latin typeface="Times New Roman"/>
                        </a:rPr>
                        <a:t>WER</a:t>
                      </a:r>
                    </a:p>
                  </a:txBody>
                  <a:tcPr>
                    <a:solidFill>
                      <a:srgbClr val="2E75B6"/>
                    </a:solidFill>
                  </a:tcPr>
                </a:tc>
                <a:tc>
                  <a:txBody>
                    <a:bodyPr/>
                    <a:lstStyle/>
                    <a:p>
                      <a:pPr algn="ctr"/>
                      <a:r>
                        <a:rPr sz="2000" b="1" dirty="0">
                          <a:solidFill>
                            <a:srgbClr val="FFFFFF"/>
                          </a:solidFill>
                          <a:latin typeface="Times New Roman"/>
                        </a:rPr>
                        <a:t>Type</a:t>
                      </a:r>
                    </a:p>
                  </a:txBody>
                  <a:tcPr>
                    <a:solidFill>
                      <a:srgbClr val="2E75B6"/>
                    </a:solidFill>
                  </a:tcPr>
                </a:tc>
                <a:extLst>
                  <a:ext uri="{0D108BD9-81ED-4DB2-BD59-A6C34878D82A}">
                    <a16:rowId xmlns:a16="http://schemas.microsoft.com/office/drawing/2014/main" val="10000"/>
                  </a:ext>
                </a:extLst>
              </a:tr>
              <a:tr h="476403">
                <a:tc>
                  <a:txBody>
                    <a:bodyPr/>
                    <a:lstStyle/>
                    <a:p>
                      <a:pPr algn="l"/>
                      <a:r>
                        <a:rPr sz="1800" b="0" dirty="0">
                          <a:solidFill>
                            <a:srgbClr val="333333"/>
                          </a:solidFill>
                          <a:latin typeface="Times New Roman"/>
                        </a:rPr>
                        <a:t>Sarvam API</a:t>
                      </a:r>
                    </a:p>
                  </a:txBody>
                  <a:tcPr>
                    <a:solidFill>
                      <a:srgbClr val="D6E4F0"/>
                    </a:solidFill>
                  </a:tcPr>
                </a:tc>
                <a:tc>
                  <a:txBody>
                    <a:bodyPr/>
                    <a:lstStyle/>
                    <a:p>
                      <a:pPr algn="ctr"/>
                      <a:r>
                        <a:rPr sz="1800" b="0">
                          <a:solidFill>
                            <a:srgbClr val="333333"/>
                          </a:solidFill>
                          <a:latin typeface="Times New Roman"/>
                        </a:rPr>
                        <a:t>83.9%</a:t>
                      </a:r>
                    </a:p>
                  </a:txBody>
                  <a:tcPr>
                    <a:solidFill>
                      <a:srgbClr val="D6E4F0"/>
                    </a:solidFill>
                  </a:tcPr>
                </a:tc>
                <a:tc>
                  <a:txBody>
                    <a:bodyPr/>
                    <a:lstStyle/>
                    <a:p>
                      <a:pPr algn="ctr"/>
                      <a:r>
                        <a:rPr sz="1800" b="0">
                          <a:solidFill>
                            <a:srgbClr val="333333"/>
                          </a:solidFill>
                          <a:latin typeface="Times New Roman"/>
                        </a:rPr>
                        <a:t>0.339</a:t>
                      </a:r>
                    </a:p>
                  </a:txBody>
                  <a:tcPr>
                    <a:solidFill>
                      <a:srgbClr val="D6E4F0"/>
                    </a:solidFill>
                  </a:tcPr>
                </a:tc>
                <a:tc>
                  <a:txBody>
                    <a:bodyPr/>
                    <a:lstStyle/>
                    <a:p>
                      <a:pPr algn="ctr"/>
                      <a:r>
                        <a:rPr sz="1800" b="0" dirty="0">
                          <a:solidFill>
                            <a:srgbClr val="333333"/>
                          </a:solidFill>
                          <a:latin typeface="Times New Roman"/>
                        </a:rPr>
                        <a:t>Cloud</a:t>
                      </a:r>
                    </a:p>
                  </a:txBody>
                  <a:tcPr>
                    <a:solidFill>
                      <a:srgbClr val="D6E4F0"/>
                    </a:solidFill>
                  </a:tcPr>
                </a:tc>
                <a:extLst>
                  <a:ext uri="{0D108BD9-81ED-4DB2-BD59-A6C34878D82A}">
                    <a16:rowId xmlns:a16="http://schemas.microsoft.com/office/drawing/2014/main" val="10001"/>
                  </a:ext>
                </a:extLst>
              </a:tr>
              <a:tr h="476403">
                <a:tc>
                  <a:txBody>
                    <a:bodyPr/>
                    <a:lstStyle/>
                    <a:p>
                      <a:pPr algn="l"/>
                      <a:r>
                        <a:rPr sz="1800" b="1">
                          <a:solidFill>
                            <a:srgbClr val="007030"/>
                          </a:solidFill>
                          <a:latin typeface="Times New Roman"/>
                        </a:rPr>
                        <a:t>SeamlessM4T v2</a:t>
                      </a:r>
                    </a:p>
                  </a:txBody>
                  <a:tcPr>
                    <a:solidFill>
                      <a:srgbClr val="FFFFFF"/>
                    </a:solidFill>
                  </a:tcPr>
                </a:tc>
                <a:tc>
                  <a:txBody>
                    <a:bodyPr/>
                    <a:lstStyle/>
                    <a:p>
                      <a:pPr algn="ctr"/>
                      <a:r>
                        <a:rPr sz="1800" b="1">
                          <a:solidFill>
                            <a:srgbClr val="007030"/>
                          </a:solidFill>
                          <a:latin typeface="Times New Roman"/>
                        </a:rPr>
                        <a:t>82.1%</a:t>
                      </a:r>
                    </a:p>
                  </a:txBody>
                  <a:tcPr>
                    <a:solidFill>
                      <a:srgbClr val="FFFFFF"/>
                    </a:solidFill>
                  </a:tcPr>
                </a:tc>
                <a:tc>
                  <a:txBody>
                    <a:bodyPr/>
                    <a:lstStyle/>
                    <a:p>
                      <a:pPr algn="ctr"/>
                      <a:r>
                        <a:rPr sz="1800" b="1">
                          <a:solidFill>
                            <a:srgbClr val="007030"/>
                          </a:solidFill>
                          <a:latin typeface="Times New Roman"/>
                        </a:rPr>
                        <a:t>0.470</a:t>
                      </a:r>
                    </a:p>
                  </a:txBody>
                  <a:tcPr>
                    <a:solidFill>
                      <a:srgbClr val="FFFFFF"/>
                    </a:solidFill>
                  </a:tcPr>
                </a:tc>
                <a:tc>
                  <a:txBody>
                    <a:bodyPr/>
                    <a:lstStyle/>
                    <a:p>
                      <a:pPr algn="ctr"/>
                      <a:r>
                        <a:rPr sz="1800" b="1">
                          <a:solidFill>
                            <a:srgbClr val="007030"/>
                          </a:solidFill>
                          <a:latin typeface="Times New Roman"/>
                        </a:rPr>
                        <a:t>Offline</a:t>
                      </a:r>
                    </a:p>
                  </a:txBody>
                  <a:tcPr>
                    <a:solidFill>
                      <a:srgbClr val="FFFFFF"/>
                    </a:solidFill>
                  </a:tcPr>
                </a:tc>
                <a:extLst>
                  <a:ext uri="{0D108BD9-81ED-4DB2-BD59-A6C34878D82A}">
                    <a16:rowId xmlns:a16="http://schemas.microsoft.com/office/drawing/2014/main" val="10002"/>
                  </a:ext>
                </a:extLst>
              </a:tr>
              <a:tr h="476403">
                <a:tc>
                  <a:txBody>
                    <a:bodyPr/>
                    <a:lstStyle/>
                    <a:p>
                      <a:pPr algn="l"/>
                      <a:r>
                        <a:rPr sz="1800" b="0">
                          <a:solidFill>
                            <a:srgbClr val="333333"/>
                          </a:solidFill>
                          <a:latin typeface="Times New Roman"/>
                        </a:rPr>
                        <a:t>Google Speech</a:t>
                      </a:r>
                    </a:p>
                  </a:txBody>
                  <a:tcPr>
                    <a:solidFill>
                      <a:srgbClr val="D6E4F0"/>
                    </a:solidFill>
                  </a:tcPr>
                </a:tc>
                <a:tc>
                  <a:txBody>
                    <a:bodyPr/>
                    <a:lstStyle/>
                    <a:p>
                      <a:pPr algn="ctr"/>
                      <a:r>
                        <a:rPr sz="1800" b="0">
                          <a:solidFill>
                            <a:srgbClr val="333333"/>
                          </a:solidFill>
                          <a:latin typeface="Times New Roman"/>
                        </a:rPr>
                        <a:t>78.6%</a:t>
                      </a:r>
                    </a:p>
                  </a:txBody>
                  <a:tcPr>
                    <a:solidFill>
                      <a:srgbClr val="D6E4F0"/>
                    </a:solidFill>
                  </a:tcPr>
                </a:tc>
                <a:tc>
                  <a:txBody>
                    <a:bodyPr/>
                    <a:lstStyle/>
                    <a:p>
                      <a:pPr algn="ctr"/>
                      <a:r>
                        <a:rPr sz="1800" b="0">
                          <a:solidFill>
                            <a:srgbClr val="333333"/>
                          </a:solidFill>
                          <a:latin typeface="Times New Roman"/>
                        </a:rPr>
                        <a:t>0.514</a:t>
                      </a:r>
                    </a:p>
                  </a:txBody>
                  <a:tcPr>
                    <a:solidFill>
                      <a:srgbClr val="D6E4F0"/>
                    </a:solidFill>
                  </a:tcPr>
                </a:tc>
                <a:tc>
                  <a:txBody>
                    <a:bodyPr/>
                    <a:lstStyle/>
                    <a:p>
                      <a:pPr algn="ctr"/>
                      <a:r>
                        <a:rPr sz="1800" b="0">
                          <a:solidFill>
                            <a:srgbClr val="333333"/>
                          </a:solidFill>
                          <a:latin typeface="Times New Roman"/>
                        </a:rPr>
                        <a:t>Cloud</a:t>
                      </a:r>
                    </a:p>
                  </a:txBody>
                  <a:tcPr>
                    <a:solidFill>
                      <a:srgbClr val="D6E4F0"/>
                    </a:solidFill>
                  </a:tcPr>
                </a:tc>
                <a:extLst>
                  <a:ext uri="{0D108BD9-81ED-4DB2-BD59-A6C34878D82A}">
                    <a16:rowId xmlns:a16="http://schemas.microsoft.com/office/drawing/2014/main" val="10003"/>
                  </a:ext>
                </a:extLst>
              </a:tr>
              <a:tr h="476403">
                <a:tc>
                  <a:txBody>
                    <a:bodyPr/>
                    <a:lstStyle/>
                    <a:p>
                      <a:pPr algn="l"/>
                      <a:r>
                        <a:rPr sz="1800" b="0">
                          <a:solidFill>
                            <a:srgbClr val="333333"/>
                          </a:solidFill>
                          <a:latin typeface="Times New Roman"/>
                        </a:rPr>
                        <a:t>OpenAI Whisper</a:t>
                      </a:r>
                    </a:p>
                  </a:txBody>
                  <a:tcPr>
                    <a:solidFill>
                      <a:srgbClr val="FFFFFF"/>
                    </a:solidFill>
                  </a:tcPr>
                </a:tc>
                <a:tc>
                  <a:txBody>
                    <a:bodyPr/>
                    <a:lstStyle/>
                    <a:p>
                      <a:pPr algn="ctr"/>
                      <a:r>
                        <a:rPr sz="1800" b="0" dirty="0">
                          <a:solidFill>
                            <a:srgbClr val="333333"/>
                          </a:solidFill>
                          <a:latin typeface="Times New Roman"/>
                        </a:rPr>
                        <a:t>66.1%</a:t>
                      </a:r>
                    </a:p>
                  </a:txBody>
                  <a:tcPr>
                    <a:solidFill>
                      <a:srgbClr val="FFFFFF"/>
                    </a:solidFill>
                  </a:tcPr>
                </a:tc>
                <a:tc>
                  <a:txBody>
                    <a:bodyPr/>
                    <a:lstStyle/>
                    <a:p>
                      <a:pPr algn="ctr"/>
                      <a:r>
                        <a:rPr sz="1800" b="0">
                          <a:solidFill>
                            <a:srgbClr val="333333"/>
                          </a:solidFill>
                          <a:latin typeface="Times New Roman"/>
                        </a:rPr>
                        <a:t>0.632</a:t>
                      </a:r>
                    </a:p>
                  </a:txBody>
                  <a:tcPr>
                    <a:solidFill>
                      <a:srgbClr val="FFFFFF"/>
                    </a:solidFill>
                  </a:tcPr>
                </a:tc>
                <a:tc>
                  <a:txBody>
                    <a:bodyPr/>
                    <a:lstStyle/>
                    <a:p>
                      <a:pPr algn="ctr"/>
                      <a:r>
                        <a:rPr sz="1800" b="0" dirty="0">
                          <a:solidFill>
                            <a:srgbClr val="333333"/>
                          </a:solidFill>
                          <a:latin typeface="Times New Roman"/>
                        </a:rPr>
                        <a:t>Offline</a:t>
                      </a:r>
                    </a:p>
                  </a:txBody>
                  <a:tcPr>
                    <a:solidFill>
                      <a:srgbClr val="FFFFFF"/>
                    </a:solidFill>
                  </a:tcPr>
                </a:tc>
                <a:extLst>
                  <a:ext uri="{0D108BD9-81ED-4DB2-BD59-A6C34878D82A}">
                    <a16:rowId xmlns:a16="http://schemas.microsoft.com/office/drawing/2014/main" val="10004"/>
                  </a:ext>
                </a:extLst>
              </a:tr>
            </a:tbl>
          </a:graphicData>
        </a:graphic>
      </p:graphicFrame>
      <p:sp>
        <p:nvSpPr>
          <p:cNvPr id="15" name="Rectangle 14">
            <a:extLst>
              <a:ext uri="{FF2B5EF4-FFF2-40B4-BE49-F238E27FC236}">
                <a16:creationId xmlns:a16="http://schemas.microsoft.com/office/drawing/2014/main" id="{5510CFEE-6608-E625-0771-D9A0CF64247E}"/>
              </a:ext>
            </a:extLst>
          </p:cNvPr>
          <p:cNvSpPr/>
          <p:nvPr/>
        </p:nvSpPr>
        <p:spPr>
          <a:xfrm>
            <a:off x="899544" y="28240186"/>
            <a:ext cx="14356080"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latin typeface="Times New Roman"/>
              </a:rPr>
              <a:t>The Final End-to-End App</a:t>
            </a:r>
          </a:p>
        </p:txBody>
      </p:sp>
      <p:sp>
        <p:nvSpPr>
          <p:cNvPr id="16" name="Rectangle 15">
            <a:extLst>
              <a:ext uri="{FF2B5EF4-FFF2-40B4-BE49-F238E27FC236}">
                <a16:creationId xmlns:a16="http://schemas.microsoft.com/office/drawing/2014/main" id="{27583157-DA35-507A-110F-41ABB66957D9}"/>
              </a:ext>
            </a:extLst>
          </p:cNvPr>
          <p:cNvSpPr/>
          <p:nvPr/>
        </p:nvSpPr>
        <p:spPr>
          <a:xfrm>
            <a:off x="899544" y="28971706"/>
            <a:ext cx="14356080" cy="5341914"/>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The final offline product is a fully integrated pipeline that natively supports spatial routing and policy lookups:</a:t>
            </a:r>
          </a:p>
          <a:p>
            <a:r>
              <a:rPr sz="2600" dirty="0">
                <a:solidFill>
                  <a:schemeClr val="tx1"/>
                </a:solidFill>
                <a:latin typeface="Times New Roman" panose="02020603050405020304" pitchFamily="18" charset="0"/>
                <a:cs typeface="Times New Roman" panose="02020603050405020304" pitchFamily="18" charset="0"/>
              </a:rPr>
              <a:t>1. User Input: </a:t>
            </a:r>
            <a:r>
              <a:rPr lang="en-US" sz="2600" dirty="0">
                <a:solidFill>
                  <a:schemeClr val="tx1"/>
                </a:solidFill>
                <a:latin typeface="Times New Roman" panose="02020603050405020304" pitchFamily="18" charset="0"/>
                <a:cs typeface="Times New Roman" panose="02020603050405020304" pitchFamily="18" charset="0"/>
              </a:rPr>
              <a:t>User provides a query via Voice (Microphone) or Text (Keyboard) in their native language.</a:t>
            </a:r>
          </a:p>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2. </a:t>
            </a:r>
            <a:r>
              <a:rPr lang="en-US" sz="2600" dirty="0">
                <a:solidFill>
                  <a:schemeClr val="tx1"/>
                </a:solidFill>
                <a:latin typeface="Times New Roman" panose="02020603050405020304" pitchFamily="18" charset="0"/>
                <a:cs typeface="Times New Roman" panose="02020603050405020304" pitchFamily="18" charset="0"/>
              </a:rPr>
              <a:t>Audio/Text Processing: SeamlessM4T instantly transcribes audio and translates the native query (Voice or Text) to English</a:t>
            </a:r>
          </a:p>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3. Small-Talk Filter: Qwen intercepts small talk (e.g., 'Hello') without wasting database time.</a:t>
            </a:r>
          </a:p>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4. Generating SQL: Qwen translates spatial intent into strict </a:t>
            </a:r>
            <a:r>
              <a:rPr sz="2600" dirty="0" err="1">
                <a:solidFill>
                  <a:schemeClr val="tx1"/>
                </a:solidFill>
                <a:latin typeface="Times New Roman" panose="02020603050405020304" pitchFamily="18" charset="0"/>
                <a:cs typeface="Times New Roman" panose="02020603050405020304" pitchFamily="18" charset="0"/>
              </a:rPr>
              <a:t>PostGIS</a:t>
            </a:r>
            <a:r>
              <a:rPr sz="2600" dirty="0">
                <a:solidFill>
                  <a:schemeClr val="tx1"/>
                </a:solidFill>
                <a:latin typeface="Times New Roman" panose="02020603050405020304" pitchFamily="18" charset="0"/>
                <a:cs typeface="Times New Roman" panose="02020603050405020304" pitchFamily="18" charset="0"/>
              </a:rPr>
              <a:t> code.</a:t>
            </a:r>
          </a:p>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5. Database Search: SQL is executed on the local </a:t>
            </a:r>
            <a:r>
              <a:rPr sz="2600" dirty="0" err="1">
                <a:solidFill>
                  <a:schemeClr val="tx1"/>
                </a:solidFill>
                <a:latin typeface="Times New Roman" panose="02020603050405020304" pitchFamily="18" charset="0"/>
                <a:cs typeface="Times New Roman" panose="02020603050405020304" pitchFamily="18" charset="0"/>
              </a:rPr>
              <a:t>PostGIS</a:t>
            </a:r>
            <a:r>
              <a:rPr sz="2600" dirty="0">
                <a:solidFill>
                  <a:schemeClr val="tx1"/>
                </a:solidFill>
                <a:latin typeface="Times New Roman" panose="02020603050405020304" pitchFamily="18" charset="0"/>
                <a:cs typeface="Times New Roman" panose="02020603050405020304" pitchFamily="18" charset="0"/>
              </a:rPr>
              <a:t> map, returning coordinates.</a:t>
            </a:r>
          </a:p>
          <a:p>
            <a:r>
              <a:rPr sz="2600" dirty="0">
                <a:solidFill>
                  <a:schemeClr val="tx1"/>
                </a:solidFill>
                <a:latin typeface="Times New Roman" panose="02020603050405020304" pitchFamily="18" charset="0"/>
                <a:cs typeface="Times New Roman" panose="02020603050405020304" pitchFamily="18" charset="0"/>
              </a:rPr>
              <a:t>6. Reverse Translation: </a:t>
            </a:r>
            <a:r>
              <a:rPr lang="en-US" sz="2600" dirty="0">
                <a:solidFill>
                  <a:schemeClr val="tx1"/>
                </a:solidFill>
                <a:latin typeface="Times New Roman" panose="02020603050405020304" pitchFamily="18" charset="0"/>
                <a:cs typeface="Times New Roman" panose="02020603050405020304" pitchFamily="18" charset="0"/>
              </a:rPr>
              <a:t>Qwen summarizes results; SeamlessM4T translates the English summary back to the user's native language.</a:t>
            </a:r>
          </a:p>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7. Map &amp; Voice Output: </a:t>
            </a:r>
            <a:r>
              <a:rPr lang="en-US" sz="2600" dirty="0">
                <a:solidFill>
                  <a:schemeClr val="tx1"/>
                </a:solidFill>
                <a:latin typeface="Times New Roman" panose="02020603050405020304" pitchFamily="18" charset="0"/>
                <a:cs typeface="Times New Roman" panose="02020603050405020304" pitchFamily="18" charset="0"/>
              </a:rPr>
              <a:t>Locations are plotted interactively on a map; SeamlessM4T generates a synthetic voice clip (TTS Audio) and outputs the Translated Text.</a:t>
            </a:r>
          </a:p>
        </p:txBody>
      </p:sp>
      <p:sp>
        <p:nvSpPr>
          <p:cNvPr id="17" name="Rectangle 16">
            <a:extLst>
              <a:ext uri="{FF2B5EF4-FFF2-40B4-BE49-F238E27FC236}">
                <a16:creationId xmlns:a16="http://schemas.microsoft.com/office/drawing/2014/main" id="{C6D19429-F159-758A-2C1B-64A62D5FEDD3}"/>
              </a:ext>
            </a:extLst>
          </p:cNvPr>
          <p:cNvSpPr/>
          <p:nvPr/>
        </p:nvSpPr>
        <p:spPr>
          <a:xfrm>
            <a:off x="15547520" y="32336690"/>
            <a:ext cx="14197058"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dirty="0">
                <a:solidFill>
                  <a:srgbClr val="FFFFFF"/>
                </a:solidFill>
                <a:latin typeface="Times New Roman"/>
              </a:rPr>
              <a:t>Conclusion</a:t>
            </a:r>
          </a:p>
        </p:txBody>
      </p:sp>
      <p:sp>
        <p:nvSpPr>
          <p:cNvPr id="19" name="Rectangle 18">
            <a:extLst>
              <a:ext uri="{FF2B5EF4-FFF2-40B4-BE49-F238E27FC236}">
                <a16:creationId xmlns:a16="http://schemas.microsoft.com/office/drawing/2014/main" id="{20A341C8-7434-A8D4-B8E2-75CE43218119}"/>
              </a:ext>
            </a:extLst>
          </p:cNvPr>
          <p:cNvSpPr/>
          <p:nvPr/>
        </p:nvSpPr>
        <p:spPr>
          <a:xfrm>
            <a:off x="15547520" y="33068210"/>
            <a:ext cx="14197058" cy="2608023"/>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r>
              <a:rPr lang="en-US" sz="2600" dirty="0">
                <a:solidFill>
                  <a:schemeClr val="tx1"/>
                </a:solidFill>
                <a:latin typeface="Times New Roman" panose="02020603050405020304" pitchFamily="18" charset="0"/>
                <a:cs typeface="Times New Roman" panose="02020603050405020304" pitchFamily="18" charset="0"/>
              </a:rPr>
              <a:t>By combining Qwen2.5-Coder's coding ability with SeamlessM4T's translation skills, we successfully proved that rigid text-search can be abandoned in favor of intelligent, mathematical map routing. Most importantly, by integrating voice recognition and interactive maps, we created an engine that lets humans search the world exactly how they think about it—conversationally and naturally.</a:t>
            </a:r>
          </a:p>
          <a:p>
            <a:endParaRPr sz="2600" b="0" dirty="0">
              <a:solidFill>
                <a:srgbClr val="333333"/>
              </a:solidFill>
              <a:latin typeface="Times New Roman" panose="02020603050405020304" pitchFamily="18" charset="0"/>
              <a:cs typeface="Times New Roman" panose="02020603050405020304" pitchFamily="18" charset="0"/>
            </a:endParaRPr>
          </a:p>
          <a:p>
            <a:pPr algn="just">
              <a:spcAft>
                <a:spcPts val="400"/>
              </a:spcAft>
            </a:pPr>
            <a:r>
              <a:rPr sz="2600" b="1" dirty="0">
                <a:solidFill>
                  <a:srgbClr val="007030"/>
                </a:solidFill>
                <a:latin typeface="Times New Roman" panose="02020603050405020304" pitchFamily="18" charset="0"/>
                <a:cs typeface="Times New Roman" panose="02020603050405020304" pitchFamily="18" charset="0"/>
              </a:rPr>
              <a:t>Key Achievement: 78% pass rate on complex queries, outperforming SQL models.</a:t>
            </a:r>
            <a:r>
              <a:rPr sz="2600" b="1" dirty="0">
                <a:solidFill>
                  <a:schemeClr val="tx1"/>
                </a:solidFill>
                <a:latin typeface="Times New Roman" panose="02020603050405020304" pitchFamily="18" charset="0"/>
                <a:cs typeface="Times New Roman" panose="02020603050405020304" pitchFamily="18" charset="0"/>
              </a:rPr>
              <a:t> </a:t>
            </a:r>
            <a:endParaRPr lang="en-US" sz="2600" dirty="0">
              <a:solidFill>
                <a:schemeClr val="tx1"/>
              </a:solidFill>
              <a:latin typeface="Times New Roman" panose="02020603050405020304" pitchFamily="18" charset="0"/>
              <a:cs typeface="Times New Roman" panose="02020603050405020304" pitchFamily="18" charset="0"/>
            </a:endParaRPr>
          </a:p>
        </p:txBody>
      </p:sp>
      <p:sp>
        <p:nvSpPr>
          <p:cNvPr id="20" name="Rectangle 19">
            <a:extLst>
              <a:ext uri="{FF2B5EF4-FFF2-40B4-BE49-F238E27FC236}">
                <a16:creationId xmlns:a16="http://schemas.microsoft.com/office/drawing/2014/main" id="{BCCA2E2C-D5DE-19AF-2F56-F60EFD60C61E}"/>
              </a:ext>
            </a:extLst>
          </p:cNvPr>
          <p:cNvSpPr/>
          <p:nvPr/>
        </p:nvSpPr>
        <p:spPr>
          <a:xfrm>
            <a:off x="15547517" y="22440530"/>
            <a:ext cx="14197054"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latin typeface="Times New Roman"/>
              </a:rPr>
              <a:t>Interactive Map UI</a:t>
            </a:r>
          </a:p>
        </p:txBody>
      </p:sp>
      <p:sp>
        <p:nvSpPr>
          <p:cNvPr id="24" name="Rectangle 23">
            <a:extLst>
              <a:ext uri="{FF2B5EF4-FFF2-40B4-BE49-F238E27FC236}">
                <a16:creationId xmlns:a16="http://schemas.microsoft.com/office/drawing/2014/main" id="{CD93A79A-FF08-D4C5-C8DE-68F6AEE08E4C}"/>
              </a:ext>
            </a:extLst>
          </p:cNvPr>
          <p:cNvSpPr/>
          <p:nvPr/>
        </p:nvSpPr>
        <p:spPr>
          <a:xfrm>
            <a:off x="15547512" y="23273813"/>
            <a:ext cx="14197058" cy="8911880"/>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UI PHOTO.png">
            <a:extLst>
              <a:ext uri="{FF2B5EF4-FFF2-40B4-BE49-F238E27FC236}">
                <a16:creationId xmlns:a16="http://schemas.microsoft.com/office/drawing/2014/main" id="{81B50512-C428-7F86-0FC6-2758E2B5E1FF}"/>
              </a:ext>
            </a:extLst>
          </p:cNvPr>
          <p:cNvPicPr>
            <a:picLocks noChangeAspect="1"/>
          </p:cNvPicPr>
          <p:nvPr/>
        </p:nvPicPr>
        <p:blipFill>
          <a:blip r:embed="rId3"/>
          <a:stretch>
            <a:fillRect/>
          </a:stretch>
        </p:blipFill>
        <p:spPr>
          <a:xfrm>
            <a:off x="15821836" y="23557089"/>
            <a:ext cx="13620270" cy="8345328"/>
          </a:xfrm>
          <a:prstGeom prst="rect">
            <a:avLst/>
          </a:prstGeom>
        </p:spPr>
      </p:pic>
      <p:sp>
        <p:nvSpPr>
          <p:cNvPr id="32" name="Rectangle 31">
            <a:extLst>
              <a:ext uri="{FF2B5EF4-FFF2-40B4-BE49-F238E27FC236}">
                <a16:creationId xmlns:a16="http://schemas.microsoft.com/office/drawing/2014/main" id="{AB1745B8-C01A-B0BC-6C2F-0BD332F0FBAA}"/>
              </a:ext>
            </a:extLst>
          </p:cNvPr>
          <p:cNvSpPr/>
          <p:nvPr/>
        </p:nvSpPr>
        <p:spPr>
          <a:xfrm>
            <a:off x="872966" y="12881610"/>
            <a:ext cx="14356080"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latin typeface="Times New Roman"/>
              </a:rPr>
              <a:t>Objectives</a:t>
            </a:r>
          </a:p>
        </p:txBody>
      </p:sp>
      <p:sp>
        <p:nvSpPr>
          <p:cNvPr id="33" name="Rectangle 32">
            <a:extLst>
              <a:ext uri="{FF2B5EF4-FFF2-40B4-BE49-F238E27FC236}">
                <a16:creationId xmlns:a16="http://schemas.microsoft.com/office/drawing/2014/main" id="{673F3901-F6C9-952D-7697-8EE4EAE9BCE8}"/>
              </a:ext>
            </a:extLst>
          </p:cNvPr>
          <p:cNvSpPr/>
          <p:nvPr/>
        </p:nvSpPr>
        <p:spPr>
          <a:xfrm>
            <a:off x="872966" y="13613129"/>
            <a:ext cx="14356080" cy="3653355"/>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b="1" dirty="0">
                <a:solidFill>
                  <a:srgbClr val="2E75B6"/>
                </a:solidFill>
                <a:latin typeface="Times New Roman"/>
              </a:rPr>
              <a:t>1. Dynamic Intent Capturing:</a:t>
            </a:r>
          </a:p>
          <a:p>
            <a:pPr algn="just">
              <a:spcAft>
                <a:spcPts val="400"/>
              </a:spcAft>
            </a:pPr>
            <a:r>
              <a:rPr sz="2600" b="0" dirty="0">
                <a:solidFill>
                  <a:srgbClr val="333333"/>
                </a:solidFill>
                <a:latin typeface="Times New Roman"/>
              </a:rPr>
              <a:t>   Translate conversational queries into </a:t>
            </a:r>
            <a:r>
              <a:rPr sz="2600" b="0" dirty="0" err="1">
                <a:solidFill>
                  <a:srgbClr val="333333"/>
                </a:solidFill>
                <a:latin typeface="Times New Roman"/>
              </a:rPr>
              <a:t>PostGIS</a:t>
            </a:r>
            <a:r>
              <a:rPr sz="2600" b="0" dirty="0">
                <a:solidFill>
                  <a:srgbClr val="333333"/>
                </a:solidFill>
                <a:latin typeface="Times New Roman"/>
              </a:rPr>
              <a:t> spatial constraints.</a:t>
            </a:r>
          </a:p>
          <a:p>
            <a:pPr algn="just">
              <a:spcAft>
                <a:spcPts val="400"/>
              </a:spcAft>
            </a:pPr>
            <a:r>
              <a:rPr sz="2600" b="1" dirty="0">
                <a:solidFill>
                  <a:srgbClr val="2E75B6"/>
                </a:solidFill>
                <a:latin typeface="Times New Roman"/>
              </a:rPr>
              <a:t>2. Colloquial Multilingual Translation:</a:t>
            </a:r>
          </a:p>
          <a:p>
            <a:pPr algn="just">
              <a:spcAft>
                <a:spcPts val="400"/>
              </a:spcAft>
            </a:pPr>
            <a:r>
              <a:rPr sz="2600" b="0" dirty="0">
                <a:solidFill>
                  <a:srgbClr val="333333"/>
                </a:solidFill>
                <a:latin typeface="Times New Roman"/>
              </a:rPr>
              <a:t>   Bridge regional Indian dialects/slang to formal English for the SQL AI.</a:t>
            </a:r>
          </a:p>
          <a:p>
            <a:pPr algn="just">
              <a:spcAft>
                <a:spcPts val="400"/>
              </a:spcAft>
            </a:pPr>
            <a:r>
              <a:rPr sz="2600" b="1" dirty="0">
                <a:solidFill>
                  <a:srgbClr val="2E75B6"/>
                </a:solidFill>
                <a:latin typeface="Times New Roman"/>
              </a:rPr>
              <a:t>3. Empirical Evaluation:</a:t>
            </a:r>
          </a:p>
          <a:p>
            <a:pPr algn="just">
              <a:spcAft>
                <a:spcPts val="400"/>
              </a:spcAft>
            </a:pPr>
            <a:r>
              <a:rPr sz="2600" b="0" dirty="0">
                <a:solidFill>
                  <a:srgbClr val="333333"/>
                </a:solidFill>
                <a:latin typeface="Times New Roman"/>
              </a:rPr>
              <a:t>   Validate SQL structure (AST parsing) and live database results (Semantic F1).</a:t>
            </a:r>
          </a:p>
          <a:p>
            <a:pPr algn="just">
              <a:spcAft>
                <a:spcPts val="400"/>
              </a:spcAft>
            </a:pPr>
            <a:r>
              <a:rPr sz="2600" b="1" dirty="0">
                <a:solidFill>
                  <a:srgbClr val="2E75B6"/>
                </a:solidFill>
                <a:latin typeface="Times New Roman"/>
              </a:rPr>
              <a:t>4. End-to-End System Integration:</a:t>
            </a:r>
          </a:p>
          <a:p>
            <a:pPr algn="just">
              <a:spcAft>
                <a:spcPts val="400"/>
              </a:spcAft>
            </a:pPr>
            <a:r>
              <a:rPr sz="2600" b="0" dirty="0">
                <a:solidFill>
                  <a:srgbClr val="333333"/>
                </a:solidFill>
                <a:latin typeface="Times New Roman"/>
              </a:rPr>
              <a:t>   Deploy a 100% offline pipeline for colleges, tourist places, and temples.</a:t>
            </a:r>
          </a:p>
        </p:txBody>
      </p:sp>
      <p:sp>
        <p:nvSpPr>
          <p:cNvPr id="34" name="Rectangle 33">
            <a:extLst>
              <a:ext uri="{FF2B5EF4-FFF2-40B4-BE49-F238E27FC236}">
                <a16:creationId xmlns:a16="http://schemas.microsoft.com/office/drawing/2014/main" id="{FAB0BF73-2D3F-6B5A-5E0C-E509DD052F67}"/>
              </a:ext>
            </a:extLst>
          </p:cNvPr>
          <p:cNvSpPr/>
          <p:nvPr/>
        </p:nvSpPr>
        <p:spPr>
          <a:xfrm>
            <a:off x="899544" y="17573539"/>
            <a:ext cx="14356080"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dirty="0">
                <a:solidFill>
                  <a:srgbClr val="FFFFFF"/>
                </a:solidFill>
                <a:latin typeface="Times New Roman"/>
              </a:rPr>
              <a:t>Dataset Curation (OpenStreetMap)</a:t>
            </a:r>
          </a:p>
        </p:txBody>
      </p:sp>
      <p:sp>
        <p:nvSpPr>
          <p:cNvPr id="35" name="Rectangle 34">
            <a:extLst>
              <a:ext uri="{FF2B5EF4-FFF2-40B4-BE49-F238E27FC236}">
                <a16:creationId xmlns:a16="http://schemas.microsoft.com/office/drawing/2014/main" id="{0B779798-581C-625D-24E9-5AFD3D1169FC}"/>
              </a:ext>
            </a:extLst>
          </p:cNvPr>
          <p:cNvSpPr/>
          <p:nvPr/>
        </p:nvSpPr>
        <p:spPr>
          <a:xfrm>
            <a:off x="899544" y="18305059"/>
            <a:ext cx="14356080" cy="3931920"/>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b="0" dirty="0">
                <a:solidFill>
                  <a:srgbClr val="333333"/>
                </a:solidFill>
                <a:latin typeface="Times New Roman"/>
              </a:rPr>
              <a:t>To rigorously test spatial reasoning and linguistic robustness, we built a local </a:t>
            </a:r>
            <a:r>
              <a:rPr sz="2600" b="0" dirty="0" err="1">
                <a:solidFill>
                  <a:srgbClr val="333333"/>
                </a:solidFill>
                <a:latin typeface="Times New Roman"/>
              </a:rPr>
              <a:t>PostGIS</a:t>
            </a:r>
            <a:r>
              <a:rPr sz="2600" b="0" dirty="0">
                <a:solidFill>
                  <a:srgbClr val="333333"/>
                </a:solidFill>
                <a:latin typeface="Times New Roman"/>
              </a:rPr>
              <a:t> database using OpenStreetMap data (3km radius around IIT Bombay).</a:t>
            </a:r>
          </a:p>
          <a:p>
            <a:pPr algn="just">
              <a:spcAft>
                <a:spcPts val="400"/>
              </a:spcAft>
            </a:pPr>
            <a:endParaRPr sz="2600" b="0" dirty="0">
              <a:solidFill>
                <a:srgbClr val="333333"/>
              </a:solidFill>
              <a:latin typeface="Times New Roman"/>
            </a:endParaRPr>
          </a:p>
          <a:p>
            <a:pPr algn="just">
              <a:spcAft>
                <a:spcPts val="400"/>
              </a:spcAft>
            </a:pPr>
            <a:r>
              <a:rPr sz="2600" b="1" dirty="0">
                <a:solidFill>
                  <a:srgbClr val="2E75B6"/>
                </a:solidFill>
                <a:latin typeface="Times New Roman"/>
              </a:rPr>
              <a:t>1. The English Golden Benchmark:</a:t>
            </a:r>
            <a:endParaRPr lang="en-US" sz="2600" b="1" dirty="0">
              <a:solidFill>
                <a:srgbClr val="2E75B6"/>
              </a:solidFill>
              <a:latin typeface="Times New Roman"/>
            </a:endParaRPr>
          </a:p>
          <a:p>
            <a:pPr algn="just">
              <a:spcAft>
                <a:spcPts val="400"/>
              </a:spcAft>
            </a:pPr>
            <a:r>
              <a:rPr sz="2600" b="0" dirty="0">
                <a:solidFill>
                  <a:srgbClr val="333333"/>
                </a:solidFill>
                <a:latin typeface="Times New Roman"/>
              </a:rPr>
              <a:t>50 complex spatial queries across 5 difficulty tiers (Easy, Medium, Hard, Extra Intent, Extreme Spatial Math) designed to prevent structural redundancy.</a:t>
            </a:r>
          </a:p>
          <a:p>
            <a:pPr algn="just">
              <a:spcAft>
                <a:spcPts val="400"/>
              </a:spcAft>
            </a:pPr>
            <a:r>
              <a:rPr sz="2600" b="1" dirty="0">
                <a:solidFill>
                  <a:srgbClr val="2E75B6"/>
                </a:solidFill>
                <a:latin typeface="Times New Roman"/>
              </a:rPr>
              <a:t>2. The Multilingual Translation Dataset:</a:t>
            </a:r>
          </a:p>
          <a:p>
            <a:pPr algn="just">
              <a:spcAft>
                <a:spcPts val="400"/>
              </a:spcAft>
            </a:pPr>
            <a:r>
              <a:rPr sz="2600" b="0" dirty="0">
                <a:solidFill>
                  <a:srgbClr val="333333"/>
                </a:solidFill>
                <a:latin typeface="Times New Roman"/>
              </a:rPr>
              <a:t>56 complex requests in Hindi, Tamil, Telugu, Marathi, and Punjabi (Native Script, Romanized, and Colloquial Slang) evaluated on text and synthetic audio.</a:t>
            </a:r>
          </a:p>
        </p:txBody>
      </p:sp>
      <p:sp>
        <p:nvSpPr>
          <p:cNvPr id="36" name="Rectangle 35">
            <a:extLst>
              <a:ext uri="{FF2B5EF4-FFF2-40B4-BE49-F238E27FC236}">
                <a16:creationId xmlns:a16="http://schemas.microsoft.com/office/drawing/2014/main" id="{FBE660A7-0A69-8EE5-6E82-9A6B66731EC6}"/>
              </a:ext>
            </a:extLst>
          </p:cNvPr>
          <p:cNvSpPr/>
          <p:nvPr/>
        </p:nvSpPr>
        <p:spPr>
          <a:xfrm>
            <a:off x="899544" y="22374139"/>
            <a:ext cx="14356080"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latin typeface="Times New Roman"/>
              </a:rPr>
              <a:t>Hybrid Evaluation Framework</a:t>
            </a:r>
          </a:p>
        </p:txBody>
      </p:sp>
      <p:sp>
        <p:nvSpPr>
          <p:cNvPr id="37" name="Rectangle 36">
            <a:extLst>
              <a:ext uri="{FF2B5EF4-FFF2-40B4-BE49-F238E27FC236}">
                <a16:creationId xmlns:a16="http://schemas.microsoft.com/office/drawing/2014/main" id="{8CA26797-B5EE-90A2-BF93-D6E2F10265C3}"/>
              </a:ext>
            </a:extLst>
          </p:cNvPr>
          <p:cNvSpPr/>
          <p:nvPr/>
        </p:nvSpPr>
        <p:spPr>
          <a:xfrm>
            <a:off x="899544" y="23130521"/>
            <a:ext cx="14356080" cy="4904653"/>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b="0" dirty="0">
                <a:solidFill>
                  <a:srgbClr val="333333"/>
                </a:solidFill>
                <a:latin typeface="Times New Roman"/>
              </a:rPr>
              <a:t>To rigorously test the Text-to-SQL models, we developed a two-step evaluation pipeline inspired by Spider and BIRD:</a:t>
            </a:r>
          </a:p>
          <a:p>
            <a:pPr algn="just">
              <a:spcAft>
                <a:spcPts val="400"/>
              </a:spcAft>
            </a:pPr>
            <a:r>
              <a:rPr sz="2600" b="1" dirty="0">
                <a:solidFill>
                  <a:srgbClr val="2E75B6"/>
                </a:solidFill>
                <a:latin typeface="Times New Roman"/>
              </a:rPr>
              <a:t>1. Structural Validation (AST Parsing):</a:t>
            </a:r>
            <a:endParaRPr lang="en-US" sz="2600" b="1" dirty="0">
              <a:solidFill>
                <a:srgbClr val="2E75B6"/>
              </a:solidFill>
              <a:latin typeface="Times New Roman"/>
            </a:endParaRPr>
          </a:p>
          <a:p>
            <a:pPr algn="just">
              <a:spcAft>
                <a:spcPts val="400"/>
              </a:spcAft>
            </a:pPr>
            <a:r>
              <a:rPr sz="2600" b="0" dirty="0">
                <a:solidFill>
                  <a:srgbClr val="333333"/>
                </a:solidFill>
                <a:latin typeface="Times New Roman"/>
              </a:rPr>
              <a:t>Using </a:t>
            </a:r>
            <a:r>
              <a:rPr sz="2600" b="0" dirty="0" err="1">
                <a:solidFill>
                  <a:srgbClr val="333333"/>
                </a:solidFill>
                <a:latin typeface="Times New Roman"/>
              </a:rPr>
              <a:t>sqlglot</a:t>
            </a:r>
            <a:r>
              <a:rPr sz="2600" b="0" dirty="0">
                <a:solidFill>
                  <a:srgbClr val="333333"/>
                </a:solidFill>
                <a:latin typeface="Times New Roman"/>
              </a:rPr>
              <a:t>, we parse the generated SQL into an Abstract Syntax Tree to evaluate 7 dimensions (SELECT clauses, spatial JOINs, WHERE logic, ORDER BY, LIMIT, and </a:t>
            </a:r>
            <a:r>
              <a:rPr sz="2600" b="0" dirty="0" err="1">
                <a:solidFill>
                  <a:srgbClr val="333333"/>
                </a:solidFill>
                <a:latin typeface="Times New Roman"/>
              </a:rPr>
              <a:t>PostGIS</a:t>
            </a:r>
            <a:r>
              <a:rPr sz="2600" b="0" dirty="0">
                <a:solidFill>
                  <a:srgbClr val="333333"/>
                </a:solidFill>
                <a:latin typeface="Times New Roman"/>
              </a:rPr>
              <a:t> function accuracy). This ensures safe query structure and prevents hallucinated columns or unbounded data retrieval.</a:t>
            </a:r>
          </a:p>
          <a:p>
            <a:pPr algn="just">
              <a:spcAft>
                <a:spcPts val="400"/>
              </a:spcAft>
            </a:pPr>
            <a:endParaRPr sz="2600" b="0" dirty="0">
              <a:solidFill>
                <a:srgbClr val="333333"/>
              </a:solidFill>
              <a:latin typeface="Times New Roman"/>
            </a:endParaRPr>
          </a:p>
          <a:p>
            <a:pPr algn="just">
              <a:spcAft>
                <a:spcPts val="400"/>
              </a:spcAft>
            </a:pPr>
            <a:r>
              <a:rPr sz="2600" b="1" dirty="0">
                <a:solidFill>
                  <a:srgbClr val="2E75B6"/>
                </a:solidFill>
                <a:latin typeface="Times New Roman"/>
              </a:rPr>
              <a:t>2. Execution Validation (Semantic F1):</a:t>
            </a:r>
            <a:endParaRPr lang="en-US" sz="2600" b="1" dirty="0">
              <a:solidFill>
                <a:srgbClr val="2E75B6"/>
              </a:solidFill>
              <a:latin typeface="Times New Roman"/>
            </a:endParaRPr>
          </a:p>
          <a:p>
            <a:pPr algn="just">
              <a:spcAft>
                <a:spcPts val="400"/>
              </a:spcAft>
            </a:pPr>
            <a:r>
              <a:rPr sz="2600" b="0" dirty="0">
                <a:solidFill>
                  <a:srgbClr val="333333"/>
                </a:solidFill>
                <a:latin typeface="Times New Roman"/>
              </a:rPr>
              <a:t>Structurally safe queries are executed live against a </a:t>
            </a:r>
            <a:r>
              <a:rPr sz="2600" b="0" dirty="0" err="1">
                <a:solidFill>
                  <a:srgbClr val="333333"/>
                </a:solidFill>
                <a:latin typeface="Times New Roman"/>
              </a:rPr>
              <a:t>PostGIS</a:t>
            </a:r>
            <a:r>
              <a:rPr sz="2600" b="0" dirty="0">
                <a:solidFill>
                  <a:srgbClr val="333333"/>
                </a:solidFill>
                <a:latin typeface="Times New Roman"/>
              </a:rPr>
              <a:t> database loaded with OpenStreetMap data. The returned locations are compared against a manually-curated Golden Benchmark to calculate Precision, Recall, and F1 scores, ensuring the spatial math actually works.</a:t>
            </a:r>
          </a:p>
        </p:txBody>
      </p:sp>
      <p:sp>
        <p:nvSpPr>
          <p:cNvPr id="38" name="Rectangle 37">
            <a:extLst>
              <a:ext uri="{FF2B5EF4-FFF2-40B4-BE49-F238E27FC236}">
                <a16:creationId xmlns:a16="http://schemas.microsoft.com/office/drawing/2014/main" id="{C3374C28-4D0C-39CF-9F31-E49100A8561B}"/>
              </a:ext>
            </a:extLst>
          </p:cNvPr>
          <p:cNvSpPr/>
          <p:nvPr/>
        </p:nvSpPr>
        <p:spPr>
          <a:xfrm>
            <a:off x="872966" y="34498272"/>
            <a:ext cx="14356080"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dirty="0">
                <a:solidFill>
                  <a:srgbClr val="FFFFFF"/>
                </a:solidFill>
                <a:latin typeface="Times New Roman"/>
              </a:rPr>
              <a:t>System Architecture</a:t>
            </a:r>
          </a:p>
        </p:txBody>
      </p:sp>
      <p:sp>
        <p:nvSpPr>
          <p:cNvPr id="39" name="Rectangle 38">
            <a:extLst>
              <a:ext uri="{FF2B5EF4-FFF2-40B4-BE49-F238E27FC236}">
                <a16:creationId xmlns:a16="http://schemas.microsoft.com/office/drawing/2014/main" id="{6E4218F3-27A7-36C3-0B42-5F2E5AED3C72}"/>
              </a:ext>
            </a:extLst>
          </p:cNvPr>
          <p:cNvSpPr/>
          <p:nvPr/>
        </p:nvSpPr>
        <p:spPr>
          <a:xfrm>
            <a:off x="872966" y="35323004"/>
            <a:ext cx="14356080" cy="5086824"/>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a:extLst>
              <a:ext uri="{FF2B5EF4-FFF2-40B4-BE49-F238E27FC236}">
                <a16:creationId xmlns:a16="http://schemas.microsoft.com/office/drawing/2014/main" id="{1E706B35-6584-6339-CD65-532066F8B86F}"/>
              </a:ext>
            </a:extLst>
          </p:cNvPr>
          <p:cNvPicPr>
            <a:picLocks noChangeAspect="1"/>
          </p:cNvPicPr>
          <p:nvPr/>
        </p:nvPicPr>
        <p:blipFill>
          <a:blip r:embed="rId4"/>
          <a:stretch>
            <a:fillRect/>
          </a:stretch>
        </p:blipFill>
        <p:spPr>
          <a:xfrm>
            <a:off x="945264" y="35356082"/>
            <a:ext cx="14238062" cy="5008237"/>
          </a:xfrm>
          <a:prstGeom prst="rect">
            <a:avLst/>
          </a:prstGeom>
        </p:spPr>
      </p:pic>
      <p:sp>
        <p:nvSpPr>
          <p:cNvPr id="26" name="TextBox 25">
            <a:extLst>
              <a:ext uri="{FF2B5EF4-FFF2-40B4-BE49-F238E27FC236}">
                <a16:creationId xmlns:a16="http://schemas.microsoft.com/office/drawing/2014/main" id="{61F1EE1A-6505-ED9B-DB7B-CAD85B8DE354}"/>
              </a:ext>
            </a:extLst>
          </p:cNvPr>
          <p:cNvSpPr txBox="1"/>
          <p:nvPr/>
        </p:nvSpPr>
        <p:spPr>
          <a:xfrm>
            <a:off x="8964270" y="139218"/>
            <a:ext cx="13327419" cy="861774"/>
          </a:xfrm>
          <a:prstGeom prst="rect">
            <a:avLst/>
          </a:prstGeom>
          <a:noFill/>
        </p:spPr>
        <p:txBody>
          <a:bodyPr wrap="square" rtlCol="0">
            <a:spAutoFit/>
          </a:bodyPr>
          <a:lstStyle/>
          <a:p>
            <a:r>
              <a:rPr lang="en-IN" sz="5000" dirty="0">
                <a:latin typeface="Times New Roman" panose="02020603050405020304" pitchFamily="18" charset="0"/>
                <a:cs typeface="Times New Roman" panose="02020603050405020304" pitchFamily="18" charset="0"/>
              </a:rPr>
              <a:t>Visiting Summer Research Internship (</a:t>
            </a:r>
            <a:r>
              <a:rPr lang="en-IN" sz="5000" dirty="0" err="1">
                <a:latin typeface="Times New Roman" panose="02020603050405020304" pitchFamily="18" charset="0"/>
                <a:cs typeface="Times New Roman" panose="02020603050405020304" pitchFamily="18" charset="0"/>
              </a:rPr>
              <a:t>ViSRI</a:t>
            </a:r>
            <a:r>
              <a:rPr lang="en-IN" sz="5000" dirty="0">
                <a:latin typeface="Times New Roman" panose="02020603050405020304" pitchFamily="18" charset="0"/>
                <a:cs typeface="Times New Roman" panose="02020603050405020304" pitchFamily="18" charset="0"/>
              </a:rPr>
              <a:t>) 2026</a:t>
            </a:r>
            <a:endParaRPr lang="en-US" sz="5000" b="1" i="1" dirty="0">
              <a:solidFill>
                <a:srgbClr val="002060"/>
              </a:solidFill>
              <a:latin typeface="Times New Roman" panose="02020603050405020304" pitchFamily="18" charset="0"/>
              <a:cs typeface="Times New Roman" panose="02020603050405020304" pitchFamily="18" charset="0"/>
            </a:endParaRPr>
          </a:p>
        </p:txBody>
      </p:sp>
      <p:pic>
        <p:nvPicPr>
          <p:cNvPr id="27" name="Picture 26">
            <a:extLst>
              <a:ext uri="{FF2B5EF4-FFF2-40B4-BE49-F238E27FC236}">
                <a16:creationId xmlns:a16="http://schemas.microsoft.com/office/drawing/2014/main" id="{D3253C82-9261-DFE9-09FD-39004478C95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140859"/>
            <a:ext cx="7983525" cy="2661176"/>
          </a:xfrm>
          <a:prstGeom prst="rect">
            <a:avLst/>
          </a:prstGeom>
        </p:spPr>
      </p:pic>
      <p:pic>
        <p:nvPicPr>
          <p:cNvPr id="28" name="Picture 27" descr="What does the logo of BITS Pilani mean? - Quora">
            <a:extLst>
              <a:ext uri="{FF2B5EF4-FFF2-40B4-BE49-F238E27FC236}">
                <a16:creationId xmlns:a16="http://schemas.microsoft.com/office/drawing/2014/main" id="{585F1C56-4F04-EDFD-5985-14DBA6E19EA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4036643" y="55745"/>
            <a:ext cx="5943600" cy="1984491"/>
          </a:xfrm>
          <a:prstGeom prst="rect">
            <a:avLst/>
          </a:prstGeom>
          <a:noFill/>
          <a:extLst>
            <a:ext uri="{909E8E84-426E-40DD-AFC4-6F175D3DCCD1}">
              <a14:hiddenFill xmlns:a14="http://schemas.microsoft.com/office/drawing/2010/main">
                <a:solidFill>
                  <a:srgbClr val="FFFFFF"/>
                </a:solidFill>
              </a14:hiddenFill>
            </a:ext>
          </a:extLst>
        </p:spPr>
      </p:pic>
      <p:sp>
        <p:nvSpPr>
          <p:cNvPr id="40" name="Rectangle 39">
            <a:extLst>
              <a:ext uri="{FF2B5EF4-FFF2-40B4-BE49-F238E27FC236}">
                <a16:creationId xmlns:a16="http://schemas.microsoft.com/office/drawing/2014/main" id="{EEBF2886-8B0C-668D-1E2D-16D5D0D19EBE}"/>
              </a:ext>
            </a:extLst>
          </p:cNvPr>
          <p:cNvSpPr/>
          <p:nvPr/>
        </p:nvSpPr>
        <p:spPr>
          <a:xfrm>
            <a:off x="872966" y="40717100"/>
            <a:ext cx="28845026" cy="1840503"/>
          </a:xfrm>
          <a:prstGeom prst="rect">
            <a:avLst/>
          </a:prstGeom>
          <a:gradFill flip="none" rotWithShape="1">
            <a:gsLst>
              <a:gs pos="0">
                <a:schemeClr val="accent6">
                  <a:lumMod val="60000"/>
                  <a:lumOff val="40000"/>
                  <a:tint val="66000"/>
                  <a:satMod val="160000"/>
                </a:schemeClr>
              </a:gs>
              <a:gs pos="50000">
                <a:schemeClr val="accent6">
                  <a:lumMod val="60000"/>
                  <a:lumOff val="40000"/>
                  <a:tint val="44500"/>
                  <a:satMod val="160000"/>
                </a:schemeClr>
              </a:gs>
              <a:gs pos="100000">
                <a:schemeClr val="accent6">
                  <a:lumMod val="60000"/>
                  <a:lumOff val="40000"/>
                  <a:tint val="23500"/>
                  <a:satMod val="160000"/>
                </a:schemeClr>
              </a:gs>
            </a:gsLst>
            <a:lin ang="16200000" scaled="1"/>
            <a:tileRect/>
          </a:gradFill>
        </p:spPr>
        <p:style>
          <a:lnRef idx="1">
            <a:schemeClr val="accent3"/>
          </a:lnRef>
          <a:fillRef idx="2">
            <a:schemeClr val="accent3"/>
          </a:fillRef>
          <a:effectRef idx="1">
            <a:schemeClr val="accent3"/>
          </a:effectRef>
          <a:fontRef idx="minor">
            <a:schemeClr val="dk1"/>
          </a:fontRef>
        </p:style>
        <p:txBody>
          <a:bodyPr rtlCol="0" anchor="ctr"/>
          <a:lstStyle/>
          <a:p>
            <a:r>
              <a:rPr lang="en-US" sz="4500" b="1" dirty="0">
                <a:latin typeface="Times New Roman" panose="02020603050405020304" pitchFamily="18" charset="0"/>
                <a:cs typeface="Times New Roman" panose="02020603050405020304" pitchFamily="18" charset="0"/>
              </a:rPr>
              <a:t>Candidate name: Mayank Pillai                                                        Supervisor(s): Prof. Yashvardhan Sharma</a:t>
            </a:r>
          </a:p>
          <a:p>
            <a:r>
              <a:rPr lang="en-US" sz="4500" b="1" dirty="0">
                <a:latin typeface="Times New Roman" panose="02020603050405020304" pitchFamily="18" charset="0"/>
                <a:cs typeface="Times New Roman" panose="02020603050405020304" pitchFamily="18" charset="0"/>
              </a:rPr>
              <a:t>Institute Name: Newton School of Technology		              				  Department: CSIS</a:t>
            </a:r>
            <a:endParaRPr lang="en-US" sz="4500" b="1" i="1" baseline="30000" dirty="0">
              <a:latin typeface="Times New Roman" panose="020206030504050203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515214668"/>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5310</TotalTime>
  <Words>1346</Words>
  <Application>Microsoft Macintosh PowerPoint</Application>
  <PresentationFormat>Custom</PresentationFormat>
  <Paragraphs>138</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Calibri Light</vt:lpstr>
      <vt:lpstr>Times New Roman</vt:lpstr>
      <vt:lpstr>Office 2013 - 2022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Jagat</dc:creator>
  <cp:lastModifiedBy>Mayank Pillai</cp:lastModifiedBy>
  <cp:revision>169</cp:revision>
  <dcterms:created xsi:type="dcterms:W3CDTF">2016-12-01T10:32:06Z</dcterms:created>
  <dcterms:modified xsi:type="dcterms:W3CDTF">2026-07-07T11:39:02Z</dcterms:modified>
</cp:coreProperties>
</file>