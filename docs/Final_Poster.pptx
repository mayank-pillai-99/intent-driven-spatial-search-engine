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30275213" cy="42803763"/>
  <p:notesSz cx="10234613" cy="14662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2F"/>
    <a:srgbClr val="0000FF"/>
    <a:srgbClr val="211D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5052" autoAdjust="0"/>
  </p:normalViewPr>
  <p:slideViewPr>
    <p:cSldViewPr snapToGrid="0">
      <p:cViewPr>
        <p:scale>
          <a:sx n="65" d="100"/>
          <a:sy n="65" d="100"/>
        </p:scale>
        <p:origin x="-240" y="-2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735654"/>
          </a:xfrm>
          <a:prstGeom prst="rect">
            <a:avLst/>
          </a:prstGeom>
        </p:spPr>
        <p:txBody>
          <a:bodyPr vert="horz" lIns="142262" tIns="71131" rIns="142262" bIns="71131" rtlCol="0"/>
          <a:lstStyle>
            <a:lvl1pPr algn="l">
              <a:defRPr sz="19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735654"/>
          </a:xfrm>
          <a:prstGeom prst="rect">
            <a:avLst/>
          </a:prstGeom>
        </p:spPr>
        <p:txBody>
          <a:bodyPr vert="horz" lIns="142262" tIns="71131" rIns="142262" bIns="71131" rtlCol="0"/>
          <a:lstStyle>
            <a:lvl1pPr algn="r">
              <a:defRPr sz="1900"/>
            </a:lvl1pPr>
          </a:lstStyle>
          <a:p>
            <a:fld id="{A0C2BA6F-6457-439F-BBDB-0B38AEA84A6F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67088" y="1833563"/>
            <a:ext cx="3500437" cy="4948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42262" tIns="71131" rIns="142262" bIns="711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7056159"/>
            <a:ext cx="8187690" cy="5773222"/>
          </a:xfrm>
          <a:prstGeom prst="rect">
            <a:avLst/>
          </a:prstGeom>
        </p:spPr>
        <p:txBody>
          <a:bodyPr vert="horz" lIns="142262" tIns="71131" rIns="142262" bIns="711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26499"/>
            <a:ext cx="4434999" cy="735652"/>
          </a:xfrm>
          <a:prstGeom prst="rect">
            <a:avLst/>
          </a:prstGeom>
        </p:spPr>
        <p:txBody>
          <a:bodyPr vert="horz" lIns="142262" tIns="71131" rIns="142262" bIns="71131" rtlCol="0" anchor="b"/>
          <a:lstStyle>
            <a:lvl1pPr algn="l">
              <a:defRPr sz="1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13926499"/>
            <a:ext cx="4434999" cy="735652"/>
          </a:xfrm>
          <a:prstGeom prst="rect">
            <a:avLst/>
          </a:prstGeom>
        </p:spPr>
        <p:txBody>
          <a:bodyPr vert="horz" lIns="142262" tIns="71131" rIns="142262" bIns="71131" rtlCol="0" anchor="b"/>
          <a:lstStyle>
            <a:lvl1pPr algn="r">
              <a:defRPr sz="1900"/>
            </a:lvl1pPr>
          </a:lstStyle>
          <a:p>
            <a:fld id="{63080104-3A65-4BC0-B407-1081040F8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47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67088" y="1833563"/>
            <a:ext cx="3500437" cy="49482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80104-3A65-4BC0-B407-1081040F87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9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75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6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0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0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78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96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7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3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5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7F64B-FB45-4607-AAFE-E64E652CDD08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5C81B-45F7-41FA-B1B5-74C87B66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0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roup 18"/>
          <p:cNvGrpSpPr/>
          <p:nvPr/>
        </p:nvGrpSpPr>
        <p:grpSpPr>
          <a:xfrm>
            <a:off x="872966" y="2524110"/>
            <a:ext cx="28845026" cy="161854"/>
            <a:chOff x="1905000" y="6553200"/>
            <a:chExt cx="7010400" cy="45719"/>
          </a:xfrm>
        </p:grpSpPr>
        <p:sp>
          <p:nvSpPr>
            <p:cNvPr id="341" name="Rectangle 34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2" name="Rectangle 3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43" name="Rectangle 34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87" name="TextBox 286">
            <a:extLst>
              <a:ext uri="{FF2B5EF4-FFF2-40B4-BE49-F238E27FC236}">
                <a16:creationId xmlns:a16="http://schemas.microsoft.com/office/drawing/2014/main" id="{02203076-F3DC-970B-7C52-01453B5384AA}"/>
              </a:ext>
            </a:extLst>
          </p:cNvPr>
          <p:cNvSpPr txBox="1"/>
          <p:nvPr/>
        </p:nvSpPr>
        <p:spPr>
          <a:xfrm>
            <a:off x="7916240" y="700485"/>
            <a:ext cx="161137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Intent-Driven Spatial Search Engine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1F1C01-7F1A-20EF-B1B5-2363111E6001}"/>
              </a:ext>
            </a:extLst>
          </p:cNvPr>
          <p:cNvSpPr txBox="1"/>
          <p:nvPr/>
        </p:nvSpPr>
        <p:spPr>
          <a:xfrm>
            <a:off x="8077583" y="1870156"/>
            <a:ext cx="15961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Hybrid NL-to-SQL Architecture for Conversational Geographic Queries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5CC62C-0D01-A724-FA55-953227C69690}"/>
              </a:ext>
            </a:extLst>
          </p:cNvPr>
          <p:cNvSpPr/>
          <p:nvPr/>
        </p:nvSpPr>
        <p:spPr>
          <a:xfrm>
            <a:off x="886254" y="2839855"/>
            <a:ext cx="14369369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6E47D2-4F87-8AEA-03AF-E4711CD37081}"/>
              </a:ext>
            </a:extLst>
          </p:cNvPr>
          <p:cNvSpPr/>
          <p:nvPr/>
        </p:nvSpPr>
        <p:spPr>
          <a:xfrm>
            <a:off x="886255" y="3535862"/>
            <a:ext cx="14369368" cy="4210617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digital maps rely on rigid keyword searches, failing when users ask for places naturally. To solve this, we built an Intent-Driven Spatial Search Engine that translates conversational, multilingual queries directly into structured database commands.</a:t>
            </a:r>
          </a:p>
          <a:p>
            <a:pPr algn="just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entirely offline on a local GPU, the system combines SeamlessM4T for speech translation with Qwen2.5-Coder for SQL generation.</a:t>
            </a:r>
          </a:p>
          <a:p>
            <a:pPr algn="just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Validated by our custom Hybrid Evaluation Framework, the architecture achieved a 78% success rate on complex geographic intents. It successfully bridges the gap between abstract human needs (like "a quiet place to study") and rigid mapping databases.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423CFC-02F6-0B06-378C-A4D974E1E0D1}"/>
              </a:ext>
            </a:extLst>
          </p:cNvPr>
          <p:cNvSpPr/>
          <p:nvPr/>
        </p:nvSpPr>
        <p:spPr>
          <a:xfrm>
            <a:off x="886255" y="7982271"/>
            <a:ext cx="14369368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17EE58-C016-A12B-4B64-8257C25F56EA}"/>
              </a:ext>
            </a:extLst>
          </p:cNvPr>
          <p:cNvSpPr/>
          <p:nvPr/>
        </p:nvSpPr>
        <p:spPr>
          <a:xfrm>
            <a:off x="886255" y="8713791"/>
            <a:ext cx="14369368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Intent Failure: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user searches "quiet places near me," traditional maps look for a business literally named "Quiet" — suggesting a restaurant 1,000 km away, ignoring the spatial constraint.</a:t>
            </a:r>
          </a:p>
          <a:p>
            <a:pPr algn="just">
              <a:spcAft>
                <a:spcPts val="400"/>
              </a:spcAft>
            </a:pPr>
            <a:endParaRPr sz="2600" b="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India-Specific Challenge: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spatial navigation is informal and code-mixed (e.g., Hinglish). A query like "koi chai ki </a:t>
            </a:r>
            <a:r>
              <a:rPr sz="26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tapri</a:t>
            </a: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kya</a:t>
            </a: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600" b="0" dirty="0" err="1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mein</a:t>
            </a:r>
            <a:r>
              <a:rPr sz="2600" b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?" requires translating slang, identifying the category, and enforcing a geographic radius.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4FE027EF-8116-2439-9C96-0602E614071A}"/>
              </a:ext>
            </a:extLst>
          </p:cNvPr>
          <p:cNvSpPr/>
          <p:nvPr/>
        </p:nvSpPr>
        <p:spPr>
          <a:xfrm>
            <a:off x="15547501" y="35708834"/>
            <a:ext cx="14197077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C8F73A0D-2EEB-67F1-8CD8-D3437546ED2D}"/>
              </a:ext>
            </a:extLst>
          </p:cNvPr>
          <p:cNvSpPr/>
          <p:nvPr/>
        </p:nvSpPr>
        <p:spPr>
          <a:xfrm>
            <a:off x="15547501" y="36450557"/>
            <a:ext cx="14197077" cy="4097066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V. Zhong, C. Xiong, and R. Socher, "Seq2SQL: Generating structured queries from natural language using reinforcement learning," </a:t>
            </a:r>
            <a:r>
              <a:rPr lang="en-US" sz="2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arXiv:1709.00103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</a:p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T. Yu et al., "Spider: A large-scale human-labeled dataset for complex and cross-domain semantic parsing and text-to-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task," in 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EMNLP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</a:p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J. Li et al., "Can LLM already serve as a database interface? A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Bench for Large-Scale Database Grounded Text-to-SQLs," in 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</a:t>
            </a:r>
            <a:r>
              <a:rPr lang="en-US" sz="2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S. Chang et al., "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Dr.Spider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diagnostic evaluation benchmark for robust text-to-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," in 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ICLR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2023. </a:t>
            </a:r>
          </a:p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H. Jiao et al., "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GeoSQL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-Eval: First evaluation of LLMs on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NL2GeoSQL queries," </a:t>
            </a:r>
            <a:r>
              <a:rPr lang="en-US" sz="2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 Syst. Appl.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2026.</a:t>
            </a:r>
            <a:endParaRPr sz="26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C32635-20B4-AEE4-85F9-E3B725F9DDE7}"/>
              </a:ext>
            </a:extLst>
          </p:cNvPr>
          <p:cNvSpPr/>
          <p:nvPr/>
        </p:nvSpPr>
        <p:spPr>
          <a:xfrm>
            <a:off x="15547512" y="2839855"/>
            <a:ext cx="14197066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/>
              </a:rPr>
              <a:t>Results: Text-to-SQL Model Selection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10E69B-4D26-DEE3-847B-DF08DE5CD928}"/>
              </a:ext>
            </a:extLst>
          </p:cNvPr>
          <p:cNvSpPr/>
          <p:nvPr/>
        </p:nvSpPr>
        <p:spPr>
          <a:xfrm>
            <a:off x="15547520" y="3546386"/>
            <a:ext cx="14197054" cy="3330975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Four open-weight models evaluated on a 50-query benchmark:</a:t>
            </a:r>
          </a:p>
          <a:p>
            <a:pPr algn="just">
              <a:spcAft>
                <a:spcPts val="400"/>
              </a:spcAft>
            </a:pPr>
            <a:r>
              <a:rPr lang="en-IN" sz="2600" b="1" dirty="0">
                <a:solidFill>
                  <a:srgbClr val="007030"/>
                </a:solidFill>
                <a:latin typeface="Times New Roman"/>
              </a:rPr>
              <a:t>•  </a:t>
            </a:r>
            <a:r>
              <a:rPr sz="2600" b="1" dirty="0">
                <a:solidFill>
                  <a:srgbClr val="007030"/>
                </a:solidFill>
                <a:latin typeface="Times New Roman"/>
              </a:rPr>
              <a:t>Qwen2.5-Coder (Winner): </a:t>
            </a:r>
            <a:r>
              <a:rPr lang="en-US" sz="2600" b="1" dirty="0">
                <a:solidFill>
                  <a:srgbClr val="007030"/>
                </a:solidFill>
                <a:latin typeface="Times New Roman"/>
              </a:rPr>
              <a:t>Excelled at native POSTGIS spatial logic without custom finetuning</a:t>
            </a:r>
            <a:r>
              <a:rPr sz="2600" b="1" dirty="0">
                <a:solidFill>
                  <a:srgbClr val="007030"/>
                </a:solidFill>
                <a:latin typeface="Times New Roman"/>
              </a:rPr>
              <a:t>.</a:t>
            </a:r>
            <a:endParaRPr lang="en-US" sz="2600" b="1" dirty="0">
              <a:solidFill>
                <a:srgbClr val="007030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SQLCoder-8B (Failed):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Broke down when handling multi-step spatial joins (CTEs) and spatial exclusion queries.</a:t>
            </a:r>
          </a:p>
          <a:p>
            <a:pPr algn="just">
              <a:spcAft>
                <a:spcPts val="400"/>
              </a:spcAft>
            </a:pPr>
            <a:r>
              <a:rPr lang="en-IN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CodeS-7B (Failed):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Exhibited severe schema hallucination due to over-finetuning on the BIRD benchmark.</a:t>
            </a:r>
          </a:p>
          <a:p>
            <a:pPr algn="just">
              <a:spcAft>
                <a:spcPts val="400"/>
              </a:spcAft>
            </a:pP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DeepSeek-Coder-7B (Failed): Struggled with </a:t>
            </a:r>
            <a:r>
              <a:rPr 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syntax alignment, producing malformed queries.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0F4632-DF43-A219-A0AC-C4BB8F5CE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41103"/>
              </p:ext>
            </p:extLst>
          </p:nvPr>
        </p:nvGraphicFramePr>
        <p:xfrm>
          <a:off x="15547505" y="6992903"/>
          <a:ext cx="14197066" cy="2256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4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4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4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1308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Pass Rate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Fail Rate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Avg F1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308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007030"/>
                          </a:solidFill>
                          <a:latin typeface="Times New Roman"/>
                        </a:rPr>
                        <a:t>Qwen2.5-Coder-7B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78.0%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007030"/>
                          </a:solidFill>
                          <a:latin typeface="Times New Roman"/>
                        </a:rPr>
                        <a:t>4.0%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0.780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308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SQLCoder-8B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46.0%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54.0%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0.459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30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CodeS-7B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32.0%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68.0%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0.385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30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DeepSeek-Coder-7B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28.0%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0.297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252AF06-1F6E-27CF-1BC8-9B8747C96C73}"/>
              </a:ext>
            </a:extLst>
          </p:cNvPr>
          <p:cNvSpPr/>
          <p:nvPr/>
        </p:nvSpPr>
        <p:spPr>
          <a:xfrm>
            <a:off x="15547504" y="9345726"/>
            <a:ext cx="14197066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Results: Translation Model Selection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E2A5E-BEDE-1505-7562-3ACFE03FB187}"/>
              </a:ext>
            </a:extLst>
          </p:cNvPr>
          <p:cNvSpPr/>
          <p:nvPr/>
        </p:nvSpPr>
        <p:spPr>
          <a:xfrm>
            <a:off x="15547504" y="10168013"/>
            <a:ext cx="14197067" cy="2776036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56-query multilingual dataset across 5 Indian languages + slang:</a:t>
            </a:r>
          </a:p>
          <a:p>
            <a:pPr algn="just"/>
            <a:r>
              <a:rPr lang="en-US" sz="2600" b="1" dirty="0">
                <a:solidFill>
                  <a:srgbClr val="00702F"/>
                </a:solidFill>
                <a:latin typeface="Times New Roman"/>
              </a:rPr>
              <a:t>• </a:t>
            </a:r>
            <a:r>
              <a:rPr lang="en-US" sz="2600" b="1" dirty="0">
                <a:solidFill>
                  <a:srgbClr val="007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Sarvam-Translate (Winner): Successfully normalized complex Hinglish internet slang into formal English suitable for SQL parsing.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NLLB &amp; Seamless (Failed): Spelled out Hindi slang in English letters instead of translating it, which crashed the SQL engine.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Google Translate: Provided a strong accuracy baseline, but was unable to achieve the strict 100% offline requirement.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C36359-DEC5-593E-D5FE-D1B5EA4F9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87402"/>
              </p:ext>
            </p:extLst>
          </p:nvPr>
        </p:nvGraphicFramePr>
        <p:xfrm>
          <a:off x="15547503" y="13052073"/>
          <a:ext cx="14197068" cy="2478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703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Overall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Slang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Failures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70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Google Translate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96.4%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71.4%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70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Sarvam-Translate (4B)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87.5%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70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NLLB-200 (1.3B)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85.7%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57.1%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703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SeamlessM4T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83.9%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53559B2-86B7-0DAC-222F-B7E4B52561CF}"/>
              </a:ext>
            </a:extLst>
          </p:cNvPr>
          <p:cNvSpPr/>
          <p:nvPr/>
        </p:nvSpPr>
        <p:spPr>
          <a:xfrm>
            <a:off x="15547502" y="15761051"/>
            <a:ext cx="14197068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Results: Voice Recognition (ASR)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B7EE10-3D75-C8C4-51A3-143F9ABD2F6B}"/>
              </a:ext>
            </a:extLst>
          </p:cNvPr>
          <p:cNvSpPr/>
          <p:nvPr/>
        </p:nvSpPr>
        <p:spPr>
          <a:xfrm>
            <a:off x="15547502" y="16611769"/>
            <a:ext cx="14197068" cy="3138903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on synthetic multilingual audio. Offline capability is required:</a:t>
            </a:r>
          </a:p>
          <a:p>
            <a:pPr algn="just"/>
            <a:r>
              <a:rPr sz="2600" b="1" dirty="0">
                <a:solidFill>
                  <a:srgbClr val="007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b="1" dirty="0">
                <a:solidFill>
                  <a:srgbClr val="007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SeamlessM4T v2 (Winner): Delivered fast, direct speech-to-English transcription while maintaining strict 100% offline capability.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Sarvam API (Runner-up):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overall accuracy 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requires internet (API).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OpenAI Whisper (Failed): Struggled with low-resource Indian languages, failing heavily on Telugu and Marathi audio inputs.</a:t>
            </a:r>
          </a:p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Google Speech (Failed): Provided moderate accuracy but requires internet (API).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132EE1-4CC4-EBE4-8F4F-9F62E6944B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545494"/>
              </p:ext>
            </p:extLst>
          </p:nvPr>
        </p:nvGraphicFramePr>
        <p:xfrm>
          <a:off x="15547502" y="19924272"/>
          <a:ext cx="14197068" cy="2382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0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2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403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Pass Rate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Times New Roman"/>
                        </a:rPr>
                        <a:t>WER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03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Sarvam API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83.9%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0.339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Cloud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403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SeamlessM4T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82.1%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0.470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07030"/>
                          </a:solidFill>
                          <a:latin typeface="Times New Roman"/>
                        </a:rPr>
                        <a:t>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40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Google Speech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78.6%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0.514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Cloud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403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OpenAI Whisper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66.1%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Times New Roman"/>
                        </a:rPr>
                        <a:t>0.632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33333"/>
                          </a:solidFill>
                          <a:latin typeface="Times New Roman"/>
                        </a:rPr>
                        <a:t>Offline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510CFEE-6608-E625-0771-D9A0CF64247E}"/>
              </a:ext>
            </a:extLst>
          </p:cNvPr>
          <p:cNvSpPr/>
          <p:nvPr/>
        </p:nvSpPr>
        <p:spPr>
          <a:xfrm>
            <a:off x="899544" y="27465220"/>
            <a:ext cx="14356078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The Final End-to-End App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583157-DA35-507A-110F-41ABB66957D9}"/>
              </a:ext>
            </a:extLst>
          </p:cNvPr>
          <p:cNvSpPr/>
          <p:nvPr/>
        </p:nvSpPr>
        <p:spPr>
          <a:xfrm>
            <a:off x="899544" y="28196740"/>
            <a:ext cx="14356078" cy="5341914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offline product is a fully integrated pipeline that natively supports spatial routing and policy lookups:</a:t>
            </a:r>
          </a:p>
          <a:p>
            <a:pPr algn="just"/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Input: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provides a query via Voice (Microphone) or Text (Keyboard) in their native language.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Audio/Text Processing: SeamlessM4T instantly transcribes audio and translates the native query (Voice or Text) to English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Small-Talk Filter: Qwen intercepts small talk (e.g., 'Hello') without wasting database time.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Generating SQL: Qwen translates spatial intent into strict </a:t>
            </a:r>
            <a:r>
              <a:rPr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code.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Database Search: SQL is executed on the local </a:t>
            </a:r>
            <a:r>
              <a:rPr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map, returning coordinates.</a:t>
            </a:r>
          </a:p>
          <a:p>
            <a:pPr algn="just"/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Reverse Translation: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 summarizes results; SeamlessM4T translates the English summary back to the user's native language.</a:t>
            </a:r>
          </a:p>
          <a:p>
            <a:pPr algn="just">
              <a:spcAft>
                <a:spcPts val="400"/>
              </a:spcAft>
            </a:pPr>
            <a:r>
              <a:rPr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Map &amp; Voice Output: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Locations are plotted interactively on a map; SeamlessM4T generates a synthetic voice clip (TTS Audio) and outputs the Translated Text.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D19429-F159-758A-2C1B-64A62D5FEDD3}"/>
              </a:ext>
            </a:extLst>
          </p:cNvPr>
          <p:cNvSpPr/>
          <p:nvPr/>
        </p:nvSpPr>
        <p:spPr>
          <a:xfrm>
            <a:off x="15547501" y="32258652"/>
            <a:ext cx="14197077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A341C8-7434-A8D4-B8E2-75CE43218119}"/>
              </a:ext>
            </a:extLst>
          </p:cNvPr>
          <p:cNvSpPr/>
          <p:nvPr/>
        </p:nvSpPr>
        <p:spPr>
          <a:xfrm>
            <a:off x="15547501" y="32966661"/>
            <a:ext cx="14197077" cy="2608023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Qwen2.5-Coder handles SQL generation while SeamlessM4T provides multilingual translation — together, they replace traditional keyword search with intelligent spatial querying. Voice input and interactive maps allow users to search for places the way they naturally speak, in any language. </a:t>
            </a:r>
          </a:p>
          <a:p>
            <a:pPr algn="just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solidFill>
                  <a:srgbClr val="0070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Achievement: A multilingual spatial search pipeline that converts natural language into precise map results.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CA2E2C-D5DE-19AF-2F56-F60EFD60C61E}"/>
              </a:ext>
            </a:extLst>
          </p:cNvPr>
          <p:cNvSpPr/>
          <p:nvPr/>
        </p:nvSpPr>
        <p:spPr>
          <a:xfrm>
            <a:off x="15547502" y="22440530"/>
            <a:ext cx="14197069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Interactive Map UI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93A79A-FF08-D4C5-C8DE-68F6AEE08E4C}"/>
              </a:ext>
            </a:extLst>
          </p:cNvPr>
          <p:cNvSpPr/>
          <p:nvPr/>
        </p:nvSpPr>
        <p:spPr>
          <a:xfrm>
            <a:off x="15547501" y="23273813"/>
            <a:ext cx="14197069" cy="8911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UI PHOTO.png">
            <a:extLst>
              <a:ext uri="{FF2B5EF4-FFF2-40B4-BE49-F238E27FC236}">
                <a16:creationId xmlns:a16="http://schemas.microsoft.com/office/drawing/2014/main" id="{81B50512-C428-7F86-0FC6-2758E2B5E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1836" y="23557089"/>
            <a:ext cx="13620270" cy="834532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B1745B8-C01A-B0BC-6C2F-0BD332F0FBAA}"/>
              </a:ext>
            </a:extLst>
          </p:cNvPr>
          <p:cNvSpPr/>
          <p:nvPr/>
        </p:nvSpPr>
        <p:spPr>
          <a:xfrm>
            <a:off x="872965" y="12106644"/>
            <a:ext cx="14382657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Objectives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3F3901-F6C9-952D-7697-8EE4EAE9BCE8}"/>
              </a:ext>
            </a:extLst>
          </p:cNvPr>
          <p:cNvSpPr/>
          <p:nvPr/>
        </p:nvSpPr>
        <p:spPr>
          <a:xfrm>
            <a:off x="872966" y="12838163"/>
            <a:ext cx="14382656" cy="3653355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1. Dynamic Intent Capturing: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   Translate conversational queries into </a:t>
            </a:r>
            <a:r>
              <a:rPr sz="2600" b="0" dirty="0" err="1">
                <a:solidFill>
                  <a:srgbClr val="333333"/>
                </a:solidFill>
                <a:latin typeface="Times New Roman"/>
              </a:rPr>
              <a:t>PostGIS</a:t>
            </a:r>
            <a:r>
              <a:rPr sz="2600" b="0" dirty="0">
                <a:solidFill>
                  <a:srgbClr val="333333"/>
                </a:solidFill>
                <a:latin typeface="Times New Roman"/>
              </a:rPr>
              <a:t> spatial constraints.</a:t>
            </a: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2. Colloquial Multilingual Translation: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   Bridge regional Indian dialects/slang to formal English for the SQL AI.</a:t>
            </a: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3. Empirical Evaluation: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   Validate SQL structure (AST parsing) and live database results (Semantic F1).</a:t>
            </a: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4. End-to-End System Integration: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   Deploy a 100% offline pipeline for colleges, tourist places, and temples.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B0BF73-2D3F-6B5A-5E0C-E509DD052F67}"/>
              </a:ext>
            </a:extLst>
          </p:cNvPr>
          <p:cNvSpPr/>
          <p:nvPr/>
        </p:nvSpPr>
        <p:spPr>
          <a:xfrm>
            <a:off x="899544" y="16798573"/>
            <a:ext cx="14356078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/>
              </a:rPr>
              <a:t>Dataset Curation (OpenStreetMap)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779798-581C-625D-24E9-5AFD3D1169FC}"/>
              </a:ext>
            </a:extLst>
          </p:cNvPr>
          <p:cNvSpPr/>
          <p:nvPr/>
        </p:nvSpPr>
        <p:spPr>
          <a:xfrm>
            <a:off x="899544" y="17530093"/>
            <a:ext cx="14356078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To rigorously test spatial reasoning and linguistic robustness, we built a local </a:t>
            </a:r>
            <a:r>
              <a:rPr sz="2600" b="0" dirty="0" err="1">
                <a:solidFill>
                  <a:srgbClr val="333333"/>
                </a:solidFill>
                <a:latin typeface="Times New Roman"/>
              </a:rPr>
              <a:t>PostGIS</a:t>
            </a:r>
            <a:r>
              <a:rPr sz="2600" b="0" dirty="0">
                <a:solidFill>
                  <a:srgbClr val="333333"/>
                </a:solidFill>
                <a:latin typeface="Times New Roman"/>
              </a:rPr>
              <a:t> database using OpenStreetMap data (3km radius around IIT Bombay).</a:t>
            </a:r>
          </a:p>
          <a:p>
            <a:pPr algn="just">
              <a:spcAft>
                <a:spcPts val="400"/>
              </a:spcAft>
            </a:pPr>
            <a:endParaRPr sz="2600" b="0" dirty="0">
              <a:solidFill>
                <a:srgbClr val="333333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1. The English Golden Benchmark:</a:t>
            </a:r>
            <a:endParaRPr lang="en-US" sz="2600" b="1" dirty="0">
              <a:solidFill>
                <a:srgbClr val="2E75B6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50 complex spatial queries across 5 difficulty tiers (Easy, Medium, Hard, Extra Intent, Extreme Spatial Math) designed to prevent structural redundancy.</a:t>
            </a: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2. The Multilingual Translation Dataset:</a:t>
            </a: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56 complex requests in Hindi, Tamil, Telugu, Marathi, and Punjabi (Native Script, Romanized, and Colloquial Slang) evaluated on text and synthetic audio.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BE660A7-0A69-8EE5-6E82-9A6B66731EC6}"/>
              </a:ext>
            </a:extLst>
          </p:cNvPr>
          <p:cNvSpPr/>
          <p:nvPr/>
        </p:nvSpPr>
        <p:spPr>
          <a:xfrm>
            <a:off x="899544" y="21599173"/>
            <a:ext cx="14356078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Times New Roman"/>
              </a:rPr>
              <a:t>Hybrid Evaluation Framework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A26797-B5EE-90A2-BF93-D6E2F10265C3}"/>
              </a:ext>
            </a:extLst>
          </p:cNvPr>
          <p:cNvSpPr/>
          <p:nvPr/>
        </p:nvSpPr>
        <p:spPr>
          <a:xfrm>
            <a:off x="899544" y="22355555"/>
            <a:ext cx="14356078" cy="4904653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To rigorously test the Text-to-SQL models, we developed a two-step evaluation pipeline inspired by Spider and BIRD:</a:t>
            </a: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1. Structural Validation (AST Parsing):</a:t>
            </a:r>
            <a:endParaRPr lang="en-US" sz="2600" b="1" dirty="0">
              <a:solidFill>
                <a:srgbClr val="2E75B6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Using </a:t>
            </a:r>
            <a:r>
              <a:rPr sz="2600" b="0" dirty="0" err="1">
                <a:solidFill>
                  <a:srgbClr val="333333"/>
                </a:solidFill>
                <a:latin typeface="Times New Roman"/>
              </a:rPr>
              <a:t>sqlglot</a:t>
            </a:r>
            <a:r>
              <a:rPr sz="2600" b="0" dirty="0">
                <a:solidFill>
                  <a:srgbClr val="333333"/>
                </a:solidFill>
                <a:latin typeface="Times New Roman"/>
              </a:rPr>
              <a:t>, we parse the generated SQL into an Abstract Syntax Tree to evaluate 7 dimensions (SELECT clauses, spatial JOINs, WHERE logic, ORDER BY, LIMIT, and </a:t>
            </a:r>
            <a:r>
              <a:rPr sz="2600" b="0" dirty="0" err="1">
                <a:solidFill>
                  <a:srgbClr val="333333"/>
                </a:solidFill>
                <a:latin typeface="Times New Roman"/>
              </a:rPr>
              <a:t>PostGIS</a:t>
            </a:r>
            <a:r>
              <a:rPr sz="2600" b="0" dirty="0">
                <a:solidFill>
                  <a:srgbClr val="333333"/>
                </a:solidFill>
                <a:latin typeface="Times New Roman"/>
              </a:rPr>
              <a:t> function accuracy). This ensures safe query structure and prevents hallucinated columns or unbounded data retrieval.</a:t>
            </a:r>
          </a:p>
          <a:p>
            <a:pPr algn="just">
              <a:spcAft>
                <a:spcPts val="400"/>
              </a:spcAft>
            </a:pPr>
            <a:endParaRPr sz="2600" b="0" dirty="0">
              <a:solidFill>
                <a:srgbClr val="333333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sz="2600" b="1" dirty="0">
                <a:solidFill>
                  <a:srgbClr val="2E75B6"/>
                </a:solidFill>
                <a:latin typeface="Times New Roman"/>
              </a:rPr>
              <a:t>2. Execution Validation (Semantic F1):</a:t>
            </a:r>
            <a:endParaRPr lang="en-US" sz="2600" b="1" dirty="0">
              <a:solidFill>
                <a:srgbClr val="2E75B6"/>
              </a:solidFill>
              <a:latin typeface="Times New Roman"/>
            </a:endParaRPr>
          </a:p>
          <a:p>
            <a:pPr algn="just">
              <a:spcAft>
                <a:spcPts val="400"/>
              </a:spcAft>
            </a:pPr>
            <a:r>
              <a:rPr sz="2600" b="0" dirty="0">
                <a:solidFill>
                  <a:srgbClr val="333333"/>
                </a:solidFill>
                <a:latin typeface="Times New Roman"/>
              </a:rPr>
              <a:t>Structurally safe queries are executed live against a </a:t>
            </a:r>
            <a:r>
              <a:rPr sz="2600" b="0" dirty="0" err="1">
                <a:solidFill>
                  <a:srgbClr val="333333"/>
                </a:solidFill>
                <a:latin typeface="Times New Roman"/>
              </a:rPr>
              <a:t>PostGIS</a:t>
            </a:r>
            <a:r>
              <a:rPr sz="2600" b="0" dirty="0">
                <a:solidFill>
                  <a:srgbClr val="333333"/>
                </a:solidFill>
                <a:latin typeface="Times New Roman"/>
              </a:rPr>
              <a:t> database loaded with OpenStreetMap data. The returned locations are compared against a manually-curated Golden Benchmark to calculate Precision, Recall, and F1 scores, ensuring the spatial math actually works.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374C28-4D0C-39CF-9F31-E49100A8561B}"/>
              </a:ext>
            </a:extLst>
          </p:cNvPr>
          <p:cNvSpPr/>
          <p:nvPr/>
        </p:nvSpPr>
        <p:spPr>
          <a:xfrm>
            <a:off x="872966" y="33723306"/>
            <a:ext cx="14382656" cy="64008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4218F3-27A7-36C3-0B42-5F2E5AED3C72}"/>
              </a:ext>
            </a:extLst>
          </p:cNvPr>
          <p:cNvSpPr/>
          <p:nvPr/>
        </p:nvSpPr>
        <p:spPr>
          <a:xfrm>
            <a:off x="872966" y="34459014"/>
            <a:ext cx="14356080" cy="5950814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F1EE1A-6505-ED9B-DB7B-CAD85B8DE354}"/>
              </a:ext>
            </a:extLst>
          </p:cNvPr>
          <p:cNvSpPr txBox="1"/>
          <p:nvPr/>
        </p:nvSpPr>
        <p:spPr>
          <a:xfrm>
            <a:off x="8075595" y="139218"/>
            <a:ext cx="1596104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Visiting Summer Research Internship (</a:t>
            </a:r>
            <a:r>
              <a:rPr lang="en-IN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ViSRI</a:t>
            </a:r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2026</a:t>
            </a:r>
            <a:endParaRPr lang="en-US" sz="4800" b="1" i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3253C82-9261-DFE9-09FD-39004478C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53129"/>
            <a:ext cx="7401560" cy="2467188"/>
          </a:xfrm>
          <a:prstGeom prst="rect">
            <a:avLst/>
          </a:prstGeom>
        </p:spPr>
      </p:pic>
      <p:pic>
        <p:nvPicPr>
          <p:cNvPr id="28" name="Picture 27" descr="What does the logo of BITS Pilani mean? - Quora">
            <a:extLst>
              <a:ext uri="{FF2B5EF4-FFF2-40B4-BE49-F238E27FC236}">
                <a16:creationId xmlns:a16="http://schemas.microsoft.com/office/drawing/2014/main" id="{585F1C56-4F04-EDFD-5985-14DBA6E19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6643" y="137025"/>
            <a:ext cx="5943600" cy="198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EEBF2886-8B0C-668D-1E2D-16D5D0D19EBE}"/>
              </a:ext>
            </a:extLst>
          </p:cNvPr>
          <p:cNvSpPr/>
          <p:nvPr/>
        </p:nvSpPr>
        <p:spPr>
          <a:xfrm>
            <a:off x="872966" y="40717100"/>
            <a:ext cx="28845026" cy="184050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6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6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Name: Mayank Pillai                                            Supervisor: Prof. Yashvardhan Sharma</a:t>
            </a:r>
          </a:p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Name: Newton School of Technology		              	Department: Computer Science &amp; Information Systems</a:t>
            </a:r>
            <a:endParaRPr lang="en-US" sz="4500" b="1" i="1" baseline="30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286E8D-A30B-ACA4-C750-BCCE0CB9D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44" y="34459014"/>
            <a:ext cx="14329502" cy="595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14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5522</TotalTime>
  <Words>1306</Words>
  <Application>Microsoft Macintosh PowerPoint</Application>
  <PresentationFormat>Custom</PresentationFormat>
  <Paragraphs>139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Jagat</dc:creator>
  <cp:lastModifiedBy>Mayank Pillai</cp:lastModifiedBy>
  <cp:revision>184</cp:revision>
  <cp:lastPrinted>2026-07-09T08:10:52Z</cp:lastPrinted>
  <dcterms:created xsi:type="dcterms:W3CDTF">2016-12-01T10:32:06Z</dcterms:created>
  <dcterms:modified xsi:type="dcterms:W3CDTF">2026-07-10T10:01:44Z</dcterms:modified>
</cp:coreProperties>
</file>