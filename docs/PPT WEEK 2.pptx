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9" r:id="rId4"/>
    <p:sldId id="311" r:id="rId5"/>
    <p:sldId id="290" r:id="rId6"/>
    <p:sldId id="304" r:id="rId7"/>
    <p:sldId id="291" r:id="rId8"/>
    <p:sldId id="292" r:id="rId9"/>
    <p:sldId id="307" r:id="rId10"/>
    <p:sldId id="312" r:id="rId11"/>
    <p:sldId id="313" r:id="rId12"/>
    <p:sldId id="315" r:id="rId13"/>
    <p:sldId id="314" r:id="rId14"/>
    <p:sldId id="308" r:id="rId15"/>
    <p:sldId id="309" r:id="rId16"/>
    <p:sldId id="310" r:id="rId17"/>
    <p:sldId id="305" r:id="rId18"/>
    <p:sldId id="306" r:id="rId19"/>
    <p:sldId id="302" r:id="rId20"/>
    <p:sldId id="303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06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iytIH6N3DoL14jRaVwHS3n4ES8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B9CB5E0-AD73-45AB-B1E8-1C321DFEC4C9}">
  <a:tblStyle styleId="{9B9CB5E0-AD73-45AB-B1E8-1C321DFEC4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40"/>
    <p:restoredTop sz="94643"/>
  </p:normalViewPr>
  <p:slideViewPr>
    <p:cSldViewPr snapToGrid="0">
      <p:cViewPr>
        <p:scale>
          <a:sx n="138" d="100"/>
          <a:sy n="138" d="100"/>
        </p:scale>
        <p:origin x="1008" y="632"/>
      </p:cViewPr>
      <p:guideLst>
        <p:guide pos="50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9B198DCA-D3A4-9CC6-8D0B-4364BAAF6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:notes">
            <a:extLst>
              <a:ext uri="{FF2B5EF4-FFF2-40B4-BE49-F238E27FC236}">
                <a16:creationId xmlns:a16="http://schemas.microsoft.com/office/drawing/2014/main" id="{1652410C-97FE-184C-49D7-051ED1D769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:notes">
            <a:extLst>
              <a:ext uri="{FF2B5EF4-FFF2-40B4-BE49-F238E27FC236}">
                <a16:creationId xmlns:a16="http://schemas.microsoft.com/office/drawing/2014/main" id="{9C93C723-E26E-BEEE-2DD8-3DA55D2994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690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8847BE6D-60B9-CDCC-BF3B-11A637EF3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:notes">
            <a:extLst>
              <a:ext uri="{FF2B5EF4-FFF2-40B4-BE49-F238E27FC236}">
                <a16:creationId xmlns:a16="http://schemas.microsoft.com/office/drawing/2014/main" id="{D1A76C09-669E-CEB0-4B7C-EB9305B972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:notes">
            <a:extLst>
              <a:ext uri="{FF2B5EF4-FFF2-40B4-BE49-F238E27FC236}">
                <a16:creationId xmlns:a16="http://schemas.microsoft.com/office/drawing/2014/main" id="{03F36D52-0CF4-7D6B-CC53-8064F85E9C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35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460E7D6B-2323-56E1-4E55-50B04215A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:notes">
            <a:extLst>
              <a:ext uri="{FF2B5EF4-FFF2-40B4-BE49-F238E27FC236}">
                <a16:creationId xmlns:a16="http://schemas.microsoft.com/office/drawing/2014/main" id="{57A31EF2-54B0-B297-1589-6816D72807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14:notes">
            <a:extLst>
              <a:ext uri="{FF2B5EF4-FFF2-40B4-BE49-F238E27FC236}">
                <a16:creationId xmlns:a16="http://schemas.microsoft.com/office/drawing/2014/main" id="{08728D8B-D4B7-72CF-9BE1-7820C89AFA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101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7DCD05C2-0C54-F855-A25E-89BF40954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:notes">
            <a:extLst>
              <a:ext uri="{FF2B5EF4-FFF2-40B4-BE49-F238E27FC236}">
                <a16:creationId xmlns:a16="http://schemas.microsoft.com/office/drawing/2014/main" id="{FC96CA9B-C596-C038-E548-A9896B6F75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:notes">
            <a:extLst>
              <a:ext uri="{FF2B5EF4-FFF2-40B4-BE49-F238E27FC236}">
                <a16:creationId xmlns:a16="http://schemas.microsoft.com/office/drawing/2014/main" id="{4E9799C0-BE92-A2B0-A43A-7E32776FDD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70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D0F0B9D5-35A0-285C-83D4-DED34AA3C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:notes">
            <a:extLst>
              <a:ext uri="{FF2B5EF4-FFF2-40B4-BE49-F238E27FC236}">
                <a16:creationId xmlns:a16="http://schemas.microsoft.com/office/drawing/2014/main" id="{9304AFA6-CE91-8D06-A334-1C17A3F848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:notes">
            <a:extLst>
              <a:ext uri="{FF2B5EF4-FFF2-40B4-BE49-F238E27FC236}">
                <a16:creationId xmlns:a16="http://schemas.microsoft.com/office/drawing/2014/main" id="{650F5B6C-E272-C166-8826-6C6F70102F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095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E7F4707A-08E2-2874-3916-CC6E3661A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:notes">
            <a:extLst>
              <a:ext uri="{FF2B5EF4-FFF2-40B4-BE49-F238E27FC236}">
                <a16:creationId xmlns:a16="http://schemas.microsoft.com/office/drawing/2014/main" id="{1B2FFD9E-0ABF-F7ED-ED6E-ED24CA36DB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:notes">
            <a:extLst>
              <a:ext uri="{FF2B5EF4-FFF2-40B4-BE49-F238E27FC236}">
                <a16:creationId xmlns:a16="http://schemas.microsoft.com/office/drawing/2014/main" id="{B2A34DB2-822A-6789-8806-25BED1ECAE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12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B283A40B-8CDC-3BEC-81DF-FE1BE4369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:notes">
            <a:extLst>
              <a:ext uri="{FF2B5EF4-FFF2-40B4-BE49-F238E27FC236}">
                <a16:creationId xmlns:a16="http://schemas.microsoft.com/office/drawing/2014/main" id="{47338297-BD93-5337-5EDD-B99E47908A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:notes">
            <a:extLst>
              <a:ext uri="{FF2B5EF4-FFF2-40B4-BE49-F238E27FC236}">
                <a16:creationId xmlns:a16="http://schemas.microsoft.com/office/drawing/2014/main" id="{6938D7CE-5528-C58C-6D3E-AEA6330DE0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933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52B04D99-A382-CB34-2865-3EC2CD1E8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:notes">
            <a:extLst>
              <a:ext uri="{FF2B5EF4-FFF2-40B4-BE49-F238E27FC236}">
                <a16:creationId xmlns:a16="http://schemas.microsoft.com/office/drawing/2014/main" id="{A990415D-07BD-65AB-1734-5F8001252B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14:notes">
            <a:extLst>
              <a:ext uri="{FF2B5EF4-FFF2-40B4-BE49-F238E27FC236}">
                <a16:creationId xmlns:a16="http://schemas.microsoft.com/office/drawing/2014/main" id="{1D5CFC65-909D-55E8-1485-4950BEB51C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8871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F4BDA668-E325-0246-5DDF-2CCF70EB3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:notes">
            <a:extLst>
              <a:ext uri="{FF2B5EF4-FFF2-40B4-BE49-F238E27FC236}">
                <a16:creationId xmlns:a16="http://schemas.microsoft.com/office/drawing/2014/main" id="{85AB277D-2EFB-9910-B790-31B9426690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14:notes">
            <a:extLst>
              <a:ext uri="{FF2B5EF4-FFF2-40B4-BE49-F238E27FC236}">
                <a16:creationId xmlns:a16="http://schemas.microsoft.com/office/drawing/2014/main" id="{7B56E764-AB21-09F6-7C5D-6A53FC548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532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61524C94-C4C3-A4F6-6CD2-D7DB7CBD8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:notes">
            <a:extLst>
              <a:ext uri="{FF2B5EF4-FFF2-40B4-BE49-F238E27FC236}">
                <a16:creationId xmlns:a16="http://schemas.microsoft.com/office/drawing/2014/main" id="{ABF560BD-EBDC-D4D5-9172-46A9FC9D63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14:notes">
            <a:extLst>
              <a:ext uri="{FF2B5EF4-FFF2-40B4-BE49-F238E27FC236}">
                <a16:creationId xmlns:a16="http://schemas.microsoft.com/office/drawing/2014/main" id="{DB04BA52-3882-E7F9-CF07-127029E3A9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709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8746EFC2-0A5F-2BA0-B6DD-669413EAC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:notes">
            <a:extLst>
              <a:ext uri="{FF2B5EF4-FFF2-40B4-BE49-F238E27FC236}">
                <a16:creationId xmlns:a16="http://schemas.microsoft.com/office/drawing/2014/main" id="{5F820FA3-5BEA-2F6A-E4B5-0496BC35B8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14:notes">
            <a:extLst>
              <a:ext uri="{FF2B5EF4-FFF2-40B4-BE49-F238E27FC236}">
                <a16:creationId xmlns:a16="http://schemas.microsoft.com/office/drawing/2014/main" id="{3DEDF0D2-682C-4932-3F5A-A96696CB3E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0882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55B757E0-22B3-E9A2-11E3-BBF2FE83D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:notes">
            <a:extLst>
              <a:ext uri="{FF2B5EF4-FFF2-40B4-BE49-F238E27FC236}">
                <a16:creationId xmlns:a16="http://schemas.microsoft.com/office/drawing/2014/main" id="{FB3B4E50-7435-BEFF-F916-43BCEB6AE6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:notes">
            <a:extLst>
              <a:ext uri="{FF2B5EF4-FFF2-40B4-BE49-F238E27FC236}">
                <a16:creationId xmlns:a16="http://schemas.microsoft.com/office/drawing/2014/main" id="{431C72AC-EFDE-D592-DB60-0432E60819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869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8484B933-F7EE-06F6-1174-4109BE5D8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:notes">
            <a:extLst>
              <a:ext uri="{FF2B5EF4-FFF2-40B4-BE49-F238E27FC236}">
                <a16:creationId xmlns:a16="http://schemas.microsoft.com/office/drawing/2014/main" id="{E512D171-DAA6-AE18-D844-04E94B18F4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:notes">
            <a:extLst>
              <a:ext uri="{FF2B5EF4-FFF2-40B4-BE49-F238E27FC236}">
                <a16:creationId xmlns:a16="http://schemas.microsoft.com/office/drawing/2014/main" id="{F3B83514-72B3-1487-45C9-980B3F3FAD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0709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A1800A1D-32F4-2AC7-B0C0-5187773A2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:notes">
            <a:extLst>
              <a:ext uri="{FF2B5EF4-FFF2-40B4-BE49-F238E27FC236}">
                <a16:creationId xmlns:a16="http://schemas.microsoft.com/office/drawing/2014/main" id="{229B41C7-F92A-8B0D-3438-8EBAB0890E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:notes">
            <a:extLst>
              <a:ext uri="{FF2B5EF4-FFF2-40B4-BE49-F238E27FC236}">
                <a16:creationId xmlns:a16="http://schemas.microsoft.com/office/drawing/2014/main" id="{7262CFC8-DF0A-6CF6-66C6-21996ECCDA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568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4C9B8DE1-D59C-09CC-7F23-1B65FA82A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:notes">
            <a:extLst>
              <a:ext uri="{FF2B5EF4-FFF2-40B4-BE49-F238E27FC236}">
                <a16:creationId xmlns:a16="http://schemas.microsoft.com/office/drawing/2014/main" id="{B74E75D6-E89A-3F50-3BB2-15FAA60879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:notes">
            <a:extLst>
              <a:ext uri="{FF2B5EF4-FFF2-40B4-BE49-F238E27FC236}">
                <a16:creationId xmlns:a16="http://schemas.microsoft.com/office/drawing/2014/main" id="{70E6B739-C9C3-2508-F7CD-952B5BB400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1336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9F197111-B2A5-638A-4669-362A6A333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:notes">
            <a:extLst>
              <a:ext uri="{FF2B5EF4-FFF2-40B4-BE49-F238E27FC236}">
                <a16:creationId xmlns:a16="http://schemas.microsoft.com/office/drawing/2014/main" id="{99EB63B1-7376-A79B-8743-35DE55FCCD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:notes">
            <a:extLst>
              <a:ext uri="{FF2B5EF4-FFF2-40B4-BE49-F238E27FC236}">
                <a16:creationId xmlns:a16="http://schemas.microsoft.com/office/drawing/2014/main" id="{714DF538-FA08-A093-95FD-2C4DA901D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455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293BFB5A-6FD3-0F1C-D579-7B59E4DCC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:notes">
            <a:extLst>
              <a:ext uri="{FF2B5EF4-FFF2-40B4-BE49-F238E27FC236}">
                <a16:creationId xmlns:a16="http://schemas.microsoft.com/office/drawing/2014/main" id="{DC4CB0A9-8931-4257-63F7-53285A7CE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:notes">
            <a:extLst>
              <a:ext uri="{FF2B5EF4-FFF2-40B4-BE49-F238E27FC236}">
                <a16:creationId xmlns:a16="http://schemas.microsoft.com/office/drawing/2014/main" id="{B9ECC30A-2BB1-B2BA-8749-7287191BAD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304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CC3B53B8-E2A1-BCCF-3985-8E51B892F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:notes">
            <a:extLst>
              <a:ext uri="{FF2B5EF4-FFF2-40B4-BE49-F238E27FC236}">
                <a16:creationId xmlns:a16="http://schemas.microsoft.com/office/drawing/2014/main" id="{077B7756-DFA9-79F4-5877-C898A68389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:notes">
            <a:extLst>
              <a:ext uri="{FF2B5EF4-FFF2-40B4-BE49-F238E27FC236}">
                <a16:creationId xmlns:a16="http://schemas.microsoft.com/office/drawing/2014/main" id="{15BFE412-0FFA-AF4E-9397-3078F41A7F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19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_option 1">
  <p:cSld name="2_Title Slide_option 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6"/>
          <p:cNvPicPr preferRelativeResize="0"/>
          <p:nvPr/>
        </p:nvPicPr>
        <p:blipFill rotWithShape="1">
          <a:blip r:embed="rId2">
            <a:alphaModFix/>
          </a:blip>
          <a:srcRect l="3455" t="4216" r="718" b="17834"/>
          <a:stretch/>
        </p:blipFill>
        <p:spPr>
          <a:xfrm>
            <a:off x="3078" y="720436"/>
            <a:ext cx="8509091" cy="51911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46"/>
          <p:cNvGrpSpPr/>
          <p:nvPr/>
        </p:nvGrpSpPr>
        <p:grpSpPr>
          <a:xfrm>
            <a:off x="2" y="5876103"/>
            <a:ext cx="12192000" cy="54001"/>
            <a:chOff x="2" y="5876103"/>
            <a:chExt cx="12192000" cy="54001"/>
          </a:xfrm>
        </p:grpSpPr>
        <p:sp>
          <p:nvSpPr>
            <p:cNvPr id="20" name="Google Shape;20;p46"/>
            <p:cNvSpPr/>
            <p:nvPr/>
          </p:nvSpPr>
          <p:spPr>
            <a:xfrm rot="-5400000">
              <a:off x="1881002" y="3995103"/>
              <a:ext cx="54000" cy="38160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46"/>
            <p:cNvSpPr/>
            <p:nvPr/>
          </p:nvSpPr>
          <p:spPr>
            <a:xfrm rot="-5400000">
              <a:off x="10133002" y="3871103"/>
              <a:ext cx="54000" cy="40640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46"/>
            <p:cNvSpPr/>
            <p:nvPr/>
          </p:nvSpPr>
          <p:spPr>
            <a:xfrm rot="-5400000">
              <a:off x="6069000" y="3599104"/>
              <a:ext cx="54000" cy="46080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" name="Google Shape;23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69373" y="5054309"/>
            <a:ext cx="14400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6"/>
          <p:cNvSpPr txBox="1">
            <a:spLocks noGrp="1"/>
          </p:cNvSpPr>
          <p:nvPr>
            <p:ph type="ctrTitle"/>
          </p:nvPr>
        </p:nvSpPr>
        <p:spPr>
          <a:xfrm>
            <a:off x="3393312" y="646771"/>
            <a:ext cx="8642351" cy="1485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46"/>
          <p:cNvSpPr txBox="1">
            <a:spLocks noGrp="1"/>
          </p:cNvSpPr>
          <p:nvPr>
            <p:ph type="subTitle" idx="1"/>
          </p:nvPr>
        </p:nvSpPr>
        <p:spPr>
          <a:xfrm>
            <a:off x="3393313" y="2502273"/>
            <a:ext cx="4213380" cy="130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body" idx="2"/>
          </p:nvPr>
        </p:nvSpPr>
        <p:spPr>
          <a:xfrm>
            <a:off x="7840867" y="2510636"/>
            <a:ext cx="4194795" cy="1301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46"/>
          <p:cNvSpPr/>
          <p:nvPr/>
        </p:nvSpPr>
        <p:spPr>
          <a:xfrm>
            <a:off x="7680148" y="2510636"/>
            <a:ext cx="68679" cy="1301459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7"/>
          <p:cNvPicPr preferRelativeResize="0"/>
          <p:nvPr/>
        </p:nvPicPr>
        <p:blipFill rotWithShape="1">
          <a:blip r:embed="rId3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7"/>
          <p:cNvSpPr txBox="1">
            <a:spLocks noGrp="1"/>
          </p:cNvSpPr>
          <p:nvPr>
            <p:ph type="body" idx="1"/>
          </p:nvPr>
        </p:nvSpPr>
        <p:spPr>
          <a:xfrm>
            <a:off x="695325" y="1225549"/>
            <a:ext cx="5284717" cy="49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body" idx="2"/>
          </p:nvPr>
        </p:nvSpPr>
        <p:spPr>
          <a:xfrm>
            <a:off x="6211240" y="1225549"/>
            <a:ext cx="5284717" cy="49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body" idx="3"/>
          </p:nvPr>
        </p:nvSpPr>
        <p:spPr>
          <a:xfrm>
            <a:off x="2189626" y="6484429"/>
            <a:ext cx="9769475" cy="2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5" name="Google Shape;35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3947"/>
            <a:ext cx="10075921" cy="1559859"/>
          </a:xfrm>
          <a:custGeom>
            <a:avLst/>
            <a:gdLst/>
            <a:ahLst/>
            <a:cxnLst/>
            <a:rect l="l" t="t" r="r" b="b"/>
            <a:pathLst>
              <a:path w="10075921" h="1559859" extrusionOk="0">
                <a:moveTo>
                  <a:pt x="0" y="0"/>
                </a:moveTo>
                <a:lnTo>
                  <a:pt x="10075921" y="0"/>
                </a:lnTo>
                <a:lnTo>
                  <a:pt x="10075921" y="70464"/>
                </a:lnTo>
                <a:lnTo>
                  <a:pt x="75306" y="70464"/>
                </a:lnTo>
                <a:lnTo>
                  <a:pt x="75306" y="1559859"/>
                </a:lnTo>
                <a:lnTo>
                  <a:pt x="0" y="155985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6" name="Google Shape;36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16079" y="5303517"/>
            <a:ext cx="10075921" cy="1559859"/>
          </a:xfrm>
          <a:custGeom>
            <a:avLst/>
            <a:gdLst/>
            <a:ahLst/>
            <a:cxnLst/>
            <a:rect l="l" t="t" r="r" b="b"/>
            <a:pathLst>
              <a:path w="10075921" h="1559859" extrusionOk="0">
                <a:moveTo>
                  <a:pt x="10011373" y="0"/>
                </a:moveTo>
                <a:lnTo>
                  <a:pt x="10075921" y="0"/>
                </a:lnTo>
                <a:lnTo>
                  <a:pt x="10075921" y="1559859"/>
                </a:lnTo>
                <a:lnTo>
                  <a:pt x="0" y="1559859"/>
                </a:lnTo>
                <a:lnTo>
                  <a:pt x="0" y="1495314"/>
                </a:lnTo>
                <a:lnTo>
                  <a:pt x="10011373" y="1495314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bg>
      <p:bgPr>
        <a:solidFill>
          <a:srgbClr val="E2E2E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49"/>
          <p:cNvPicPr preferRelativeResize="0"/>
          <p:nvPr/>
        </p:nvPicPr>
        <p:blipFill rotWithShape="1">
          <a:blip r:embed="rId2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9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7" name="Google Shape;47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9"/>
          <p:cNvSpPr txBox="1">
            <a:spLocks noGrp="1"/>
          </p:cNvSpPr>
          <p:nvPr>
            <p:ph type="body" idx="1"/>
          </p:nvPr>
        </p:nvSpPr>
        <p:spPr>
          <a:xfrm>
            <a:off x="695325" y="1225549"/>
            <a:ext cx="10801350" cy="49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49"/>
          <p:cNvSpPr txBox="1">
            <a:spLocks noGrp="1"/>
          </p:cNvSpPr>
          <p:nvPr>
            <p:ph type="body" idx="2"/>
          </p:nvPr>
        </p:nvSpPr>
        <p:spPr>
          <a:xfrm>
            <a:off x="2189626" y="6484429"/>
            <a:ext cx="9769475" cy="2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0" name="Google Shape;50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3947"/>
            <a:ext cx="10075921" cy="1559859"/>
          </a:xfrm>
          <a:custGeom>
            <a:avLst/>
            <a:gdLst/>
            <a:ahLst/>
            <a:cxnLst/>
            <a:rect l="l" t="t" r="r" b="b"/>
            <a:pathLst>
              <a:path w="10075921" h="1559859" extrusionOk="0">
                <a:moveTo>
                  <a:pt x="0" y="0"/>
                </a:moveTo>
                <a:lnTo>
                  <a:pt x="10075921" y="0"/>
                </a:lnTo>
                <a:lnTo>
                  <a:pt x="10075921" y="70464"/>
                </a:lnTo>
                <a:lnTo>
                  <a:pt x="75306" y="70464"/>
                </a:lnTo>
                <a:lnTo>
                  <a:pt x="75306" y="1559859"/>
                </a:lnTo>
                <a:lnTo>
                  <a:pt x="0" y="155985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51" name="Google Shape;51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16079" y="5303517"/>
            <a:ext cx="10075921" cy="1559859"/>
          </a:xfrm>
          <a:custGeom>
            <a:avLst/>
            <a:gdLst/>
            <a:ahLst/>
            <a:cxnLst/>
            <a:rect l="l" t="t" r="r" b="b"/>
            <a:pathLst>
              <a:path w="10075921" h="1559859" extrusionOk="0">
                <a:moveTo>
                  <a:pt x="10011373" y="0"/>
                </a:moveTo>
                <a:lnTo>
                  <a:pt x="10075921" y="0"/>
                </a:lnTo>
                <a:lnTo>
                  <a:pt x="10075921" y="1559859"/>
                </a:lnTo>
                <a:lnTo>
                  <a:pt x="0" y="1559859"/>
                </a:lnTo>
                <a:lnTo>
                  <a:pt x="0" y="1495314"/>
                </a:lnTo>
                <a:lnTo>
                  <a:pt x="10011373" y="1495314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2_Two Content">
    <p:bg>
      <p:bgPr>
        <a:solidFill>
          <a:srgbClr val="E2E2E2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0"/>
          <p:cNvSpPr txBox="1">
            <a:spLocks noGrp="1"/>
          </p:cNvSpPr>
          <p:nvPr>
            <p:ph type="body" idx="1"/>
          </p:nvPr>
        </p:nvSpPr>
        <p:spPr>
          <a:xfrm>
            <a:off x="2189626" y="6484429"/>
            <a:ext cx="9769475" cy="2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4" name="Google Shape;54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3947"/>
            <a:ext cx="10075921" cy="1559859"/>
          </a:xfrm>
          <a:custGeom>
            <a:avLst/>
            <a:gdLst/>
            <a:ahLst/>
            <a:cxnLst/>
            <a:rect l="l" t="t" r="r" b="b"/>
            <a:pathLst>
              <a:path w="10075921" h="1559859" extrusionOk="0">
                <a:moveTo>
                  <a:pt x="0" y="0"/>
                </a:moveTo>
                <a:lnTo>
                  <a:pt x="10075921" y="0"/>
                </a:lnTo>
                <a:lnTo>
                  <a:pt x="10075921" y="70464"/>
                </a:lnTo>
                <a:lnTo>
                  <a:pt x="75306" y="70464"/>
                </a:lnTo>
                <a:lnTo>
                  <a:pt x="75306" y="1559859"/>
                </a:lnTo>
                <a:lnTo>
                  <a:pt x="0" y="155985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55" name="Google Shape;55;p50"/>
          <p:cNvPicPr preferRelativeResize="0"/>
          <p:nvPr/>
        </p:nvPicPr>
        <p:blipFill rotWithShape="1">
          <a:blip r:embed="rId3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16079" y="5303517"/>
            <a:ext cx="10075921" cy="1559859"/>
          </a:xfrm>
          <a:custGeom>
            <a:avLst/>
            <a:gdLst/>
            <a:ahLst/>
            <a:cxnLst/>
            <a:rect l="l" t="t" r="r" b="b"/>
            <a:pathLst>
              <a:path w="10075921" h="1559859" extrusionOk="0">
                <a:moveTo>
                  <a:pt x="10011373" y="0"/>
                </a:moveTo>
                <a:lnTo>
                  <a:pt x="10075921" y="0"/>
                </a:lnTo>
                <a:lnTo>
                  <a:pt x="10075921" y="1559859"/>
                </a:lnTo>
                <a:lnTo>
                  <a:pt x="0" y="1559859"/>
                </a:lnTo>
                <a:lnTo>
                  <a:pt x="0" y="1495314"/>
                </a:lnTo>
                <a:lnTo>
                  <a:pt x="10011373" y="1495314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57" name="Google Shape;57;p50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8" name="Google Shape;58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0"/>
          <p:cNvSpPr txBox="1">
            <a:spLocks noGrp="1"/>
          </p:cNvSpPr>
          <p:nvPr>
            <p:ph type="body" idx="2"/>
          </p:nvPr>
        </p:nvSpPr>
        <p:spPr>
          <a:xfrm>
            <a:off x="695325" y="1225549"/>
            <a:ext cx="10801350" cy="49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2_Two Content 2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51"/>
          <p:cNvPicPr preferRelativeResize="0"/>
          <p:nvPr/>
        </p:nvPicPr>
        <p:blipFill rotWithShape="1">
          <a:blip r:embed="rId2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1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128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63" name="Google Shape;63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1"/>
          <p:cNvSpPr txBox="1">
            <a:spLocks noGrp="1"/>
          </p:cNvSpPr>
          <p:nvPr>
            <p:ph type="body" idx="1"/>
          </p:nvPr>
        </p:nvSpPr>
        <p:spPr>
          <a:xfrm>
            <a:off x="695325" y="1685830"/>
            <a:ext cx="10801350" cy="4478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51"/>
          <p:cNvSpPr txBox="1">
            <a:spLocks noGrp="1"/>
          </p:cNvSpPr>
          <p:nvPr>
            <p:ph type="body" idx="2"/>
          </p:nvPr>
        </p:nvSpPr>
        <p:spPr>
          <a:xfrm>
            <a:off x="2189626" y="6484429"/>
            <a:ext cx="9769475" cy="2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66" name="Google Shape;66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3947"/>
            <a:ext cx="10075921" cy="1559859"/>
          </a:xfrm>
          <a:custGeom>
            <a:avLst/>
            <a:gdLst/>
            <a:ahLst/>
            <a:cxnLst/>
            <a:rect l="l" t="t" r="r" b="b"/>
            <a:pathLst>
              <a:path w="10075921" h="1559859" extrusionOk="0">
                <a:moveTo>
                  <a:pt x="0" y="0"/>
                </a:moveTo>
                <a:lnTo>
                  <a:pt x="10075921" y="0"/>
                </a:lnTo>
                <a:lnTo>
                  <a:pt x="10075921" y="70464"/>
                </a:lnTo>
                <a:lnTo>
                  <a:pt x="75306" y="70464"/>
                </a:lnTo>
                <a:lnTo>
                  <a:pt x="75306" y="1559859"/>
                </a:lnTo>
                <a:lnTo>
                  <a:pt x="0" y="155985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67" name="Google Shape;67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16079" y="5303517"/>
            <a:ext cx="10075921" cy="1559859"/>
          </a:xfrm>
          <a:custGeom>
            <a:avLst/>
            <a:gdLst/>
            <a:ahLst/>
            <a:cxnLst/>
            <a:rect l="l" t="t" r="r" b="b"/>
            <a:pathLst>
              <a:path w="10075921" h="1559859" extrusionOk="0">
                <a:moveTo>
                  <a:pt x="10011373" y="0"/>
                </a:moveTo>
                <a:lnTo>
                  <a:pt x="10075921" y="0"/>
                </a:lnTo>
                <a:lnTo>
                  <a:pt x="10075921" y="1559859"/>
                </a:lnTo>
                <a:lnTo>
                  <a:pt x="0" y="1559859"/>
                </a:lnTo>
                <a:lnTo>
                  <a:pt x="0" y="1495314"/>
                </a:lnTo>
                <a:lnTo>
                  <a:pt x="10011373" y="1495314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/>
          <p:nvPr/>
        </p:nvSpPr>
        <p:spPr>
          <a:xfrm>
            <a:off x="-1301502" y="2278496"/>
            <a:ext cx="1080000" cy="360000"/>
          </a:xfrm>
          <a:prstGeom prst="rect">
            <a:avLst/>
          </a:prstGeom>
          <a:solidFill>
            <a:srgbClr val="7A44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#7A442E</a:t>
            </a:r>
            <a:endParaRPr/>
          </a:p>
        </p:txBody>
      </p:sp>
      <p:sp>
        <p:nvSpPr>
          <p:cNvPr id="7" name="Google Shape;7;p45"/>
          <p:cNvSpPr/>
          <p:nvPr/>
        </p:nvSpPr>
        <p:spPr>
          <a:xfrm>
            <a:off x="-1301502" y="3476803"/>
            <a:ext cx="1080000" cy="360000"/>
          </a:xfrm>
          <a:prstGeom prst="rect">
            <a:avLst/>
          </a:prstGeom>
          <a:solidFill>
            <a:srgbClr val="800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#800040</a:t>
            </a:r>
            <a:endParaRPr/>
          </a:p>
        </p:txBody>
      </p:sp>
      <p:sp>
        <p:nvSpPr>
          <p:cNvPr id="8" name="Google Shape;8;p45"/>
          <p:cNvSpPr/>
          <p:nvPr/>
        </p:nvSpPr>
        <p:spPr>
          <a:xfrm>
            <a:off x="-1301502" y="1139438"/>
            <a:ext cx="1080000" cy="360000"/>
          </a:xfrm>
          <a:prstGeom prst="rect">
            <a:avLst/>
          </a:prstGeom>
          <a:solidFill>
            <a:srgbClr val="211D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#211D70</a:t>
            </a:r>
            <a:endParaRPr/>
          </a:p>
        </p:txBody>
      </p:sp>
      <p:sp>
        <p:nvSpPr>
          <p:cNvPr id="9" name="Google Shape;9;p45"/>
          <p:cNvSpPr/>
          <p:nvPr/>
        </p:nvSpPr>
        <p:spPr>
          <a:xfrm>
            <a:off x="-1301502" y="692708"/>
            <a:ext cx="108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#000000</a:t>
            </a:r>
            <a:endParaRPr/>
          </a:p>
        </p:txBody>
      </p:sp>
      <p:sp>
        <p:nvSpPr>
          <p:cNvPr id="10" name="Google Shape;10;p45"/>
          <p:cNvSpPr/>
          <p:nvPr/>
        </p:nvSpPr>
        <p:spPr>
          <a:xfrm>
            <a:off x="-1312072" y="1673485"/>
            <a:ext cx="1080000" cy="360000"/>
          </a:xfrm>
          <a:prstGeom prst="rect">
            <a:avLst/>
          </a:prstGeom>
          <a:solidFill>
            <a:srgbClr val="4262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#426228</a:t>
            </a:r>
            <a:endParaRPr/>
          </a:p>
        </p:txBody>
      </p:sp>
      <p:sp>
        <p:nvSpPr>
          <p:cNvPr id="11" name="Google Shape;11;p45"/>
          <p:cNvSpPr/>
          <p:nvPr/>
        </p:nvSpPr>
        <p:spPr>
          <a:xfrm>
            <a:off x="-1312072" y="2871793"/>
            <a:ext cx="1080000" cy="360000"/>
          </a:xfrm>
          <a:prstGeom prst="rect">
            <a:avLst/>
          </a:prstGeom>
          <a:solidFill>
            <a:srgbClr val="5E23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#5E23AD</a:t>
            </a:r>
            <a:endParaRPr/>
          </a:p>
        </p:txBody>
      </p:sp>
      <p:sp>
        <p:nvSpPr>
          <p:cNvPr id="12" name="Google Shape;12;p45"/>
          <p:cNvSpPr/>
          <p:nvPr/>
        </p:nvSpPr>
        <p:spPr>
          <a:xfrm>
            <a:off x="-1312072" y="5616411"/>
            <a:ext cx="1080000" cy="360000"/>
          </a:xfrm>
          <a:prstGeom prst="rect">
            <a:avLst/>
          </a:prstGeom>
          <a:solidFill>
            <a:srgbClr val="2F39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#2F3996</a:t>
            </a:r>
            <a:endParaRPr/>
          </a:p>
        </p:txBody>
      </p:sp>
      <p:sp>
        <p:nvSpPr>
          <p:cNvPr id="13" name="Google Shape;13;p45"/>
          <p:cNvSpPr/>
          <p:nvPr/>
        </p:nvSpPr>
        <p:spPr>
          <a:xfrm>
            <a:off x="-1301502" y="4598367"/>
            <a:ext cx="1080000" cy="360000"/>
          </a:xfrm>
          <a:prstGeom prst="rect">
            <a:avLst/>
          </a:prstGeom>
          <a:solidFill>
            <a:srgbClr val="F685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#F6851F</a:t>
            </a:r>
            <a:endParaRPr/>
          </a:p>
        </p:txBody>
      </p:sp>
      <p:sp>
        <p:nvSpPr>
          <p:cNvPr id="14" name="Google Shape;14;p45"/>
          <p:cNvSpPr/>
          <p:nvPr/>
        </p:nvSpPr>
        <p:spPr>
          <a:xfrm>
            <a:off x="-1301502" y="5107389"/>
            <a:ext cx="1080000" cy="36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#FCAF17</a:t>
            </a:r>
            <a:endParaRPr/>
          </a:p>
        </p:txBody>
      </p:sp>
      <p:sp>
        <p:nvSpPr>
          <p:cNvPr id="15" name="Google Shape;15;p45"/>
          <p:cNvSpPr/>
          <p:nvPr/>
        </p:nvSpPr>
        <p:spPr>
          <a:xfrm>
            <a:off x="-1312072" y="4037585"/>
            <a:ext cx="1080000" cy="360000"/>
          </a:xfrm>
          <a:prstGeom prst="rect">
            <a:avLst/>
          </a:prstGeom>
          <a:solidFill>
            <a:srgbClr val="BC0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#BC0D01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5"/>
          <p:cNvSpPr/>
          <p:nvPr/>
        </p:nvSpPr>
        <p:spPr>
          <a:xfrm>
            <a:off x="-1312072" y="6118036"/>
            <a:ext cx="1080000" cy="360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#E2E2E2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>
            <a:spLocks noGrp="1"/>
          </p:cNvSpPr>
          <p:nvPr>
            <p:ph type="ctrTitle"/>
          </p:nvPr>
        </p:nvSpPr>
        <p:spPr>
          <a:xfrm>
            <a:off x="3393312" y="385514"/>
            <a:ext cx="8642351" cy="1768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Replication and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ILSIC</a:t>
            </a:r>
          </a:p>
        </p:txBody>
      </p:sp>
      <p:sp>
        <p:nvSpPr>
          <p:cNvPr id="73" name="Google Shape;73;p1"/>
          <p:cNvSpPr txBox="1">
            <a:spLocks noGrp="1"/>
          </p:cNvSpPr>
          <p:nvPr>
            <p:ph type="subTitle" idx="1"/>
          </p:nvPr>
        </p:nvSpPr>
        <p:spPr>
          <a:xfrm>
            <a:off x="2811781" y="2501900"/>
            <a:ext cx="4795520" cy="1309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endParaRPr lang="en-IN" sz="1800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Mayank Pillai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Google Shape;74;p1"/>
          <p:cNvSpPr txBox="1">
            <a:spLocks noGrp="1"/>
          </p:cNvSpPr>
          <p:nvPr>
            <p:ph type="body" idx="2"/>
          </p:nvPr>
        </p:nvSpPr>
        <p:spPr>
          <a:xfrm>
            <a:off x="7607301" y="2664218"/>
            <a:ext cx="4194795" cy="1301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IN" sz="1800" noProof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</a:t>
            </a:r>
            <a:endParaRPr lang="en-IN" sz="1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IN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Yashvardhan Sharma </a:t>
            </a: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 lang="en-IN" sz="18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</a:pPr>
            <a:r>
              <a:rPr lang="en-IN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30D984-7F9F-DB4D-7E28-2AA96731949D}"/>
              </a:ext>
            </a:extLst>
          </p:cNvPr>
          <p:cNvSpPr txBox="1"/>
          <p:nvPr/>
        </p:nvSpPr>
        <p:spPr>
          <a:xfrm>
            <a:off x="695324" y="1060704"/>
            <a:ext cx="10128619" cy="6294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 ILSIC Paper Overview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and Data Overview</a:t>
            </a:r>
            <a:endParaRPr lang="en-IN" sz="2400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Setup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Comparison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Zero-Shot (ZSI) Findings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Two-Shot (ZSI) Findings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Differences: Paper vs. Local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Potential Enhancements (RAG &amp; SFT)</a:t>
            </a:r>
            <a:endParaRPr lang="en-IN" sz="2400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400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b="1" kern="100" noProof="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>
          <a:extLst>
            <a:ext uri="{FF2B5EF4-FFF2-40B4-BE49-F238E27FC236}">
              <a16:creationId xmlns:a16="http://schemas.microsoft.com/office/drawing/2014/main" id="{16BFF6BC-0EFC-8582-1DB5-4EDC1471C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3EB22FFB-37A5-5258-386C-9C5C0A45DA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 ILSIC Paper Overview</a:t>
            </a:r>
            <a:endParaRPr lang="en-IN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DD837A-66EB-180D-31D0-B11A7A2FCCEB}"/>
              </a:ext>
            </a:extLst>
          </p:cNvPr>
          <p:cNvSpPr txBox="1"/>
          <p:nvPr/>
        </p:nvSpPr>
        <p:spPr>
          <a:xfrm>
            <a:off x="695325" y="1139868"/>
            <a:ext cx="108013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Title: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"ILSIC: Corpora for Identifying Indian Legal Statutes from Queries by Laypeople”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Problem Addressed: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Statute Identification (LSI) is traditionally trained and tested on structured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court judgments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real-world user queries are written by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laypeople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(informal and everyday language).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Contributions: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ILSIC-Lay Dataset: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Over 8,000 laypeople queries mapping to 567 Indian statutes to establish the first Indian layperson benchmark.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ILSIC-Multi Dataset: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Parallel training sets (court judgments vs. layperson queries) to compare court language vs. everyday language.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Findings: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trained strictly on court judgments perform poorly on layperson queries due to language mismatch.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LLMs (e.g. GPT-4, LLaMA, Gemma) handle layperson queries significantly better than traditional search models.</a:t>
            </a:r>
          </a:p>
        </p:txBody>
      </p:sp>
    </p:spTree>
    <p:extLst>
      <p:ext uri="{BB962C8B-B14F-4D97-AF65-F5344CB8AC3E}">
        <p14:creationId xmlns:p14="http://schemas.microsoft.com/office/powerpoint/2010/main" val="478859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>
          <a:extLst>
            <a:ext uri="{FF2B5EF4-FFF2-40B4-BE49-F238E27FC236}">
              <a16:creationId xmlns:a16="http://schemas.microsoft.com/office/drawing/2014/main" id="{03DA4A5F-935A-D19D-E863-5463DA553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FA2CCD16-8FBD-DCB1-A1AA-48E0AC483E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</a:pPr>
            <a:r>
              <a:rPr lang="en-IN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C9653F-3E43-CB22-1A65-25C96AFE36DF}"/>
              </a:ext>
            </a:extLst>
          </p:cNvPr>
          <p:cNvSpPr txBox="1"/>
          <p:nvPr/>
        </p:nvSpPr>
        <p:spPr>
          <a:xfrm>
            <a:off x="686447" y="1130990"/>
            <a:ext cx="10801350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set up the models and replicate the Zero-Shot and Two-Shot Indian Legal Statute Identification (LSI) performance metrics presented in the paper.</a:t>
            </a:r>
            <a:endParaRPr lang="en-US" sz="2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– Run these models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Gemma-3-12B-it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Meta-Llama-3-8B-Instruct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locally on Apple Silicon Mac.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Macro/Micro Precision, Recall, and F1-scores from our local models against the paper's published results</a:t>
            </a:r>
            <a:r>
              <a:rPr lang="en-US" sz="2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069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>
          <a:extLst>
            <a:ext uri="{FF2B5EF4-FFF2-40B4-BE49-F238E27FC236}">
              <a16:creationId xmlns:a16="http://schemas.microsoft.com/office/drawing/2014/main" id="{8697C920-6FB2-6189-6D6D-5BCAAC547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3E2DA462-3181-2598-AA8B-C4F687F61A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5" y="311042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</a:pPr>
            <a:r>
              <a:rPr lang="en-IN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Overview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CF4D0F-692C-6070-C638-F2BDA69049E6}"/>
              </a:ext>
            </a:extLst>
          </p:cNvPr>
          <p:cNvSpPr txBox="1"/>
          <p:nvPr/>
        </p:nvSpPr>
        <p:spPr>
          <a:xfrm>
            <a:off x="695325" y="1139868"/>
            <a:ext cx="1080135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Replicated: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Gemma-3-12B-it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&amp;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Meta-Llama-3-8B-Instruct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(quantized to 4-bit integers).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Configurations Replicated: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-514350" algn="just"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Zero-Shot Inference (ZSI):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Asking the model directly for the statues without showing it any examples. The prompts given to the model match the one’s from the paper.</a:t>
            </a:r>
          </a:p>
          <a:p>
            <a:pPr marL="514350" lvl="1" indent="-514350" algn="just"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Two-Shot Inference (TSI):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Showing the model two example cases and their answers from training set and then asking it to solve the query. Examples are selected from SBERT embeddings of training set.</a:t>
            </a:r>
          </a:p>
        </p:txBody>
      </p:sp>
    </p:spTree>
    <p:extLst>
      <p:ext uri="{BB962C8B-B14F-4D97-AF65-F5344CB8AC3E}">
        <p14:creationId xmlns:p14="http://schemas.microsoft.com/office/powerpoint/2010/main" val="1646486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>
          <a:extLst>
            <a:ext uri="{FF2B5EF4-FFF2-40B4-BE49-F238E27FC236}">
              <a16:creationId xmlns:a16="http://schemas.microsoft.com/office/drawing/2014/main" id="{9497B93A-E2A6-8B8D-5EAE-9F57480B0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D10CE063-CFD9-75D0-2B3B-EEEF2791A0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IN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Overview &amp; Examples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6598F-AEE3-6797-4F56-181ACA40AB89}"/>
              </a:ext>
            </a:extLst>
          </p:cNvPr>
          <p:cNvSpPr txBox="1"/>
          <p:nvPr/>
        </p:nvSpPr>
        <p:spPr>
          <a:xfrm>
            <a:off x="695325" y="1139868"/>
            <a:ext cx="1080135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used for replication: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ILSIC-Lay Train &amp; Test Sets (FT-Layman-train &amp; FT-Layman-test):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are JSON Lines files containing layperson queries and statues that apply on them.</a:t>
            </a:r>
          </a:p>
          <a:p>
            <a:pPr lvl="2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Record:</a:t>
            </a:r>
          </a:p>
          <a:p>
            <a:pPr lvl="3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Facts (Instruction):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"Well, I'm into digital marketing and my client had not paid me... He had also 	threatened me to life... Please advise how should I go about it..."</a:t>
            </a:r>
          </a:p>
          <a:p>
            <a:pPr lvl="3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Statutes (Answer):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"Section 420 of The Indian Penal Code, 1860" (Cheating)</a:t>
            </a:r>
          </a:p>
          <a:p>
            <a:pPr lvl="4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"Section 506 of The Indian Penal Code, 1860" (Criminal Intimidation)</a:t>
            </a:r>
          </a:p>
          <a:p>
            <a:pPr lvl="1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Statute Reference Metadata (id-section-meta.json):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Structure: a list of all 569 statues with their title and definitions: [Section Title, Act Name, Description Blurb, ID].</a:t>
            </a:r>
          </a:p>
          <a:p>
            <a:pPr lvl="2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Record: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Database Key: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"35 advocates act"</a:t>
            </a:r>
          </a:p>
          <a:p>
            <a:pPr lvl="4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Section Title: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"Section 35"</a:t>
            </a:r>
          </a:p>
          <a:p>
            <a:pPr lvl="4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Act Name: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"The Advocates Act, 1961"</a:t>
            </a:r>
          </a:p>
          <a:p>
            <a:pPr lvl="4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Description Blurb: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"Punishment of advocates for misconduct."</a:t>
            </a:r>
          </a:p>
          <a:p>
            <a:pPr lvl="4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Canonical ID: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"1"</a:t>
            </a:r>
          </a:p>
          <a:p>
            <a:pPr lvl="1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Discrepancy Note: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released dataset did not contain the Category and Religion tags described in the paper. We used Sentence-BERT to match similar cases based by their description instead.</a:t>
            </a:r>
          </a:p>
          <a:p>
            <a:pPr algn="just"/>
            <a:br>
              <a:rPr lang="en-US" dirty="0"/>
            </a:br>
            <a:br>
              <a:rPr lang="en-US" dirty="0"/>
            </a:br>
            <a:endParaRPr lang="en-IN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781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>
          <a:extLst>
            <a:ext uri="{FF2B5EF4-FFF2-40B4-BE49-F238E27FC236}">
              <a16:creationId xmlns:a16="http://schemas.microsoft.com/office/drawing/2014/main" id="{9F997D97-DBD4-244C-20D5-BA9E497C7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26E98192-7A30-39F1-BAF9-82977B11B3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</a:pPr>
            <a:r>
              <a:rPr lang="en-IN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100AE4-ED05-5C7F-0A3B-D37E60095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657984"/>
              </p:ext>
            </p:extLst>
          </p:nvPr>
        </p:nvGraphicFramePr>
        <p:xfrm>
          <a:off x="1620357" y="1466589"/>
          <a:ext cx="8384880" cy="46365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96220">
                  <a:extLst>
                    <a:ext uri="{9D8B030D-6E8A-4147-A177-3AD203B41FA5}">
                      <a16:colId xmlns:a16="http://schemas.microsoft.com/office/drawing/2014/main" val="2053230094"/>
                    </a:ext>
                  </a:extLst>
                </a:gridCol>
                <a:gridCol w="2096220">
                  <a:extLst>
                    <a:ext uri="{9D8B030D-6E8A-4147-A177-3AD203B41FA5}">
                      <a16:colId xmlns:a16="http://schemas.microsoft.com/office/drawing/2014/main" val="1675482033"/>
                    </a:ext>
                  </a:extLst>
                </a:gridCol>
                <a:gridCol w="2096220">
                  <a:extLst>
                    <a:ext uri="{9D8B030D-6E8A-4147-A177-3AD203B41FA5}">
                      <a16:colId xmlns:a16="http://schemas.microsoft.com/office/drawing/2014/main" val="407538544"/>
                    </a:ext>
                  </a:extLst>
                </a:gridCol>
                <a:gridCol w="2096220">
                  <a:extLst>
                    <a:ext uri="{9D8B030D-6E8A-4147-A177-3AD203B41FA5}">
                      <a16:colId xmlns:a16="http://schemas.microsoft.com/office/drawing/2014/main" val="4293779300"/>
                    </a:ext>
                  </a:extLst>
                </a:gridCol>
              </a:tblGrid>
              <a:tr h="10678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Split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Records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Space (Statutes)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7124305"/>
                  </a:ext>
                </a:extLst>
              </a:tr>
              <a:tr h="10480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FT-Layman-train.jsonl.xz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6,465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8637404"/>
                  </a:ext>
                </a:extLst>
              </a:tr>
              <a:tr h="7810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FT-Layman-dev.jsonl.xz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 / 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1542396"/>
                  </a:ext>
                </a:extLst>
              </a:tr>
              <a:tr h="8799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FT-Layman-test.jsonl.xz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032026"/>
                  </a:ext>
                </a:extLst>
              </a:tr>
              <a:tr h="8595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id-section-meta.json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Meta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20526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0D9D77-141B-CBEB-A271-7EBFBCE44A6A}"/>
              </a:ext>
            </a:extLst>
          </p:cNvPr>
          <p:cNvSpPr txBox="1"/>
          <p:nvPr/>
        </p:nvSpPr>
        <p:spPr>
          <a:xfrm>
            <a:off x="695325" y="1066478"/>
            <a:ext cx="10801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Statistics of datasets used for evaluation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455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>
          <a:extLst>
            <a:ext uri="{FF2B5EF4-FFF2-40B4-BE49-F238E27FC236}">
              <a16:creationId xmlns:a16="http://schemas.microsoft.com/office/drawing/2014/main" id="{B0EE9247-0640-9830-670C-9EEA5157E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F783BBD6-C059-D26B-21EB-2294305266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</a:pPr>
            <a:r>
              <a:rPr lang="en-IN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Setup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4DE471-1913-31E9-5CBD-54495008F096}"/>
              </a:ext>
            </a:extLst>
          </p:cNvPr>
          <p:cNvSpPr txBox="1"/>
          <p:nvPr/>
        </p:nvSpPr>
        <p:spPr>
          <a:xfrm>
            <a:off x="695325" y="1139868"/>
            <a:ext cx="1080135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Environment: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Apple Silicon M3 Pro 18 GB RAM Mac (Unified Memory 	Architecture) </a:t>
            </a:r>
          </a:p>
          <a:p>
            <a:pPr lvl="1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Environment: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Python: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3.10 / 3.11 </a:t>
            </a:r>
          </a:p>
          <a:p>
            <a:pPr lvl="1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MLX Framework(mlx-lm):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Apple’s library to access models and 	run them on local GPU.</a:t>
            </a:r>
          </a:p>
          <a:p>
            <a:pPr lvl="1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Sentence-BERT: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sentence-transformers/all-MiniLM-L6-v2 for 	generating few-shot embeddings</a:t>
            </a:r>
          </a:p>
          <a:p>
            <a:pPr lvl="1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RapidFuzz: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Text-matching library to align the model’s predicted 	act name with  the correct legal term.</a:t>
            </a:r>
            <a:endParaRPr lang="en-IN" sz="2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266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>
          <a:extLst>
            <a:ext uri="{FF2B5EF4-FFF2-40B4-BE49-F238E27FC236}">
              <a16:creationId xmlns:a16="http://schemas.microsoft.com/office/drawing/2014/main" id="{FC87A2EF-A8A9-34E3-A5D2-66543531F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21D96397-9BD3-FF50-E75C-6C79B841DD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Deep Dive: 16-bit vs. 4-bit Quantization</a:t>
            </a:r>
            <a:endParaRPr lang="en-US" sz="3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805BB9-1080-C66D-B00C-A526569C2541}"/>
              </a:ext>
            </a:extLst>
          </p:cNvPr>
          <p:cNvSpPr txBox="1"/>
          <p:nvPr/>
        </p:nvSpPr>
        <p:spPr>
          <a:xfrm>
            <a:off x="695325" y="1139868"/>
            <a:ext cx="1080135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Limits: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Size (16-bit):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12B model requires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~24 GB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VRAM; an 8B model requires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~16 GB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VRAM just to load weights.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Compressed Size (4-bit):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Compresses weights to 4-bits. Gemma-12B is reduced to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~7.5 GB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LLaMA-8B is reduced to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~4.5 GB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fitting on standard consumer Macs.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Designs Compared: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NVIDIA (Separate Memory):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separate graphics memory. Slows down because it must copy model weights from computer’s RAM to graphic card’s VRAM.</a:t>
            </a:r>
          </a:p>
          <a:p>
            <a:pPr lvl="2"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Unified Memory Architecture (UMA):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processor and graphics card share the same RAM. No data copying is required, making  memory usage efficient. </a:t>
            </a:r>
            <a:endParaRPr lang="en-IN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384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>
          <a:extLst>
            <a:ext uri="{FF2B5EF4-FFF2-40B4-BE49-F238E27FC236}">
              <a16:creationId xmlns:a16="http://schemas.microsoft.com/office/drawing/2014/main" id="{39A2E73E-7009-BA04-77C0-7FC7F7ADF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F9563BB2-72B7-AFD4-BE19-68F1444B4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Comparison (Zero-Shot Inference)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B4827F-164B-C3DE-B7CC-535B4F214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429049"/>
              </p:ext>
            </p:extLst>
          </p:nvPr>
        </p:nvGraphicFramePr>
        <p:xfrm>
          <a:off x="695325" y="1460814"/>
          <a:ext cx="10396470" cy="413565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71250">
                  <a:extLst>
                    <a:ext uri="{9D8B030D-6E8A-4147-A177-3AD203B41FA5}">
                      <a16:colId xmlns:a16="http://schemas.microsoft.com/office/drawing/2014/main" val="4227574827"/>
                    </a:ext>
                  </a:extLst>
                </a:gridCol>
                <a:gridCol w="1399590">
                  <a:extLst>
                    <a:ext uri="{9D8B030D-6E8A-4147-A177-3AD203B41FA5}">
                      <a16:colId xmlns:a16="http://schemas.microsoft.com/office/drawing/2014/main" val="3282616632"/>
                    </a:ext>
                  </a:extLst>
                </a:gridCol>
                <a:gridCol w="1399590">
                  <a:extLst>
                    <a:ext uri="{9D8B030D-6E8A-4147-A177-3AD203B41FA5}">
                      <a16:colId xmlns:a16="http://schemas.microsoft.com/office/drawing/2014/main" val="4202532797"/>
                    </a:ext>
                  </a:extLst>
                </a:gridCol>
                <a:gridCol w="1302313">
                  <a:extLst>
                    <a:ext uri="{9D8B030D-6E8A-4147-A177-3AD203B41FA5}">
                      <a16:colId xmlns:a16="http://schemas.microsoft.com/office/drawing/2014/main" val="4267134068"/>
                    </a:ext>
                  </a:extLst>
                </a:gridCol>
                <a:gridCol w="1302313">
                  <a:extLst>
                    <a:ext uri="{9D8B030D-6E8A-4147-A177-3AD203B41FA5}">
                      <a16:colId xmlns:a16="http://schemas.microsoft.com/office/drawing/2014/main" val="2308551901"/>
                    </a:ext>
                  </a:extLst>
                </a:gridCol>
                <a:gridCol w="1210707">
                  <a:extLst>
                    <a:ext uri="{9D8B030D-6E8A-4147-A177-3AD203B41FA5}">
                      <a16:colId xmlns:a16="http://schemas.microsoft.com/office/drawing/2014/main" val="2235610808"/>
                    </a:ext>
                  </a:extLst>
                </a:gridCol>
                <a:gridCol w="1210707">
                  <a:extLst>
                    <a:ext uri="{9D8B030D-6E8A-4147-A177-3AD203B41FA5}">
                      <a16:colId xmlns:a16="http://schemas.microsoft.com/office/drawing/2014/main" val="4272601318"/>
                    </a:ext>
                  </a:extLst>
                </a:gridCol>
              </a:tblGrid>
              <a:tr h="829323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911280"/>
                  </a:ext>
                </a:extLst>
              </a:tr>
              <a:tr h="81836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μ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μ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μ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795500"/>
                  </a:ext>
                </a:extLst>
              </a:tr>
              <a:tr h="829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Gemma-3 (Paper)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8.98%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20.77%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8.32%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22.28%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6.94%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945303"/>
                  </a:ext>
                </a:extLst>
              </a:tr>
              <a:tr h="829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Gemma-3 (Local)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14.45%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8.39%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24.28%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5.76%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18.11%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117351"/>
                  </a:ext>
                </a:extLst>
              </a:tr>
              <a:tr h="829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-2.54%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-6.32%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+0.07%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-1.18%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-3.39%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13754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E61073D-327D-99FC-8BB5-C9806737DAEF}"/>
              </a:ext>
            </a:extLst>
          </p:cNvPr>
          <p:cNvSpPr txBox="1"/>
          <p:nvPr/>
        </p:nvSpPr>
        <p:spPr>
          <a:xfrm>
            <a:off x="660813" y="1060704"/>
            <a:ext cx="10465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2: ZSI Results on the ILSIC-Lay Test Dataset using Gemma-3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154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>
          <a:extLst>
            <a:ext uri="{FF2B5EF4-FFF2-40B4-BE49-F238E27FC236}">
              <a16:creationId xmlns:a16="http://schemas.microsoft.com/office/drawing/2014/main" id="{26855853-8B4C-ECC8-82B6-A58574F7C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E4686F85-CAD7-E2A0-E38C-68147AA7B3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Comparison (Zero-Shot Inference)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28F5FA-AC71-8271-E1D4-25857F2CD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404891"/>
              </p:ext>
            </p:extLst>
          </p:nvPr>
        </p:nvGraphicFramePr>
        <p:xfrm>
          <a:off x="695325" y="1460814"/>
          <a:ext cx="10396470" cy="413565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71250">
                  <a:extLst>
                    <a:ext uri="{9D8B030D-6E8A-4147-A177-3AD203B41FA5}">
                      <a16:colId xmlns:a16="http://schemas.microsoft.com/office/drawing/2014/main" val="4227574827"/>
                    </a:ext>
                  </a:extLst>
                </a:gridCol>
                <a:gridCol w="1399590">
                  <a:extLst>
                    <a:ext uri="{9D8B030D-6E8A-4147-A177-3AD203B41FA5}">
                      <a16:colId xmlns:a16="http://schemas.microsoft.com/office/drawing/2014/main" val="3282616632"/>
                    </a:ext>
                  </a:extLst>
                </a:gridCol>
                <a:gridCol w="1399590">
                  <a:extLst>
                    <a:ext uri="{9D8B030D-6E8A-4147-A177-3AD203B41FA5}">
                      <a16:colId xmlns:a16="http://schemas.microsoft.com/office/drawing/2014/main" val="4202532797"/>
                    </a:ext>
                  </a:extLst>
                </a:gridCol>
                <a:gridCol w="1302313">
                  <a:extLst>
                    <a:ext uri="{9D8B030D-6E8A-4147-A177-3AD203B41FA5}">
                      <a16:colId xmlns:a16="http://schemas.microsoft.com/office/drawing/2014/main" val="4267134068"/>
                    </a:ext>
                  </a:extLst>
                </a:gridCol>
                <a:gridCol w="1302313">
                  <a:extLst>
                    <a:ext uri="{9D8B030D-6E8A-4147-A177-3AD203B41FA5}">
                      <a16:colId xmlns:a16="http://schemas.microsoft.com/office/drawing/2014/main" val="2308551901"/>
                    </a:ext>
                  </a:extLst>
                </a:gridCol>
                <a:gridCol w="1210707">
                  <a:extLst>
                    <a:ext uri="{9D8B030D-6E8A-4147-A177-3AD203B41FA5}">
                      <a16:colId xmlns:a16="http://schemas.microsoft.com/office/drawing/2014/main" val="2235610808"/>
                    </a:ext>
                  </a:extLst>
                </a:gridCol>
                <a:gridCol w="1210707">
                  <a:extLst>
                    <a:ext uri="{9D8B030D-6E8A-4147-A177-3AD203B41FA5}">
                      <a16:colId xmlns:a16="http://schemas.microsoft.com/office/drawing/2014/main" val="4272601318"/>
                    </a:ext>
                  </a:extLst>
                </a:gridCol>
              </a:tblGrid>
              <a:tr h="829323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911280"/>
                  </a:ext>
                </a:extLst>
              </a:tr>
              <a:tr h="81836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μ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μ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μ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795500"/>
                  </a:ext>
                </a:extLst>
              </a:tr>
              <a:tr h="829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Gemma-3 (Paper)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7.77%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15.17%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22.23%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7.04%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18.03%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945303"/>
                  </a:ext>
                </a:extLst>
              </a:tr>
              <a:tr h="829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Gemma-3 (Local)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9.16%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23.72%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13.92%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117351"/>
                  </a:ext>
                </a:extLst>
              </a:tr>
              <a:tr h="829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-1.36%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-5.32%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-0.24%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+1.49%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-1.64%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-4.11%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13754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2AA9FF-71B0-9A1E-2765-0B72ABC709E8}"/>
              </a:ext>
            </a:extLst>
          </p:cNvPr>
          <p:cNvSpPr txBox="1"/>
          <p:nvPr/>
        </p:nvSpPr>
        <p:spPr>
          <a:xfrm>
            <a:off x="660813" y="1060704"/>
            <a:ext cx="10465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3: ZSI Results on the ILSIC-Lay Test Dataset using LLaMA-3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163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>
          <a:extLst>
            <a:ext uri="{FF2B5EF4-FFF2-40B4-BE49-F238E27FC236}">
              <a16:creationId xmlns:a16="http://schemas.microsoft.com/office/drawing/2014/main" id="{F227D0AA-0A65-736F-1AEE-B8A72C91B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092CFF56-156F-0509-4225-0E290D9A2D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Comparison (Two-Shot Inference)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D0CC98-1513-BFBF-E381-65590DDB0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195636"/>
              </p:ext>
            </p:extLst>
          </p:nvPr>
        </p:nvGraphicFramePr>
        <p:xfrm>
          <a:off x="695325" y="1460814"/>
          <a:ext cx="10396470" cy="413565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71250">
                  <a:extLst>
                    <a:ext uri="{9D8B030D-6E8A-4147-A177-3AD203B41FA5}">
                      <a16:colId xmlns:a16="http://schemas.microsoft.com/office/drawing/2014/main" val="4227574827"/>
                    </a:ext>
                  </a:extLst>
                </a:gridCol>
                <a:gridCol w="1399590">
                  <a:extLst>
                    <a:ext uri="{9D8B030D-6E8A-4147-A177-3AD203B41FA5}">
                      <a16:colId xmlns:a16="http://schemas.microsoft.com/office/drawing/2014/main" val="3282616632"/>
                    </a:ext>
                  </a:extLst>
                </a:gridCol>
                <a:gridCol w="1399590">
                  <a:extLst>
                    <a:ext uri="{9D8B030D-6E8A-4147-A177-3AD203B41FA5}">
                      <a16:colId xmlns:a16="http://schemas.microsoft.com/office/drawing/2014/main" val="4202532797"/>
                    </a:ext>
                  </a:extLst>
                </a:gridCol>
                <a:gridCol w="1302313">
                  <a:extLst>
                    <a:ext uri="{9D8B030D-6E8A-4147-A177-3AD203B41FA5}">
                      <a16:colId xmlns:a16="http://schemas.microsoft.com/office/drawing/2014/main" val="4267134068"/>
                    </a:ext>
                  </a:extLst>
                </a:gridCol>
                <a:gridCol w="1302313">
                  <a:extLst>
                    <a:ext uri="{9D8B030D-6E8A-4147-A177-3AD203B41FA5}">
                      <a16:colId xmlns:a16="http://schemas.microsoft.com/office/drawing/2014/main" val="2308551901"/>
                    </a:ext>
                  </a:extLst>
                </a:gridCol>
                <a:gridCol w="1210707">
                  <a:extLst>
                    <a:ext uri="{9D8B030D-6E8A-4147-A177-3AD203B41FA5}">
                      <a16:colId xmlns:a16="http://schemas.microsoft.com/office/drawing/2014/main" val="2235610808"/>
                    </a:ext>
                  </a:extLst>
                </a:gridCol>
                <a:gridCol w="1210707">
                  <a:extLst>
                    <a:ext uri="{9D8B030D-6E8A-4147-A177-3AD203B41FA5}">
                      <a16:colId xmlns:a16="http://schemas.microsoft.com/office/drawing/2014/main" val="4272601318"/>
                    </a:ext>
                  </a:extLst>
                </a:gridCol>
              </a:tblGrid>
              <a:tr h="829323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911280"/>
                  </a:ext>
                </a:extLst>
              </a:tr>
              <a:tr h="81836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μ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μ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μ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795500"/>
                  </a:ext>
                </a:extLst>
              </a:tr>
              <a:tr h="829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Gemma-3 (Paper)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10.83%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10.31%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29.86%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29.87%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945303"/>
                  </a:ext>
                </a:extLst>
              </a:tr>
              <a:tr h="829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Gemma-3 (Local)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8.61%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9.34%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26.76%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25.72%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117351"/>
                  </a:ext>
                </a:extLst>
              </a:tr>
              <a:tr h="829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-2.22%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-5.12%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-0.97%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-3.10%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-1.68%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-4.15%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13754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C3DE0B7-0DC3-F88C-E798-43EA2D08ADB8}"/>
              </a:ext>
            </a:extLst>
          </p:cNvPr>
          <p:cNvSpPr txBox="1"/>
          <p:nvPr/>
        </p:nvSpPr>
        <p:spPr>
          <a:xfrm>
            <a:off x="660813" y="1060704"/>
            <a:ext cx="10465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2: TSI Results on the ILSIC-Lay Test Dataset using Gemma-3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596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>
          <a:extLst>
            <a:ext uri="{FF2B5EF4-FFF2-40B4-BE49-F238E27FC236}">
              <a16:creationId xmlns:a16="http://schemas.microsoft.com/office/drawing/2014/main" id="{E86E0DC0-B1D0-E294-1521-5053CE5C4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0731277D-D7D6-4E01-936B-B85D9B222D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Comparison (Two-Shot Inference)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F0ABA6-4C00-B45E-F5D3-D21FC54587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060910"/>
              </p:ext>
            </p:extLst>
          </p:nvPr>
        </p:nvGraphicFramePr>
        <p:xfrm>
          <a:off x="695325" y="1460814"/>
          <a:ext cx="10396470" cy="413565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71250">
                  <a:extLst>
                    <a:ext uri="{9D8B030D-6E8A-4147-A177-3AD203B41FA5}">
                      <a16:colId xmlns:a16="http://schemas.microsoft.com/office/drawing/2014/main" val="4227574827"/>
                    </a:ext>
                  </a:extLst>
                </a:gridCol>
                <a:gridCol w="1399590">
                  <a:extLst>
                    <a:ext uri="{9D8B030D-6E8A-4147-A177-3AD203B41FA5}">
                      <a16:colId xmlns:a16="http://schemas.microsoft.com/office/drawing/2014/main" val="3282616632"/>
                    </a:ext>
                  </a:extLst>
                </a:gridCol>
                <a:gridCol w="1399590">
                  <a:extLst>
                    <a:ext uri="{9D8B030D-6E8A-4147-A177-3AD203B41FA5}">
                      <a16:colId xmlns:a16="http://schemas.microsoft.com/office/drawing/2014/main" val="4202532797"/>
                    </a:ext>
                  </a:extLst>
                </a:gridCol>
                <a:gridCol w="1302313">
                  <a:extLst>
                    <a:ext uri="{9D8B030D-6E8A-4147-A177-3AD203B41FA5}">
                      <a16:colId xmlns:a16="http://schemas.microsoft.com/office/drawing/2014/main" val="4267134068"/>
                    </a:ext>
                  </a:extLst>
                </a:gridCol>
                <a:gridCol w="1302313">
                  <a:extLst>
                    <a:ext uri="{9D8B030D-6E8A-4147-A177-3AD203B41FA5}">
                      <a16:colId xmlns:a16="http://schemas.microsoft.com/office/drawing/2014/main" val="2308551901"/>
                    </a:ext>
                  </a:extLst>
                </a:gridCol>
                <a:gridCol w="1210707">
                  <a:extLst>
                    <a:ext uri="{9D8B030D-6E8A-4147-A177-3AD203B41FA5}">
                      <a16:colId xmlns:a16="http://schemas.microsoft.com/office/drawing/2014/main" val="2235610808"/>
                    </a:ext>
                  </a:extLst>
                </a:gridCol>
                <a:gridCol w="1210707">
                  <a:extLst>
                    <a:ext uri="{9D8B030D-6E8A-4147-A177-3AD203B41FA5}">
                      <a16:colId xmlns:a16="http://schemas.microsoft.com/office/drawing/2014/main" val="4272601318"/>
                    </a:ext>
                  </a:extLst>
                </a:gridCol>
              </a:tblGrid>
              <a:tr h="829323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911280"/>
                  </a:ext>
                </a:extLst>
              </a:tr>
              <a:tr h="81836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μ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μ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μ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795500"/>
                  </a:ext>
                </a:extLst>
              </a:tr>
              <a:tr h="829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Gemma-3 (Paper)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9.42%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17.96%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11.56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9.05%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21.67%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945303"/>
                  </a:ext>
                </a:extLst>
              </a:tr>
              <a:tr h="829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Gemma-3 (Local)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8.26%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15.51%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12.94%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31.58%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8.77%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20.80%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117351"/>
                  </a:ext>
                </a:extLst>
              </a:tr>
              <a:tr h="829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-1.16%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-2.45%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+1.38%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+4.26%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-0.28%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-0.87%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13754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39ADF6A-6F9F-981D-C584-A5269EC0A046}"/>
              </a:ext>
            </a:extLst>
          </p:cNvPr>
          <p:cNvSpPr txBox="1"/>
          <p:nvPr/>
        </p:nvSpPr>
        <p:spPr>
          <a:xfrm>
            <a:off x="660813" y="1060704"/>
            <a:ext cx="10465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3: TSI Results on the ILSIC-Lay Test Dataset using LLaMA-3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803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>
          <a:extLst>
            <a:ext uri="{FF2B5EF4-FFF2-40B4-BE49-F238E27FC236}">
              <a16:creationId xmlns:a16="http://schemas.microsoft.com/office/drawing/2014/main" id="{E38E6392-2DBE-490E-0766-040C2E814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0F7F1099-60A3-DBA0-65DB-70E0DFE62E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Zero-Shot Inference (ZSI) Findings</a:t>
            </a:r>
            <a:endParaRPr lang="en-IN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16038-007D-D5DF-599B-EC25DDD17773}"/>
              </a:ext>
            </a:extLst>
          </p:cNvPr>
          <p:cNvSpPr txBox="1"/>
          <p:nvPr/>
        </p:nvSpPr>
        <p:spPr>
          <a:xfrm>
            <a:off x="695325" y="1139868"/>
            <a:ext cx="1080135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Gemma-3-12B ZSI Performance: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Gemma-12B achieved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18.11% Micro-F1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,which is 3.39% lower than the paper.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made more mistakes (Precision dropped by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6.32%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but found more correct laws (Recall improved by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2.00%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LLaMA-3-8B ZSI Performance: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LLaMA-8B achieved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13.92% Micro-F1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,which is 4.11% lower than the paper. 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a similar pattern: It made more mistakes (Precision dropped by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5.32%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but found more correct laws (Recall improved by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1.49%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 (Zero-Shot):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examples to guide them, both models struggle to filter out incorrect laws, leading to lower overall precision.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compressed 4-bit local models are very active and output a wider list of law suggestions, which helps them find more true answers.</a:t>
            </a:r>
          </a:p>
        </p:txBody>
      </p:sp>
    </p:spTree>
    <p:extLst>
      <p:ext uri="{BB962C8B-B14F-4D97-AF65-F5344CB8AC3E}">
        <p14:creationId xmlns:p14="http://schemas.microsoft.com/office/powerpoint/2010/main" val="1736605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>
          <a:extLst>
            <a:ext uri="{FF2B5EF4-FFF2-40B4-BE49-F238E27FC236}">
              <a16:creationId xmlns:a16="http://schemas.microsoft.com/office/drawing/2014/main" id="{BB7E797F-37EC-3A39-6535-4C5CD7643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680B05EA-6BAA-5B9D-FB29-5AF042DA0F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Two-Shot Inference (TSI) Findings</a:t>
            </a:r>
            <a:endParaRPr lang="en-IN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CDCA53-522F-D5F5-F4D8-DAAD88FA1296}"/>
              </a:ext>
            </a:extLst>
          </p:cNvPr>
          <p:cNvSpPr txBox="1"/>
          <p:nvPr/>
        </p:nvSpPr>
        <p:spPr>
          <a:xfrm>
            <a:off x="695325" y="1139868"/>
            <a:ext cx="1080135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In-Context Learning Grounding Impact: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Giving the models two example queries and answers greatly improved their performance.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LLaMA-3-8B Micro-F1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jumped from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13.92% to 20.80%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(+6.88% absolute improvement).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Gemma-3-12B Micro-F1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jumped from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18.11% to 25.72%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(+7.61% absolute improvement).</a:t>
            </a:r>
          </a:p>
          <a:p>
            <a:pPr lvl="1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to Paper Baselines: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LLaMA-3-8B matched the paper’s score almost perfectly (only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0.87%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lower).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Gemma-3-12B was still lower than paper’s score (lower by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4.15%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 (Two-Shot):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Showing examples taught the model the correct response layout.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heavily reduced made-up answers (hallucinations) and boosted Micro-precision (LLaMA improved by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5.66%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Gemma improved by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10.30%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over Zero-Shot).</a:t>
            </a:r>
          </a:p>
        </p:txBody>
      </p:sp>
    </p:spTree>
    <p:extLst>
      <p:ext uri="{BB962C8B-B14F-4D97-AF65-F5344CB8AC3E}">
        <p14:creationId xmlns:p14="http://schemas.microsoft.com/office/powerpoint/2010/main" val="1892990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>
          <a:extLst>
            <a:ext uri="{FF2B5EF4-FFF2-40B4-BE49-F238E27FC236}">
              <a16:creationId xmlns:a16="http://schemas.microsoft.com/office/drawing/2014/main" id="{48047039-4107-215A-4380-9977C3D6A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25607C52-448D-452F-10FA-5DDD83BCCD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Differences (Paper vs. Local)</a:t>
            </a:r>
            <a:endParaRPr lang="en-IN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DC9751-D209-D588-EB20-AA131AF18318}"/>
              </a:ext>
            </a:extLst>
          </p:cNvPr>
          <p:cNvSpPr txBox="1"/>
          <p:nvPr/>
        </p:nvSpPr>
        <p:spPr>
          <a:xfrm>
            <a:off x="695325" y="1139868"/>
            <a:ext cx="1080135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Quantization Information Loss (16-bit vs. 4-bit):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ran models at full size. We ran quantized 4-bit versions.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Quantizing the models removes tiny details from their calculations, making it harder to tell highly similar laws apart (dropping precision).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this quantization also makes the models more talkative, causing them to suggest a wider list of statues, which helps them catch more correct answers (boosting recall).</a:t>
            </a:r>
          </a:p>
          <a:p>
            <a:pPr lvl="1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Discrepancy in Exemplar Retrieval (No Dataset Metadata Tags):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retrieved two-shot examples using Category and Religion tags to perform localized search.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released public dataset didn’t have  these metadata tags. We instead used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Semantic Search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(Sentence-BERT cosine similarity over query facts).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we used different examples in our prompts, the models received slightly different guidance compared to the paper.</a:t>
            </a:r>
          </a:p>
        </p:txBody>
      </p:sp>
    </p:spTree>
    <p:extLst>
      <p:ext uri="{BB962C8B-B14F-4D97-AF65-F5344CB8AC3E}">
        <p14:creationId xmlns:p14="http://schemas.microsoft.com/office/powerpoint/2010/main" val="2068985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>
          <a:extLst>
            <a:ext uri="{FF2B5EF4-FFF2-40B4-BE49-F238E27FC236}">
              <a16:creationId xmlns:a16="http://schemas.microsoft.com/office/drawing/2014/main" id="{A6A87FC2-0EF0-E6B1-58A6-CA20BC46B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5FEAA630-79C7-C9B2-799F-E7BB3FDBE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</a:pPr>
            <a:r>
              <a:rPr lang="en-IN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Potential Enhancements (RAG)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8E0587-A961-7208-7FC2-5598E541D57E}"/>
              </a:ext>
            </a:extLst>
          </p:cNvPr>
          <p:cNvSpPr txBox="1"/>
          <p:nvPr/>
        </p:nvSpPr>
        <p:spPr>
          <a:xfrm>
            <a:off x="695325" y="1139868"/>
            <a:ext cx="1080135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Strategy &amp; Goal</a:t>
            </a:r>
            <a:r>
              <a:rPr lang="en-US" sz="28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RAG to give model statues in the prompt that are relevant to the query  before it answers.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Step: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 SBERT to find the top 15 statues  related to the query.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Step: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Give the text and definitions of those 15 relevant statutes along with query to the model.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Instead of guessing laws , the model chooses from a short list, reducing mistakes and improving accuracy.</a:t>
            </a:r>
          </a:p>
        </p:txBody>
      </p:sp>
    </p:spTree>
    <p:extLst>
      <p:ext uri="{BB962C8B-B14F-4D97-AF65-F5344CB8AC3E}">
        <p14:creationId xmlns:p14="http://schemas.microsoft.com/office/powerpoint/2010/main" val="171949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>
          <a:extLst>
            <a:ext uri="{FF2B5EF4-FFF2-40B4-BE49-F238E27FC236}">
              <a16:creationId xmlns:a16="http://schemas.microsoft.com/office/drawing/2014/main" id="{FA2A3C55-9FF0-3275-CBEB-9B5F6D997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44866F91-8D91-C0FE-AD89-CEEDCB59C7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</a:pPr>
            <a:r>
              <a:rPr lang="en-IN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Potential Enhancements (SFT)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50B8B-A5C9-FF53-F757-C6B8F2C68DAB}"/>
              </a:ext>
            </a:extLst>
          </p:cNvPr>
          <p:cNvSpPr txBox="1"/>
          <p:nvPr/>
        </p:nvSpPr>
        <p:spPr>
          <a:xfrm>
            <a:off x="695325" y="1139868"/>
            <a:ext cx="1080135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Strategy &amp; Goal: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 the models on the actual training dataset (FT-Layman-train) to specialize them in Indian law.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 a resource-friendly training method of Fine-Tuning (LoRA) natively on Mac using mlx_lm.lora.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Step: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Load the fine-tuned adapter weights on top of base models to answer queries.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Teach the models to write statues in the correct format, reducing structure errors and boosting accuracy.</a:t>
            </a:r>
          </a:p>
        </p:txBody>
      </p:sp>
    </p:spTree>
    <p:extLst>
      <p:ext uri="{BB962C8B-B14F-4D97-AF65-F5344CB8AC3E}">
        <p14:creationId xmlns:p14="http://schemas.microsoft.com/office/powerpoint/2010/main" val="1775159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>
          <a:extLst>
            <a:ext uri="{FF2B5EF4-FFF2-40B4-BE49-F238E27FC236}">
              <a16:creationId xmlns:a16="http://schemas.microsoft.com/office/drawing/2014/main" id="{47683EB1-88BA-B7FD-D846-7ACBAF40A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0FCE2DDF-071E-F6B7-6D1D-D871B50BCF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</a:pPr>
            <a:r>
              <a:rPr lang="en-IN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1288DE-E163-A8DA-6B57-AE5C8269DECC}"/>
              </a:ext>
            </a:extLst>
          </p:cNvPr>
          <p:cNvSpPr txBox="1"/>
          <p:nvPr/>
        </p:nvSpPr>
        <p:spPr>
          <a:xfrm>
            <a:off x="695325" y="1139868"/>
            <a:ext cx="1080135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replication of Zero-Shot and Two-Shot Models on Mac was successful.</a:t>
            </a:r>
          </a:p>
          <a:p>
            <a:pPr lvl="1"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Apple's MLX tools and 4-bit Quantization, we ran large models (like Gemma-12B) on standard Mac computers.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results are very close to the official paper's scores (for example, LLaMA-3 Two-Shot scored 20.80% compared to the paper's 21.67%).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minor differences in scores are due to model quantization and finding examples by global similarity search instead of using categories for searching.</a:t>
            </a:r>
          </a:p>
          <a:p>
            <a:pPr algn="just"/>
            <a:br>
              <a:rPr lang="en-US" dirty="0"/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423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>
          <a:extLst>
            <a:ext uri="{FF2B5EF4-FFF2-40B4-BE49-F238E27FC236}">
              <a16:creationId xmlns:a16="http://schemas.microsoft.com/office/drawing/2014/main" id="{78C2E9D1-9F35-FA9E-7843-C7A410675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385C60F-DFB8-1C76-A9D5-3D51026EA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224" y="381000"/>
            <a:ext cx="8607552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074532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1866</Words>
  <Application>Microsoft Macintosh PowerPoint</Application>
  <PresentationFormat>Widescreen</PresentationFormat>
  <Paragraphs>291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2_Office Theme</vt:lpstr>
      <vt:lpstr>Local Replication and Analysis of ILSIC</vt:lpstr>
      <vt:lpstr>Table of contents</vt:lpstr>
      <vt:lpstr>Background: ILSIC Paper Overview</vt:lpstr>
      <vt:lpstr>Objective</vt:lpstr>
      <vt:lpstr>Model Overview</vt:lpstr>
      <vt:lpstr>Data Overview &amp; Examples</vt:lpstr>
      <vt:lpstr>Data Overview</vt:lpstr>
      <vt:lpstr>Environment Setup</vt:lpstr>
      <vt:lpstr>Environment Deep Dive: 16-bit vs. 4-bit Quantization</vt:lpstr>
      <vt:lpstr>Results Comparison (Zero-Shot Inference)</vt:lpstr>
      <vt:lpstr>Results Comparison (Zero-Shot Inference)</vt:lpstr>
      <vt:lpstr>Results Comparison (Two-Shot Inference)</vt:lpstr>
      <vt:lpstr>Results Comparison (Two-Shot Inference)</vt:lpstr>
      <vt:lpstr>Zero-Shot Inference (ZSI) Findings</vt:lpstr>
      <vt:lpstr>Two-Shot Inference (TSI) Findings</vt:lpstr>
      <vt:lpstr>Analysis of Differences (Paper vs. Local)</vt:lpstr>
      <vt:lpstr>Future Work: Potential Enhancements (RAG)</vt:lpstr>
      <vt:lpstr>Future Work: Potential Enhancements (SFT)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Shivam Chauhan</dc:creator>
  <cp:lastModifiedBy>Mayank Pillai</cp:lastModifiedBy>
  <cp:revision>37</cp:revision>
  <dcterms:created xsi:type="dcterms:W3CDTF">2022-09-26T09:02:06Z</dcterms:created>
  <dcterms:modified xsi:type="dcterms:W3CDTF">2026-06-12T05:02:08Z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0x010100B3AC44B68C077B4EBA1A8030BA55A96A</vt:lpwstr>
  </property>
  <property fmtid="{D5CDD505-2E9C-101B-9397-08002B2CF9AE}" pid="3" name="MediaServiceImageTags">
    <vt:lpwstr/>
  </property>
</Properties>
</file>